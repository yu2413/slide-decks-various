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embeddedFontLst>
    <p:embeddedFont>
      <p:font typeface="Garamond" panose="02020404030301010803" pitchFamily="18" charset="0"/>
      <p:regular r:id="rId7"/>
      <p:bold r:id="rId8"/>
      <p:italic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gD4YXKsDJJ5BOb1RR21U3Pvuk8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97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customschemas.google.com/relationships/presentationmetadata" Target="meta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ry Yu" userId="ff89ab59bb266fda" providerId="LiveId" clId="{D6D08EAD-FF1A-43AE-B251-67B60A84CA0E}"/>
    <pc:docChg chg="modSld">
      <pc:chgData name="Gary Yu" userId="ff89ab59bb266fda" providerId="LiveId" clId="{D6D08EAD-FF1A-43AE-B251-67B60A84CA0E}" dt="2025-11-11T04:15:04.524" v="4" actId="20577"/>
      <pc:docMkLst>
        <pc:docMk/>
      </pc:docMkLst>
      <pc:sldChg chg="modSp mod">
        <pc:chgData name="Gary Yu" userId="ff89ab59bb266fda" providerId="LiveId" clId="{D6D08EAD-FF1A-43AE-B251-67B60A84CA0E}" dt="2025-11-11T04:15:04.524" v="4" actId="20577"/>
        <pc:sldMkLst>
          <pc:docMk/>
          <pc:sldMk cId="0" sldId="256"/>
        </pc:sldMkLst>
        <pc:spChg chg="mod">
          <ac:chgData name="Gary Yu" userId="ff89ab59bb266fda" providerId="LiveId" clId="{D6D08EAD-FF1A-43AE-B251-67B60A84CA0E}" dt="2025-11-11T04:15:04.524" v="4" actId="20577"/>
          <ac:spMkLst>
            <pc:docMk/>
            <pc:sldMk cId="0" sldId="256"/>
            <ac:spMk id="15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8" name="Google Shape;18;p6" descr="HD-PanelTitleR1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19;p6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0" name="Google Shape;20;p6" descr="HDRibbonTitle-UniformTrim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6" descr="HDRibbonTitle-UniformTrim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6"/>
          <p:cNvSpPr txBox="1"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Garamond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20"/>
              </a:spcBef>
              <a:spcAft>
                <a:spcPts val="0"/>
              </a:spcAft>
              <a:buSzPts val="241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3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07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84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61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dt" idx="10"/>
          </p:nvPr>
        </p:nvSpPr>
        <p:spPr>
          <a:xfrm>
            <a:off x="7983232" y="5037663"/>
            <a:ext cx="89746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ftr" idx="11"/>
          </p:nvPr>
        </p:nvSpPr>
        <p:spPr>
          <a:xfrm>
            <a:off x="2692397" y="5037663"/>
            <a:ext cx="5214635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956900" y="5037663"/>
            <a:ext cx="55116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" name="Google Shape;27;p6"/>
          <p:cNvCxnSpPr/>
          <p:nvPr/>
        </p:nvCxnSpPr>
        <p:spPr>
          <a:xfrm>
            <a:off x="2692399" y="3522131"/>
            <a:ext cx="681566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7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1" name="Google Shape;41;p8"/>
          <p:cNvCxnSpPr/>
          <p:nvPr/>
        </p:nvCxnSpPr>
        <p:spPr>
          <a:xfrm>
            <a:off x="2012723" y="3710585"/>
            <a:ext cx="8163380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Google Shape;43;p9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1"/>
          </p:nvPr>
        </p:nvSpPr>
        <p:spPr>
          <a:xfrm>
            <a:off x="1298448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6181344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672"/>
              </a:spcBef>
              <a:spcAft>
                <a:spcPts val="0"/>
              </a:spcAft>
              <a:buSzPts val="3220"/>
              <a:buNone/>
              <a:defRPr sz="28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3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84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body" idx="2"/>
          </p:nvPr>
        </p:nvSpPr>
        <p:spPr>
          <a:xfrm>
            <a:off x="129540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body" idx="3"/>
          </p:nvPr>
        </p:nvSpPr>
        <p:spPr>
          <a:xfrm>
            <a:off x="618067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672"/>
              </a:spcBef>
              <a:spcAft>
                <a:spcPts val="0"/>
              </a:spcAft>
              <a:buSzPts val="3220"/>
              <a:buNone/>
              <a:defRPr sz="28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3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84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4"/>
          </p:nvPr>
        </p:nvSpPr>
        <p:spPr>
          <a:xfrm>
            <a:off x="618067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9" name="Google Shape;59;p10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5" name="Google Shape;65;p11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body" idx="1"/>
          </p:nvPr>
        </p:nvSpPr>
        <p:spPr>
          <a:xfrm>
            <a:off x="5418668" y="982131"/>
            <a:ext cx="5469466" cy="489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body" idx="2"/>
          </p:nvPr>
        </p:nvSpPr>
        <p:spPr>
          <a:xfrm>
            <a:off x="1293811" y="3031065"/>
            <a:ext cx="3718455" cy="243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84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7" name="Google Shape;77;p13"/>
          <p:cNvCxnSpPr/>
          <p:nvPr/>
        </p:nvCxnSpPr>
        <p:spPr>
          <a:xfrm>
            <a:off x="1396169" y="2912533"/>
            <a:ext cx="35144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aramond"/>
              <a:buNone/>
              <a:defRPr sz="2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>
            <a:spLocks noGrp="1"/>
          </p:cNvSpPr>
          <p:nvPr>
            <p:ph type="pic" idx="2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noFill/>
          <a:ln w="57150" cap="flat" cmpd="thickThin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1" name="Google Shape;81;p14"/>
          <p:cNvSpPr txBox="1">
            <a:spLocks noGrp="1"/>
          </p:cNvSpPr>
          <p:nvPr>
            <p:ph type="body" idx="1"/>
          </p:nvPr>
        </p:nvSpPr>
        <p:spPr>
          <a:xfrm>
            <a:off x="1295399" y="3255432"/>
            <a:ext cx="6241816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60"/>
              </a:spcBef>
              <a:spcAft>
                <a:spcPts val="0"/>
              </a:spcAft>
              <a:buSzPts val="2070"/>
              <a:buNone/>
              <a:defRPr sz="18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>
            <a:spLocks noGrp="1"/>
          </p:cNvSpPr>
          <p:nvPr>
            <p:ph type="pic" idx="2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noFill/>
          <a:ln w="57150" cap="flat" cmpd="thickThin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8" name="Google Shape;88;p15"/>
          <p:cNvSpPr txBox="1">
            <a:spLocks noGrp="1"/>
          </p:cNvSpPr>
          <p:nvPr>
            <p:ph type="body" idx="1"/>
          </p:nvPr>
        </p:nvSpPr>
        <p:spPr>
          <a:xfrm>
            <a:off x="1295401" y="5382153"/>
            <a:ext cx="9609666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80"/>
              </a:spcBef>
              <a:spcAft>
                <a:spcPts val="0"/>
              </a:spcAft>
              <a:buSzPts val="161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sz="32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16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6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8" name="Google Shape;98;p16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body" idx="1"/>
          </p:nvPr>
        </p:nvSpPr>
        <p:spPr>
          <a:xfrm>
            <a:off x="1674812" y="3352800"/>
            <a:ext cx="8839202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spcBef>
                <a:spcPts val="400"/>
              </a:spcBef>
              <a:spcAft>
                <a:spcPts val="0"/>
              </a:spcAft>
              <a:buSzPts val="2300"/>
              <a:buFont typeface="Garamond"/>
              <a:buNone/>
              <a:defRPr sz="20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300"/>
              <a:buFont typeface="Garamond"/>
              <a:buNone/>
              <a:defRPr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070"/>
              <a:buFont typeface="Garamond"/>
              <a:buNone/>
              <a:defRPr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840"/>
              <a:buFont typeface="Garamond"/>
              <a:buNone/>
              <a:defRPr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Font typeface="Garamond"/>
              <a:buNone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body" idx="2"/>
          </p:nvPr>
        </p:nvSpPr>
        <p:spPr>
          <a:xfrm>
            <a:off x="1295401" y="4343399"/>
            <a:ext cx="9609666" cy="153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17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07" name="Google Shape;107;p17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08" name="Google Shape;108;p17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sz="32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8"/>
          <p:cNvSpPr txBox="1"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body" idx="1"/>
          </p:nvPr>
        </p:nvSpPr>
        <p:spPr>
          <a:xfrm>
            <a:off x="1295401" y="3639312"/>
            <a:ext cx="9609668" cy="88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body" idx="2"/>
          </p:nvPr>
        </p:nvSpPr>
        <p:spPr>
          <a:xfrm>
            <a:off x="1295401" y="4529667"/>
            <a:ext cx="9609668" cy="1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19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23" name="Google Shape;123;p19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24" name="Google Shape;124;p19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body" idx="1"/>
          </p:nvPr>
        </p:nvSpPr>
        <p:spPr>
          <a:xfrm>
            <a:off x="1295401" y="3630168"/>
            <a:ext cx="9609668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3220"/>
              <a:buNone/>
              <a:defRPr sz="28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body" idx="2"/>
          </p:nvPr>
        </p:nvSpPr>
        <p:spPr>
          <a:xfrm>
            <a:off x="1295400" y="4470399"/>
            <a:ext cx="9609670" cy="140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2" name="Google Shape;132;p20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 rot="5400000">
            <a:off x="4436531" y="-584198"/>
            <a:ext cx="3318936" cy="960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9" name="Google Shape;139;p21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>
            <a:spLocks noGrp="1"/>
          </p:cNvSpPr>
          <p:nvPr>
            <p:ph type="title"/>
          </p:nvPr>
        </p:nvSpPr>
        <p:spPr>
          <a:xfrm rot="5400000">
            <a:off x="7497936" y="2483551"/>
            <a:ext cx="4893735" cy="1890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1"/>
          </p:nvPr>
        </p:nvSpPr>
        <p:spPr>
          <a:xfrm rot="5400000">
            <a:off x="2565043" y="-287514"/>
            <a:ext cx="4893734" cy="743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22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6" name="Google Shape;146;p22"/>
          <p:cNvCxnSpPr/>
          <p:nvPr/>
        </p:nvCxnSpPr>
        <p:spPr>
          <a:xfrm>
            <a:off x="8863890" y="990600"/>
            <a:ext cx="0" cy="487680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5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7" name="Google Shape;7;p5" descr="HD-PanelContent.png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5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Google Shape;9;p5" descr="HDRibbonContent-UniformTrim.png"/>
            <p:cNvPicPr preferRelativeResize="0"/>
            <p:nvPr/>
          </p:nvPicPr>
          <p:blipFill rotWithShape="1">
            <a:blip r:embed="rId21">
              <a:alphaModFix/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10;p5" descr="HDRibbonContent-UniformTrim.png"/>
            <p:cNvPicPr preferRelativeResize="0"/>
            <p:nvPr/>
          </p:nvPicPr>
          <p:blipFill rotWithShape="1">
            <a:blip r:embed="rId21">
              <a:alphaModFix/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Google Shape;11;p5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sz="4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386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760"/>
              <a:buFont typeface="Arial"/>
              <a:buChar char="•"/>
              <a:defRPr sz="2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37465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Char char="•"/>
              <a:defRPr sz="2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360044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345439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33083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33083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3083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30834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30834" algn="l" rtl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fred.stlouisfed.org/series/UNRAT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ao.gov/products/gao-21-31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"/>
          <p:cNvSpPr txBox="1"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Garamond"/>
              <a:buNone/>
            </a:pPr>
            <a:r>
              <a:rPr lang="en-US" dirty="0"/>
              <a:t>2022 Miracle Economic Recovery</a:t>
            </a:r>
            <a:endParaRPr dirty="0"/>
          </a:p>
        </p:txBody>
      </p:sp>
      <p:sp>
        <p:nvSpPr>
          <p:cNvPr id="152" name="Google Shape;152;p1"/>
          <p:cNvSpPr txBox="1"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2415"/>
              <a:buNone/>
            </a:pPr>
            <a:r>
              <a:rPr lang="en-US"/>
              <a:t>News By Gary Yu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24013" y="545841"/>
            <a:ext cx="8064636" cy="576631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"/>
          <p:cNvSpPr txBox="1"/>
          <p:nvPr/>
        </p:nvSpPr>
        <p:spPr>
          <a:xfrm>
            <a:off x="5557706" y="5942827"/>
            <a:ext cx="61155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(</a:t>
            </a:r>
            <a:r>
              <a:rPr lang="en-US" sz="1800" b="0" i="1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Unemployment rate</a:t>
            </a:r>
            <a:r>
              <a:rPr lang="en-US"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The News</a:t>
            </a:r>
            <a:endParaRPr/>
          </a:p>
        </p:txBody>
      </p:sp>
      <p:sp>
        <p:nvSpPr>
          <p:cNvPr id="164" name="Google Shape;164;p3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ct val="115000"/>
              <a:buChar char="•"/>
            </a:pPr>
            <a:r>
              <a:rPr lang="en-US"/>
              <a:t>So, something interesting just happened in these couple of months. The unemployment has gone down from 15% to 3.9% as of December 2021 according to the FRED. (</a:t>
            </a:r>
            <a:r>
              <a:rPr lang="en-US" i="1"/>
              <a:t>Unemployment rate</a:t>
            </a:r>
            <a:r>
              <a:rPr lang="en-US"/>
              <a:t>)</a:t>
            </a:r>
            <a:endParaRPr/>
          </a:p>
          <a:p>
            <a:pPr marL="285750" lvl="0" indent="-285750" algn="l" rtl="0">
              <a:spcBef>
                <a:spcPts val="972"/>
              </a:spcBef>
              <a:spcAft>
                <a:spcPts val="0"/>
              </a:spcAft>
              <a:buSzPct val="115000"/>
              <a:buChar char="•"/>
            </a:pPr>
            <a:r>
              <a:rPr lang="en-US"/>
              <a:t>Why this is interesting is because we just went from a great recession to near if not full employment in a year; which is short since the US averages a .55% decrease in unemployment per year (Yoe </a:t>
            </a:r>
            <a:r>
              <a:rPr lang="en-US" i="1"/>
              <a:t>The consistency of economic recoveries over the 1949–2019 period : Monthly labor review</a:t>
            </a:r>
            <a:r>
              <a:rPr lang="en-US"/>
              <a:t>)</a:t>
            </a:r>
            <a:endParaRPr/>
          </a:p>
          <a:p>
            <a:pPr marL="285750" lvl="0" indent="-285750" algn="l" rtl="0">
              <a:spcBef>
                <a:spcPts val="972"/>
              </a:spcBef>
              <a:spcAft>
                <a:spcPts val="0"/>
              </a:spcAft>
              <a:buSzPct val="115000"/>
              <a:buChar char="•"/>
            </a:pPr>
            <a:r>
              <a:rPr lang="en-US"/>
              <a:t>The cause of this in my opinion must be due to a casual chain that started with the vaccines/Operation Warp Speed(Office </a:t>
            </a:r>
            <a:r>
              <a:rPr lang="en-US" i="1"/>
              <a:t>Operation warp speed: Accelerated covid-19 vaccine development status and efforts to address manufacturing challenges</a:t>
            </a:r>
            <a:r>
              <a:rPr lang="en-US"/>
              <a:t>), the various stimulus bills(Yoe </a:t>
            </a:r>
            <a:r>
              <a:rPr lang="en-US" i="1"/>
              <a:t>The consistency of economic recoveries over the 1949–2019 period : Monthly labor review</a:t>
            </a:r>
            <a:r>
              <a:rPr lang="en-US"/>
              <a:t>), FED action(low interest rates) (</a:t>
            </a:r>
            <a:r>
              <a:rPr lang="en-US" i="1"/>
              <a:t>Federal funds effective rate</a:t>
            </a:r>
            <a:r>
              <a:rPr lang="en-US"/>
              <a:t>), and even events like increasing home prices leading baby boomers to retire sooner which opened spots for the younger generations. (Fry </a:t>
            </a:r>
            <a:r>
              <a:rPr lang="en-US" i="1"/>
              <a:t>The pace of Boomer retirements has accelerated in the past year</a:t>
            </a:r>
            <a:r>
              <a:rPr lang="en-US"/>
              <a:t>)</a:t>
            </a:r>
            <a:endParaRPr/>
          </a:p>
          <a:p>
            <a:pPr marL="285750" lvl="0" indent="-149923" algn="l" rtl="0">
              <a:spcBef>
                <a:spcPts val="972"/>
              </a:spcBef>
              <a:spcAft>
                <a:spcPts val="0"/>
              </a:spcAft>
              <a:buSzPct val="11500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MLA 9 Citations</a:t>
            </a:r>
            <a:endParaRPr/>
          </a:p>
        </p:txBody>
      </p:sp>
      <p:sp>
        <p:nvSpPr>
          <p:cNvPr id="170" name="Google Shape;170;p4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ct val="115000"/>
              <a:buChar char="•"/>
            </a:pPr>
            <a:r>
              <a:rPr lang="en-US"/>
              <a:t>“Unemployment Rate.” FRED, 7 Jan. 2022,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https://fred.stlouisfed.org/series/UNRATE</a:t>
            </a:r>
            <a:r>
              <a:rPr lang="en-US"/>
              <a:t>.</a:t>
            </a:r>
            <a:endParaRPr/>
          </a:p>
          <a:p>
            <a:pPr marL="285750" lvl="0" indent="-285750" algn="l" rtl="0">
              <a:spcBef>
                <a:spcPts val="864"/>
              </a:spcBef>
              <a:spcAft>
                <a:spcPts val="0"/>
              </a:spcAft>
              <a:buSzPct val="115000"/>
              <a:buChar char="•"/>
            </a:pPr>
            <a:r>
              <a:rPr lang="en-US"/>
              <a:t> Yoe, Jonathan. “The Consistency of Economic Recoveries over the 1949–2019 Period : Monthly Labor Review.” </a:t>
            </a:r>
            <a:r>
              <a:rPr lang="en-US" i="1"/>
              <a:t>U.S. Bureau of Labor Statistics</a:t>
            </a:r>
            <a:r>
              <a:rPr lang="en-US"/>
              <a:t>, U.S. Bureau of Labor Statistics, 1 July 2020, https://www.bls.gov/opub/mlr/2020/beyond-bls/the-consistency-of-economic-recoveries-over-the-1949-2019-period.htm. </a:t>
            </a:r>
            <a:endParaRPr/>
          </a:p>
          <a:p>
            <a:pPr marL="285750" lvl="0" indent="-285750" algn="l" rtl="0">
              <a:spcBef>
                <a:spcPts val="864"/>
              </a:spcBef>
              <a:spcAft>
                <a:spcPts val="0"/>
              </a:spcAft>
              <a:buSzPct val="115000"/>
              <a:buChar char="•"/>
            </a:pPr>
            <a:r>
              <a:rPr lang="en-US"/>
              <a:t>Office, U.S. Government Accountability. “Operation Warp Speed: Accelerated Covid-19 Vaccine Development Status and Efforts to Address Manufacturing Challenges.” </a:t>
            </a:r>
            <a:r>
              <a:rPr lang="en-US" i="1"/>
              <a:t>Operation Warp Speed: Accelerated COVID-19 Vaccine Development Status and Efforts to Address Manufacturing Challenges | U.S. GAO</a:t>
            </a:r>
            <a:r>
              <a:rPr lang="en-US"/>
              <a:t>,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https://www.gao.gov/products/gao-21-319</a:t>
            </a:r>
            <a:r>
              <a:rPr lang="en-US"/>
              <a:t>.</a:t>
            </a:r>
            <a:endParaRPr/>
          </a:p>
          <a:p>
            <a:pPr marL="285750" lvl="0" indent="-285750" algn="l" rtl="0">
              <a:spcBef>
                <a:spcPts val="864"/>
              </a:spcBef>
              <a:spcAft>
                <a:spcPts val="0"/>
              </a:spcAft>
              <a:buSzPct val="115000"/>
              <a:buChar char="•"/>
            </a:pPr>
            <a:r>
              <a:rPr lang="en-US"/>
              <a:t>Yoe, Jonathan. “The Consistency of Economic Recoveries over the 1949–2019 Period : Monthly Labor Review.” </a:t>
            </a:r>
            <a:r>
              <a:rPr lang="en-US" i="1"/>
              <a:t>U.S. Bureau of Labor Statistics</a:t>
            </a:r>
            <a:r>
              <a:rPr lang="en-US"/>
              <a:t>, U.S. Bureau of Labor Statistics, 1 July 2020, https://www.bls.gov/opub/mlr/2020/beyond-bls/the-consistency-of-economic-recoveries-over-the-1949-2019-period.htm. </a:t>
            </a:r>
            <a:endParaRPr/>
          </a:p>
          <a:p>
            <a:pPr marL="285750" lvl="0" indent="-285750" algn="l" rtl="0">
              <a:spcBef>
                <a:spcPts val="864"/>
              </a:spcBef>
              <a:spcAft>
                <a:spcPts val="0"/>
              </a:spcAft>
              <a:buSzPct val="115000"/>
              <a:buChar char="•"/>
            </a:pPr>
            <a:r>
              <a:rPr lang="en-US"/>
              <a:t>“Federal Funds Effective Rate.” </a:t>
            </a:r>
            <a:r>
              <a:rPr lang="en-US" i="1"/>
              <a:t>FRED</a:t>
            </a:r>
            <a:r>
              <a:rPr lang="en-US"/>
              <a:t>, 3 Jan. 2022, https://fred.stlouisfed.org/series/FEDFUNDS. </a:t>
            </a:r>
            <a:endParaRPr/>
          </a:p>
          <a:p>
            <a:pPr marL="285750" lvl="0" indent="-285750" algn="l" rtl="0">
              <a:spcBef>
                <a:spcPts val="864"/>
              </a:spcBef>
              <a:spcAft>
                <a:spcPts val="0"/>
              </a:spcAft>
              <a:buSzPct val="115000"/>
              <a:buChar char="•"/>
            </a:pPr>
            <a:r>
              <a:rPr lang="en-US"/>
              <a:t> Fry, Richard. “The Pace of Boomer Retirements Has Accelerated in the Past Year.” </a:t>
            </a:r>
            <a:r>
              <a:rPr lang="en-US" i="1"/>
              <a:t>Pew Research Center</a:t>
            </a:r>
            <a:r>
              <a:rPr lang="en-US"/>
              <a:t>, Pew Research Center, 10 Nov. 2020, https://www.pewresearch.org/fact-tank/2020/11/09/the-pace-of-boomer-retirements-has-accelerated-in-the-past-year/. </a:t>
            </a:r>
            <a:endParaRPr/>
          </a:p>
          <a:p>
            <a:pPr marL="285750" lvl="0" indent="-189357" algn="l" rtl="0">
              <a:spcBef>
                <a:spcPts val="864"/>
              </a:spcBef>
              <a:spcAft>
                <a:spcPts val="0"/>
              </a:spcAft>
              <a:buSzPct val="115000"/>
              <a:buNone/>
            </a:pPr>
            <a:endParaRPr/>
          </a:p>
          <a:p>
            <a:pPr marL="285750" lvl="0" indent="-189357" algn="l" rtl="0">
              <a:spcBef>
                <a:spcPts val="864"/>
              </a:spcBef>
              <a:spcAft>
                <a:spcPts val="0"/>
              </a:spcAft>
              <a:buSzPct val="115000"/>
              <a:buNone/>
            </a:pPr>
            <a:endParaRPr/>
          </a:p>
          <a:p>
            <a:pPr marL="285750" lvl="0" indent="-189357" algn="l" rtl="0">
              <a:spcBef>
                <a:spcPts val="864"/>
              </a:spcBef>
              <a:spcAft>
                <a:spcPts val="0"/>
              </a:spcAft>
              <a:buSzPct val="1150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ganic">
  <a:themeElements>
    <a:clrScheme name="Organic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493</Words>
  <Application>Microsoft Office PowerPoint</Application>
  <PresentationFormat>Widescreen</PresentationFormat>
  <Paragraphs>15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Garamond</vt:lpstr>
      <vt:lpstr>Arial</vt:lpstr>
      <vt:lpstr>Organic</vt:lpstr>
      <vt:lpstr>2022 Miracle Economic Recovery</vt:lpstr>
      <vt:lpstr>PowerPoint Presentation</vt:lpstr>
      <vt:lpstr>The News</vt:lpstr>
      <vt:lpstr>MLA 9 Citations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Gary Yu</dc:creator>
  <cp:lastModifiedBy>Gary Yu</cp:lastModifiedBy>
  <cp:revision>1</cp:revision>
  <dcterms:created xsi:type="dcterms:W3CDTF">2022-01-11T23:46:36Z</dcterms:created>
  <dcterms:modified xsi:type="dcterms:W3CDTF">2025-11-11T04:15:07Z</dcterms:modified>
</cp:coreProperties>
</file>