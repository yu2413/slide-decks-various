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14"/>
  </p:notesMasterIdLst>
  <p:handoutMasterIdLst>
    <p:handoutMasterId r:id="rId15"/>
  </p:handoutMasterIdLst>
  <p:sldIdLst>
    <p:sldId id="256" r:id="rId2"/>
    <p:sldId id="257" r:id="rId3"/>
    <p:sldId id="259" r:id="rId4"/>
    <p:sldId id="260" r:id="rId5"/>
    <p:sldId id="263" r:id="rId6"/>
    <p:sldId id="267" r:id="rId7"/>
    <p:sldId id="266" r:id="rId8"/>
    <p:sldId id="264" r:id="rId9"/>
    <p:sldId id="261" r:id="rId10"/>
    <p:sldId id="262" r:id="rId11"/>
    <p:sldId id="265" r:id="rId12"/>
    <p:sldId id="25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0" d="100"/>
          <a:sy n="70"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340E2D-6E8F-4206-A172-CF415D99441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CD362F7-0E97-4BF6-A62B-E63AEA1AD9D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BB04ED-8FC9-4DB9-9EC6-3533956782F4}" type="datetimeFigureOut">
              <a:rPr lang="en-US" smtClean="0"/>
              <a:t>4/12/2022</a:t>
            </a:fld>
            <a:endParaRPr lang="en-US"/>
          </a:p>
        </p:txBody>
      </p:sp>
      <p:sp>
        <p:nvSpPr>
          <p:cNvPr id="4" name="Footer Placeholder 3">
            <a:extLst>
              <a:ext uri="{FF2B5EF4-FFF2-40B4-BE49-F238E27FC236}">
                <a16:creationId xmlns:a16="http://schemas.microsoft.com/office/drawing/2014/main" id="{CD1C50FE-AA5C-4195-BBFE-67D8E37023F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“U.S. Census Bureau Quickfacts: United States,” United States Census , July 1, 2021, https://www.census.gov/quickfacts/US, 1.</a:t>
            </a:r>
          </a:p>
        </p:txBody>
      </p:sp>
      <p:sp>
        <p:nvSpPr>
          <p:cNvPr id="5" name="Slide Number Placeholder 4">
            <a:extLst>
              <a:ext uri="{FF2B5EF4-FFF2-40B4-BE49-F238E27FC236}">
                <a16:creationId xmlns:a16="http://schemas.microsoft.com/office/drawing/2014/main" id="{84728F3D-2875-43EC-9AB2-4CD0BB7FF7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18CCA-8860-4308-9672-5916685C7172}" type="slidenum">
              <a:rPr lang="en-US" smtClean="0"/>
              <a:t>‹#›</a:t>
            </a:fld>
            <a:endParaRPr lang="en-US"/>
          </a:p>
        </p:txBody>
      </p:sp>
    </p:spTree>
    <p:extLst>
      <p:ext uri="{BB962C8B-B14F-4D97-AF65-F5344CB8AC3E}">
        <p14:creationId xmlns:p14="http://schemas.microsoft.com/office/powerpoint/2010/main" val="1049536081"/>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7237BB-3924-446A-8016-E26AE4562947}" type="datetimeFigureOut">
              <a:rPr lang="en-US" smtClean="0"/>
              <a:t>4/12/2022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“U.S. Census Bureau Quickfacts: United States,” United States Census , July 1, 2021, https://www.census.gov/quickfacts/US, 1.</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A242AE-B5F3-4408-BE80-2740B4C53BDC}" type="slidenum">
              <a:rPr lang="en-US" smtClean="0"/>
              <a:t>‹#›</a:t>
            </a:fld>
            <a:endParaRPr lang="en-US"/>
          </a:p>
        </p:txBody>
      </p:sp>
    </p:spTree>
    <p:extLst>
      <p:ext uri="{BB962C8B-B14F-4D97-AF65-F5344CB8AC3E}">
        <p14:creationId xmlns:p14="http://schemas.microsoft.com/office/powerpoint/2010/main" val="2026096270"/>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Lst>
          </p:cNvPr>
          <p:cNvGrpSpPr/>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3" name="Group 12">
              <a:extLst>
                <a:ext uri="{FF2B5EF4-FFF2-40B4-BE49-F238E27FC236}">
                  <a16:creationId xmlns:a16="http://schemas.microsoft.com/office/drawing/2014/main" id="{BEDB8D7A-1BF6-4CDB-B93A-7736955F5043}"/>
                </a:ext>
              </a:extLst>
            </p:cNvPr>
            <p:cNvGrpSpPr>
              <a:grpSpLocks noChangeAspect="1"/>
            </p:cNvGrpSpPr>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Lst>
            </p:cNvPr>
            <p:cNvGrpSpPr>
              <a:grpSpLocks noChangeAspect="1"/>
            </p:cNvGrpSpPr>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6DC8E2D9-6729-4614-8667-C1016D3182E4}"/>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CEEBB1-1A1F-4A2C-B805-719CF98F68AB}"/>
              </a:ext>
            </a:extLst>
          </p:cNvPr>
          <p:cNvSpPr>
            <a:spLocks noGrp="1"/>
          </p:cNvSpPr>
          <p:nvPr>
            <p:ph type="ctrTitle"/>
          </p:nvPr>
        </p:nvSpPr>
        <p:spPr>
          <a:xfrm>
            <a:off x="540000" y="540000"/>
            <a:ext cx="11090273" cy="3798000"/>
          </a:xfrm>
        </p:spPr>
        <p:txBody>
          <a:bodyPr anchor="b"/>
          <a:lstStyle>
            <a:lvl1pPr algn="l">
              <a:defRPr sz="8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D6CC87B-ED2D-4303-BD40-E7AF14C03EF1}"/>
              </a:ext>
            </a:extLst>
          </p:cNvPr>
          <p:cNvSpPr>
            <a:spLocks noGrp="1"/>
          </p:cNvSpPr>
          <p:nvPr>
            <p:ph type="subTitle" idx="1"/>
          </p:nvPr>
        </p:nvSpPr>
        <p:spPr>
          <a:xfrm>
            <a:off x="540000" y="4508500"/>
            <a:ext cx="7345362" cy="1800224"/>
          </a:xfrm>
        </p:spPr>
        <p:txBody>
          <a:bodyPr/>
          <a:lstStyle>
            <a:lvl1pPr marL="0" indent="0" algn="l">
              <a:buNone/>
              <a:defRPr sz="16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5D880B4-5679-491C-963F-EC47B048C559}"/>
              </a:ext>
            </a:extLst>
          </p:cNvPr>
          <p:cNvSpPr>
            <a:spLocks noGrp="1"/>
          </p:cNvSpPr>
          <p:nvPr>
            <p:ph type="dt" sz="half" idx="10"/>
          </p:nvPr>
        </p:nvSpPr>
        <p:spPr/>
        <p:txBody>
          <a:bodyPr/>
          <a:lstStyle/>
          <a:p>
            <a:fld id="{FCBF26DE-953E-463D-B054-588CFF5CCD9A}" type="datetime1">
              <a:rPr lang="en-US" smtClean="0"/>
              <a:t>4/12/2022</a:t>
            </a:fld>
            <a:endParaRPr lang="en-US"/>
          </a:p>
        </p:txBody>
      </p:sp>
      <p:sp>
        <p:nvSpPr>
          <p:cNvPr id="5" name="Footer Placeholder 4">
            <a:extLst>
              <a:ext uri="{FF2B5EF4-FFF2-40B4-BE49-F238E27FC236}">
                <a16:creationId xmlns:a16="http://schemas.microsoft.com/office/drawing/2014/main" id="{01865D6D-3F98-4BE8-A069-B96409902805}"/>
              </a:ext>
            </a:extLst>
          </p:cNvPr>
          <p:cNvSpPr>
            <a:spLocks noGrp="1"/>
          </p:cNvSpPr>
          <p:nvPr>
            <p:ph type="ftr" sz="quarter" idx="11"/>
          </p:nvPr>
        </p:nvSpPr>
        <p:spPr/>
        <p:txBody>
          <a:bodyPr/>
          <a:lstStyle/>
          <a:p>
            <a:r>
              <a:rPr lang="en-US"/>
              <a:t>“U.S. Census Bureau Quickfacts: United States,” United States Census , July 1, 2021, https://www.census.gov/quickfacts/US, 1.</a:t>
            </a:r>
          </a:p>
        </p:txBody>
      </p:sp>
      <p:sp>
        <p:nvSpPr>
          <p:cNvPr id="6" name="Slide Number Placeholder 5">
            <a:extLst>
              <a:ext uri="{FF2B5EF4-FFF2-40B4-BE49-F238E27FC236}">
                <a16:creationId xmlns:a16="http://schemas.microsoft.com/office/drawing/2014/main" id="{CA0CD51D-8E06-4959-88C9-647415079FC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63184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7416F32-9D98-4340-82E8-E90CE00AD2AC}"/>
              </a:ext>
            </a:extLst>
          </p:cNvPr>
          <p:cNvGrpSpPr/>
          <p:nvPr/>
        </p:nvGrpSpPr>
        <p:grpSpPr>
          <a:xfrm flipV="1">
            <a:off x="0" y="-1"/>
            <a:ext cx="12191999" cy="6861601"/>
            <a:chOff x="0" y="-1"/>
            <a:chExt cx="12191999" cy="6861601"/>
          </a:xfrm>
        </p:grpSpPr>
        <p:sp>
          <p:nvSpPr>
            <p:cNvPr id="20" name="Rectangle 19">
              <a:extLst>
                <a:ext uri="{FF2B5EF4-FFF2-40B4-BE49-F238E27FC236}">
                  <a16:creationId xmlns:a16="http://schemas.microsoft.com/office/drawing/2014/main" id="{66375AB4-82BB-418F-A50F-6180F68724A4}"/>
                </a:ext>
              </a:extLst>
            </p:cNvPr>
            <p:cNvSpPr>
              <a:spLocks noChangeAspect="1"/>
            </p:cNvSpPr>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Oval 20">
              <a:extLst>
                <a:ext uri="{FF2B5EF4-FFF2-40B4-BE49-F238E27FC236}">
                  <a16:creationId xmlns:a16="http://schemas.microsoft.com/office/drawing/2014/main" id="{3FDD54B2-4A3F-4BFE-8FF0-82CA73F4AE8F}"/>
                </a:ext>
              </a:extLst>
            </p:cNvPr>
            <p:cNvSpPr>
              <a:spLocks noChangeAspect="1"/>
            </p:cNvSpPr>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2" name="Oval 21">
              <a:extLst>
                <a:ext uri="{FF2B5EF4-FFF2-40B4-BE49-F238E27FC236}">
                  <a16:creationId xmlns:a16="http://schemas.microsoft.com/office/drawing/2014/main" id="{30876F96-77AB-4E72-B1D2-FA45F4E3C04D}"/>
                </a:ext>
              </a:extLst>
            </p:cNvPr>
            <p:cNvSpPr>
              <a:spLocks noChangeAspect="1"/>
            </p:cNvSpPr>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23" name="Group 22">
              <a:extLst>
                <a:ext uri="{FF2B5EF4-FFF2-40B4-BE49-F238E27FC236}">
                  <a16:creationId xmlns:a16="http://schemas.microsoft.com/office/drawing/2014/main" id="{BB08A2E9-6518-449E-940B-8518A1D850BB}"/>
                </a:ext>
              </a:extLst>
            </p:cNvPr>
            <p:cNvGrpSpPr>
              <a:grpSpLocks noChangeAspect="1"/>
            </p:cNvGrpSpPr>
            <p:nvPr/>
          </p:nvGrpSpPr>
          <p:grpSpPr>
            <a:xfrm rot="10800000">
              <a:off x="0" y="-1"/>
              <a:ext cx="10800000" cy="6858000"/>
              <a:chOff x="2328000" y="0"/>
              <a:chExt cx="2880000" cy="1440000"/>
            </a:xfrm>
          </p:grpSpPr>
          <p:sp>
            <p:nvSpPr>
              <p:cNvPr id="28" name="Rectangle 27">
                <a:extLst>
                  <a:ext uri="{FF2B5EF4-FFF2-40B4-BE49-F238E27FC236}">
                    <a16:creationId xmlns:a16="http://schemas.microsoft.com/office/drawing/2014/main" id="{60A86BE0-76B3-4EA0-BA2D-05266013A814}"/>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9" name="Rectangle 28">
                <a:extLst>
                  <a:ext uri="{FF2B5EF4-FFF2-40B4-BE49-F238E27FC236}">
                    <a16:creationId xmlns:a16="http://schemas.microsoft.com/office/drawing/2014/main" id="{6BA13564-810C-4398-AA63-67B020811FCB}"/>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5" name="Rectangle 24">
              <a:extLst>
                <a:ext uri="{FF2B5EF4-FFF2-40B4-BE49-F238E27FC236}">
                  <a16:creationId xmlns:a16="http://schemas.microsoft.com/office/drawing/2014/main" id="{3555E1EF-6216-47FA-BBCA-7C0C8C2DAB8C}"/>
                </a:ext>
              </a:extLst>
            </p:cNvPr>
            <p:cNvSpPr>
              <a:spLocks noChangeAspect="1"/>
            </p:cNvSpPr>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2" name="Rectangle 31">
            <a:extLst>
              <a:ext uri="{FF2B5EF4-FFF2-40B4-BE49-F238E27FC236}">
                <a16:creationId xmlns:a16="http://schemas.microsoft.com/office/drawing/2014/main" id="{D8D85657-6A77-4466-887F-EE948B9CD2B2}"/>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C5D35498-B0C3-40BD-9407-6D0C0587E52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492F85E-0893-4D8C-816A-5193CC6DC9C0}"/>
              </a:ext>
            </a:extLst>
          </p:cNvPr>
          <p:cNvSpPr>
            <a:spLocks noGrp="1"/>
          </p:cNvSpPr>
          <p:nvPr>
            <p:ph idx="1"/>
          </p:nvPr>
        </p:nvSpPr>
        <p:spPr/>
        <p:txBody>
          <a:bodyPr/>
          <a:lstStyle>
            <a:lvl1pPr marL="270000">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5D46A9C-9655-49F5-85B3-A8A37F4F5A8F}"/>
              </a:ext>
            </a:extLst>
          </p:cNvPr>
          <p:cNvSpPr>
            <a:spLocks noGrp="1"/>
          </p:cNvSpPr>
          <p:nvPr>
            <p:ph type="dt" sz="half" idx="10"/>
          </p:nvPr>
        </p:nvSpPr>
        <p:spPr/>
        <p:txBody>
          <a:bodyPr/>
          <a:lstStyle/>
          <a:p>
            <a:fld id="{98F029F1-EED0-4BE9-B46B-37A14607C1B4}" type="datetime1">
              <a:rPr lang="en-US" smtClean="0"/>
              <a:t>4/12/2022</a:t>
            </a:fld>
            <a:endParaRPr lang="en-US"/>
          </a:p>
        </p:txBody>
      </p:sp>
      <p:sp>
        <p:nvSpPr>
          <p:cNvPr id="5" name="Footer Placeholder 4">
            <a:extLst>
              <a:ext uri="{FF2B5EF4-FFF2-40B4-BE49-F238E27FC236}">
                <a16:creationId xmlns:a16="http://schemas.microsoft.com/office/drawing/2014/main" id="{72EF896C-71D7-487F-A1B9-CBBE6DF4D621}"/>
              </a:ext>
            </a:extLst>
          </p:cNvPr>
          <p:cNvSpPr>
            <a:spLocks noGrp="1"/>
          </p:cNvSpPr>
          <p:nvPr>
            <p:ph type="ftr" sz="quarter" idx="11"/>
          </p:nvPr>
        </p:nvSpPr>
        <p:spPr/>
        <p:txBody>
          <a:bodyPr/>
          <a:lstStyle/>
          <a:p>
            <a:r>
              <a:rPr lang="en-US"/>
              <a:t>“U.S. Census Bureau Quickfacts: United States,” United States Census , July 1, 2021, https://www.census.gov/quickfacts/US, 1.</a:t>
            </a:r>
          </a:p>
        </p:txBody>
      </p:sp>
      <p:sp>
        <p:nvSpPr>
          <p:cNvPr id="6" name="Slide Number Placeholder 5">
            <a:extLst>
              <a:ext uri="{FF2B5EF4-FFF2-40B4-BE49-F238E27FC236}">
                <a16:creationId xmlns:a16="http://schemas.microsoft.com/office/drawing/2014/main" id="{2F8228E8-7B8A-4153-BEB2-BD5A69F2513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576462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E54407D-DBA4-414C-ACA5-30D7B87C652B}"/>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6BD518BC-8E44-4DAA-A8B9-2CFBD91DCDCD}"/>
                </a:ext>
              </a:extLst>
            </p:cNvPr>
            <p:cNvSpPr/>
            <p:nvPr/>
          </p:nvSpPr>
          <p:spPr>
            <a:xfrm rot="10800000" flipH="1">
              <a:off x="0" y="2019649"/>
              <a:ext cx="4838350" cy="483835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67C3660-39CD-431D-8E64-37508FFEAC96}"/>
                </a:ext>
              </a:extLst>
            </p:cNvPr>
            <p:cNvGrpSpPr>
              <a:grpSpLocks noChangeAspect="1"/>
            </p:cNvGrpSpPr>
            <p:nvPr/>
          </p:nvGrpSpPr>
          <p:grpSpPr>
            <a:xfrm>
              <a:off x="5603875" y="0"/>
              <a:ext cx="6521820" cy="3260910"/>
              <a:chOff x="0" y="0"/>
              <a:chExt cx="2880000" cy="1440000"/>
            </a:xfrm>
          </p:grpSpPr>
          <p:sp>
            <p:nvSpPr>
              <p:cNvPr id="9" name="Rectangle 8">
                <a:extLst>
                  <a:ext uri="{FF2B5EF4-FFF2-40B4-BE49-F238E27FC236}">
                    <a16:creationId xmlns:a16="http://schemas.microsoft.com/office/drawing/2014/main" id="{C4CCE569-E461-438A-A235-B96A542AF82F}"/>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F9DF1F-1F74-476C-AD41-22AC3F8A65A0}"/>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BE49ED5-9713-43D1-AE9E-3F9FE5574077}"/>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21A2854-1482-4441-85EA-D7B9F3EF56D2}"/>
                </a:ext>
              </a:extLst>
            </p:cNvPr>
            <p:cNvSpPr>
              <a:spLocks noChangeAspect="1"/>
            </p:cNvSpPr>
            <p:nvPr/>
          </p:nvSpPr>
          <p:spPr>
            <a:xfrm>
              <a:off x="494887" y="2538000"/>
              <a:ext cx="4320000" cy="4320000"/>
            </a:xfrm>
            <a:prstGeom prst="ellipse">
              <a:avLst/>
            </a:prstGeom>
            <a:solidFill>
              <a:schemeClr val="accent2">
                <a:alpha val="2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ED36A6D-894D-44DA-851C-345A414F3F68}"/>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D36F1DF-CD42-4695-A7D0-2F5B193057E9}"/>
              </a:ext>
            </a:extLst>
          </p:cNvPr>
          <p:cNvSpPr>
            <a:spLocks noGrp="1"/>
          </p:cNvSpPr>
          <p:nvPr>
            <p:ph type="title"/>
          </p:nvPr>
        </p:nvSpPr>
        <p:spPr>
          <a:xfrm>
            <a:off x="540000" y="540000"/>
            <a:ext cx="7345362" cy="5768725"/>
          </a:xfrm>
        </p:spPr>
        <p:txBody>
          <a:bodyPr anchor="t"/>
          <a:lstStyle>
            <a:lvl1pPr>
              <a:defRPr sz="8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549160-0F86-4FCA-8718-6980E99C7938}"/>
              </a:ext>
            </a:extLst>
          </p:cNvPr>
          <p:cNvSpPr>
            <a:spLocks noGrp="1"/>
          </p:cNvSpPr>
          <p:nvPr>
            <p:ph type="body" idx="1"/>
          </p:nvPr>
        </p:nvSpPr>
        <p:spPr>
          <a:xfrm>
            <a:off x="8075612" y="540000"/>
            <a:ext cx="3565523" cy="5768725"/>
          </a:xfrm>
        </p:spPr>
        <p:txBody>
          <a:bodyPr anchor="t"/>
          <a:lstStyle>
            <a:lvl1pPr marL="0" indent="0">
              <a:buNone/>
              <a:defRPr sz="18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5C6CBB-DABA-4F2E-8574-46747E15EA1A}"/>
              </a:ext>
            </a:extLst>
          </p:cNvPr>
          <p:cNvSpPr>
            <a:spLocks noGrp="1"/>
          </p:cNvSpPr>
          <p:nvPr>
            <p:ph type="dt" sz="half" idx="10"/>
          </p:nvPr>
        </p:nvSpPr>
        <p:spPr/>
        <p:txBody>
          <a:bodyPr/>
          <a:lstStyle/>
          <a:p>
            <a:fld id="{D17B95B0-401A-46CA-885A-3B6CB8D36426}" type="datetime1">
              <a:rPr lang="en-US" smtClean="0"/>
              <a:t>4/12/2022</a:t>
            </a:fld>
            <a:endParaRPr lang="en-US" dirty="0"/>
          </a:p>
        </p:txBody>
      </p:sp>
      <p:sp>
        <p:nvSpPr>
          <p:cNvPr id="5" name="Footer Placeholder 4">
            <a:extLst>
              <a:ext uri="{FF2B5EF4-FFF2-40B4-BE49-F238E27FC236}">
                <a16:creationId xmlns:a16="http://schemas.microsoft.com/office/drawing/2014/main" id="{8FAF86BC-9ECC-439C-BF2E-F0B7EF193B5E}"/>
              </a:ext>
            </a:extLst>
          </p:cNvPr>
          <p:cNvSpPr>
            <a:spLocks noGrp="1"/>
          </p:cNvSpPr>
          <p:nvPr>
            <p:ph type="ftr" sz="quarter" idx="11"/>
          </p:nvPr>
        </p:nvSpPr>
        <p:spPr/>
        <p:txBody>
          <a:bodyPr/>
          <a:lstStyle/>
          <a:p>
            <a:r>
              <a:rPr lang="en-US"/>
              <a:t>“U.S. Census Bureau Quickfacts: United States,” United States Census , July 1, 2021, https://www.census.gov/quickfacts/US, 1.</a:t>
            </a:r>
            <a:endParaRPr lang="en-US" dirty="0"/>
          </a:p>
        </p:txBody>
      </p:sp>
      <p:sp>
        <p:nvSpPr>
          <p:cNvPr id="6" name="Slide Number Placeholder 5">
            <a:extLst>
              <a:ext uri="{FF2B5EF4-FFF2-40B4-BE49-F238E27FC236}">
                <a16:creationId xmlns:a16="http://schemas.microsoft.com/office/drawing/2014/main" id="{3C742552-C4C9-44EE-B7CB-5A652393BA20}"/>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16526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5774299-531D-4CAC-881D-7EB68BC99FCC}"/>
              </a:ext>
            </a:extLst>
          </p:cNvPr>
          <p:cNvGrpSpPr/>
          <p:nvPr/>
        </p:nvGrpSpPr>
        <p:grpSpPr>
          <a:xfrm>
            <a:off x="0" y="-3"/>
            <a:ext cx="12192000" cy="6858003"/>
            <a:chOff x="0" y="-3"/>
            <a:chExt cx="12192000" cy="6858003"/>
          </a:xfrm>
        </p:grpSpPr>
        <p:sp useBgFill="1">
          <p:nvSpPr>
            <p:cNvPr id="9" name="Rectangle 8">
              <a:extLst>
                <a:ext uri="{FF2B5EF4-FFF2-40B4-BE49-F238E27FC236}">
                  <a16:creationId xmlns:a16="http://schemas.microsoft.com/office/drawing/2014/main" id="{A17676CF-DDCC-48C1-AC68-CDA0B9E47FD8}"/>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052D363-F6F5-455B-A2F2-A12B30CEE528}"/>
                </a:ext>
              </a:extLst>
            </p:cNvPr>
            <p:cNvGrpSpPr>
              <a:grpSpLocks noChangeAspect="1"/>
            </p:cNvGrpSpPr>
            <p:nvPr/>
          </p:nvGrpSpPr>
          <p:grpSpPr>
            <a:xfrm>
              <a:off x="672000" y="-3"/>
              <a:ext cx="11520000" cy="5760000"/>
              <a:chOff x="5981700" y="-1"/>
              <a:chExt cx="6042660" cy="3021330"/>
            </a:xfrm>
          </p:grpSpPr>
          <p:sp>
            <p:nvSpPr>
              <p:cNvPr id="17" name="Rectangle 16">
                <a:extLst>
                  <a:ext uri="{FF2B5EF4-FFF2-40B4-BE49-F238E27FC236}">
                    <a16:creationId xmlns:a16="http://schemas.microsoft.com/office/drawing/2014/main" id="{D0C396B8-00CA-4AE9-A0A5-B4E2B2A2AC07}"/>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660166-3107-4058-A259-59B0527306BD}"/>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42BE934E-3063-4D0F-AFDE-68D58D336CBE}"/>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39660FA-744A-4CB3-9BED-C59793E3BF32}"/>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313EEC-733B-4019-8A0B-3FA768B8DB7A}"/>
                </a:ext>
              </a:extLst>
            </p:cNvPr>
            <p:cNvGrpSpPr/>
            <p:nvPr/>
          </p:nvGrpSpPr>
          <p:grpSpPr>
            <a:xfrm rot="10800000">
              <a:off x="1" y="2948940"/>
              <a:ext cx="7818118" cy="3909059"/>
              <a:chOff x="0" y="0"/>
              <a:chExt cx="2880000" cy="1440000"/>
            </a:xfrm>
          </p:grpSpPr>
          <p:sp>
            <p:nvSpPr>
              <p:cNvPr id="15" name="Rectangle 14">
                <a:extLst>
                  <a:ext uri="{FF2B5EF4-FFF2-40B4-BE49-F238E27FC236}">
                    <a16:creationId xmlns:a16="http://schemas.microsoft.com/office/drawing/2014/main" id="{421FE91F-780C-4ABD-ADE8-0EFDB7196A10}"/>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9EA389-EE78-4475-A390-5EDED23C2D6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5E492A94-8867-4C62-9D40-4023C41E0AF8}"/>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A3DAD7C5-BA12-4557-8BC4-72C69B0D59DD}"/>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4412EC-56C0-4009-B2E3-D63F9EECB9D4}"/>
              </a:ext>
            </a:extLst>
          </p:cNvPr>
          <p:cNvSpPr>
            <a:spLocks noGrp="1"/>
          </p:cNvSpPr>
          <p:nvPr>
            <p:ph type="title"/>
          </p:nvPr>
        </p:nvSpPr>
        <p:spPr>
          <a:xfrm>
            <a:off x="540000" y="539999"/>
            <a:ext cx="11090275" cy="120960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B70C84F-F3B7-4BF4-A328-BCF5ADD32944}"/>
              </a:ext>
            </a:extLst>
          </p:cNvPr>
          <p:cNvSpPr>
            <a:spLocks noGrp="1"/>
          </p:cNvSpPr>
          <p:nvPr>
            <p:ph sz="half" idx="1"/>
          </p:nvPr>
        </p:nvSpPr>
        <p:spPr>
          <a:xfrm>
            <a:off x="54000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F919CD5-DBB4-4749-980D-B5B40ECB67B9}"/>
              </a:ext>
            </a:extLst>
          </p:cNvPr>
          <p:cNvSpPr>
            <a:spLocks noGrp="1"/>
          </p:cNvSpPr>
          <p:nvPr>
            <p:ph sz="half" idx="2"/>
          </p:nvPr>
        </p:nvSpPr>
        <p:spPr>
          <a:xfrm>
            <a:off x="620395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BCFC378-6572-43DF-8344-59DE8122CD12}"/>
              </a:ext>
            </a:extLst>
          </p:cNvPr>
          <p:cNvSpPr>
            <a:spLocks noGrp="1"/>
          </p:cNvSpPr>
          <p:nvPr>
            <p:ph type="dt" sz="half" idx="10"/>
          </p:nvPr>
        </p:nvSpPr>
        <p:spPr/>
        <p:txBody>
          <a:bodyPr/>
          <a:lstStyle/>
          <a:p>
            <a:fld id="{2E84C9C0-BF68-4786-AFEE-B7F802578B39}" type="datetime1">
              <a:rPr lang="en-US" smtClean="0"/>
              <a:t>4/12/2022</a:t>
            </a:fld>
            <a:endParaRPr lang="en-US"/>
          </a:p>
        </p:txBody>
      </p:sp>
      <p:sp>
        <p:nvSpPr>
          <p:cNvPr id="6" name="Footer Placeholder 5">
            <a:extLst>
              <a:ext uri="{FF2B5EF4-FFF2-40B4-BE49-F238E27FC236}">
                <a16:creationId xmlns:a16="http://schemas.microsoft.com/office/drawing/2014/main" id="{36967A14-246A-4DDF-865C-68F6E16906B6}"/>
              </a:ext>
            </a:extLst>
          </p:cNvPr>
          <p:cNvSpPr>
            <a:spLocks noGrp="1"/>
          </p:cNvSpPr>
          <p:nvPr>
            <p:ph type="ftr" sz="quarter" idx="11"/>
          </p:nvPr>
        </p:nvSpPr>
        <p:spPr/>
        <p:txBody>
          <a:bodyPr/>
          <a:lstStyle/>
          <a:p>
            <a:r>
              <a:rPr lang="en-US"/>
              <a:t>“U.S. Census Bureau Quickfacts: United States,” United States Census , July 1, 2021, https://www.census.gov/quickfacts/US, 1.</a:t>
            </a:r>
          </a:p>
        </p:txBody>
      </p:sp>
      <p:sp>
        <p:nvSpPr>
          <p:cNvPr id="7" name="Slide Number Placeholder 6">
            <a:extLst>
              <a:ext uri="{FF2B5EF4-FFF2-40B4-BE49-F238E27FC236}">
                <a16:creationId xmlns:a16="http://schemas.microsoft.com/office/drawing/2014/main" id="{19674B6D-E110-478C-94B9-2F8199E586DC}"/>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969619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130F7E5-A40E-4C9C-8E4F-3935B9182C4A}"/>
              </a:ext>
            </a:extLst>
          </p:cNvPr>
          <p:cNvGrpSpPr/>
          <p:nvPr/>
        </p:nvGrpSpPr>
        <p:grpSpPr>
          <a:xfrm>
            <a:off x="0" y="-2"/>
            <a:ext cx="12191999" cy="6858001"/>
            <a:chOff x="0" y="-2"/>
            <a:chExt cx="12191999" cy="6858001"/>
          </a:xfrm>
        </p:grpSpPr>
        <p:sp>
          <p:nvSpPr>
            <p:cNvPr id="12" name="Rectangle 11">
              <a:extLst>
                <a:ext uri="{FF2B5EF4-FFF2-40B4-BE49-F238E27FC236}">
                  <a16:creationId xmlns:a16="http://schemas.microsoft.com/office/drawing/2014/main" id="{AE67B504-02A7-4203-87D0-07D333D71917}"/>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A1158F3-E1C3-400D-8505-628DB94365CE}"/>
                </a:ext>
              </a:extLst>
            </p:cNvPr>
            <p:cNvGrpSpPr/>
            <p:nvPr/>
          </p:nvGrpSpPr>
          <p:grpSpPr>
            <a:xfrm rot="16200000">
              <a:off x="2295528" y="-2295528"/>
              <a:ext cx="6858000" cy="11449051"/>
              <a:chOff x="0" y="2333625"/>
              <a:chExt cx="9515474" cy="3766109"/>
            </a:xfrm>
          </p:grpSpPr>
          <p:sp>
            <p:nvSpPr>
              <p:cNvPr id="23" name="Rectangle 22">
                <a:extLst>
                  <a:ext uri="{FF2B5EF4-FFF2-40B4-BE49-F238E27FC236}">
                    <a16:creationId xmlns:a16="http://schemas.microsoft.com/office/drawing/2014/main" id="{0AEADDCE-3295-4F24-8700-C93B5457C2B7}"/>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F95C76A-5429-458C-BC9D-E1053EF7B84F}"/>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3D0E8A42-259A-43FA-B284-B459D7364097}"/>
                </a:ext>
              </a:extLst>
            </p:cNvPr>
            <p:cNvGrpSpPr>
              <a:grpSpLocks noChangeAspect="1"/>
            </p:cNvGrpSpPr>
            <p:nvPr/>
          </p:nvGrpSpPr>
          <p:grpSpPr>
            <a:xfrm rot="5400000">
              <a:off x="3583369" y="-3583369"/>
              <a:ext cx="4713262" cy="11880000"/>
              <a:chOff x="1" y="0"/>
              <a:chExt cx="8305797" cy="6858000"/>
            </a:xfrm>
          </p:grpSpPr>
          <p:sp>
            <p:nvSpPr>
              <p:cNvPr id="21" name="Rectangle 20">
                <a:extLst>
                  <a:ext uri="{FF2B5EF4-FFF2-40B4-BE49-F238E27FC236}">
                    <a16:creationId xmlns:a16="http://schemas.microsoft.com/office/drawing/2014/main" id="{7900B4F1-619C-4C0E-B749-1843F22C946A}"/>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E6F70BB-DCCC-4CF0-B5BB-95A965A99947}"/>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83E6C50C-C1DA-44E1-B254-3B7228879DCD}"/>
                </a:ext>
              </a:extLst>
            </p:cNvPr>
            <p:cNvGrpSpPr/>
            <p:nvPr/>
          </p:nvGrpSpPr>
          <p:grpSpPr>
            <a:xfrm>
              <a:off x="2676525" y="0"/>
              <a:ext cx="9515473" cy="3766109"/>
              <a:chOff x="2333625" y="2433367"/>
              <a:chExt cx="9897159" cy="3766109"/>
            </a:xfrm>
          </p:grpSpPr>
          <p:sp>
            <p:nvSpPr>
              <p:cNvPr id="19" name="Rectangle 18">
                <a:extLst>
                  <a:ext uri="{FF2B5EF4-FFF2-40B4-BE49-F238E27FC236}">
                    <a16:creationId xmlns:a16="http://schemas.microsoft.com/office/drawing/2014/main" id="{DFC6EEED-A40A-4D1C-BE6B-11DD62770607}"/>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7FF3FB-FDFC-4659-A7D6-ABED74010E82}"/>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1548ED5-6668-4672-88DC-40E92508ACA2}"/>
                </a:ext>
              </a:extLst>
            </p:cNvPr>
            <p:cNvGrpSpPr/>
            <p:nvPr/>
          </p:nvGrpSpPr>
          <p:grpSpPr>
            <a:xfrm>
              <a:off x="0" y="0"/>
              <a:ext cx="9515473" cy="3766109"/>
              <a:chOff x="0" y="2333625"/>
              <a:chExt cx="9515473" cy="3766109"/>
            </a:xfrm>
          </p:grpSpPr>
          <p:sp>
            <p:nvSpPr>
              <p:cNvPr id="17" name="Rectangle 16">
                <a:extLst>
                  <a:ext uri="{FF2B5EF4-FFF2-40B4-BE49-F238E27FC236}">
                    <a16:creationId xmlns:a16="http://schemas.microsoft.com/office/drawing/2014/main" id="{975AE1B2-E73F-4E6E-AAFB-FB1C02684D3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750F2D6-C0E1-4AFE-AB87-083292737609}"/>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Rectangle 24">
            <a:extLst>
              <a:ext uri="{FF2B5EF4-FFF2-40B4-BE49-F238E27FC236}">
                <a16:creationId xmlns:a16="http://schemas.microsoft.com/office/drawing/2014/main" id="{4ECC0D66-F2BE-4BF4-87F6-CE618B5C8916}"/>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A0BCA11-08C2-4C9A-B0A3-31C9051CDF9E}"/>
              </a:ext>
            </a:extLst>
          </p:cNvPr>
          <p:cNvSpPr>
            <a:spLocks noGrp="1"/>
          </p:cNvSpPr>
          <p:nvPr>
            <p:ph type="title"/>
          </p:nvPr>
        </p:nvSpPr>
        <p:spPr>
          <a:xfrm>
            <a:off x="540000" y="539999"/>
            <a:ext cx="11090273" cy="1210396"/>
          </a:xfrm>
        </p:spPr>
        <p:txBody>
          <a:bodyPr>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662CEB0-C969-40EA-A5E2-8D875E28A6B6}"/>
              </a:ext>
            </a:extLst>
          </p:cNvPr>
          <p:cNvSpPr>
            <a:spLocks noGrp="1"/>
          </p:cNvSpPr>
          <p:nvPr>
            <p:ph type="body" idx="1"/>
          </p:nvPr>
        </p:nvSpPr>
        <p:spPr>
          <a:xfrm>
            <a:off x="540000" y="1929783"/>
            <a:ext cx="5448052" cy="792161"/>
          </a:xfrm>
        </p:spPr>
        <p:txBody>
          <a:bodyPr anchor="b"/>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0F41A6-112E-4305-A0BA-6E119A77AC10}"/>
              </a:ext>
            </a:extLst>
          </p:cNvPr>
          <p:cNvSpPr>
            <a:spLocks noGrp="1"/>
          </p:cNvSpPr>
          <p:nvPr>
            <p:ph sz="half" idx="2"/>
          </p:nvPr>
        </p:nvSpPr>
        <p:spPr>
          <a:xfrm>
            <a:off x="54000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C672C5-31B9-443B-8DEE-5523646891F7}"/>
              </a:ext>
            </a:extLst>
          </p:cNvPr>
          <p:cNvSpPr>
            <a:spLocks noGrp="1"/>
          </p:cNvSpPr>
          <p:nvPr>
            <p:ph type="body" sz="quarter" idx="3"/>
          </p:nvPr>
        </p:nvSpPr>
        <p:spPr>
          <a:xfrm>
            <a:off x="6203949" y="1929782"/>
            <a:ext cx="5437187" cy="792000"/>
          </a:xfrm>
        </p:spPr>
        <p:txBody>
          <a:bodyPr anchor="b"/>
          <a:lstStyle>
            <a:lvl1pPr marL="0" indent="0">
              <a:buNone/>
              <a:defRPr sz="1600" b="0"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D18B9D-8B21-4249-A3AD-8FBE48F0F55B}"/>
              </a:ext>
            </a:extLst>
          </p:cNvPr>
          <p:cNvSpPr>
            <a:spLocks noGrp="1"/>
          </p:cNvSpPr>
          <p:nvPr>
            <p:ph sz="quarter" idx="4"/>
          </p:nvPr>
        </p:nvSpPr>
        <p:spPr>
          <a:xfrm>
            <a:off x="620395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5B60881-13B2-4064-84FB-6D071F36C433}"/>
              </a:ext>
            </a:extLst>
          </p:cNvPr>
          <p:cNvSpPr>
            <a:spLocks noGrp="1"/>
          </p:cNvSpPr>
          <p:nvPr>
            <p:ph type="dt" sz="half" idx="10"/>
          </p:nvPr>
        </p:nvSpPr>
        <p:spPr/>
        <p:txBody>
          <a:bodyPr/>
          <a:lstStyle/>
          <a:p>
            <a:fld id="{AA4B42AD-EB42-4CFC-BD07-C90F5F5892EA}" type="datetime1">
              <a:rPr lang="en-US" smtClean="0"/>
              <a:t>4/12/2022</a:t>
            </a:fld>
            <a:endParaRPr lang="en-US"/>
          </a:p>
        </p:txBody>
      </p:sp>
      <p:sp>
        <p:nvSpPr>
          <p:cNvPr id="8" name="Footer Placeholder 7">
            <a:extLst>
              <a:ext uri="{FF2B5EF4-FFF2-40B4-BE49-F238E27FC236}">
                <a16:creationId xmlns:a16="http://schemas.microsoft.com/office/drawing/2014/main" id="{249FCE5D-D5EF-485D-97FA-2614FF964298}"/>
              </a:ext>
            </a:extLst>
          </p:cNvPr>
          <p:cNvSpPr>
            <a:spLocks noGrp="1"/>
          </p:cNvSpPr>
          <p:nvPr>
            <p:ph type="ftr" sz="quarter" idx="11"/>
          </p:nvPr>
        </p:nvSpPr>
        <p:spPr/>
        <p:txBody>
          <a:bodyPr/>
          <a:lstStyle/>
          <a:p>
            <a:r>
              <a:rPr lang="en-US"/>
              <a:t>“U.S. Census Bureau Quickfacts: United States,” United States Census , July 1, 2021, https://www.census.gov/quickfacts/US, 1.</a:t>
            </a:r>
          </a:p>
        </p:txBody>
      </p:sp>
      <p:sp>
        <p:nvSpPr>
          <p:cNvPr id="9" name="Slide Number Placeholder 8">
            <a:extLst>
              <a:ext uri="{FF2B5EF4-FFF2-40B4-BE49-F238E27FC236}">
                <a16:creationId xmlns:a16="http://schemas.microsoft.com/office/drawing/2014/main" id="{67F204FC-4F66-417C-8E4B-74772ED057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573097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1FD20-B9D4-4FD1-9AAD-F4157555AD62}"/>
              </a:ext>
            </a:extLst>
          </p:cNvPr>
          <p:cNvGrpSpPr/>
          <p:nvPr/>
        </p:nvGrpSpPr>
        <p:grpSpPr>
          <a:xfrm rot="10800000">
            <a:off x="1392000" y="0"/>
            <a:ext cx="10800000" cy="6858000"/>
            <a:chOff x="0" y="0"/>
            <a:chExt cx="10800000" cy="6858000"/>
          </a:xfrm>
        </p:grpSpPr>
        <p:sp>
          <p:nvSpPr>
            <p:cNvPr id="15" name="Rectangle 14">
              <a:extLst>
                <a:ext uri="{FF2B5EF4-FFF2-40B4-BE49-F238E27FC236}">
                  <a16:creationId xmlns:a16="http://schemas.microsoft.com/office/drawing/2014/main" id="{27477A35-8424-45D6-A66E-8ACFA6C405B5}"/>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8BFBA1CE-E9AC-40C0-A7F9-E5671F5FEF9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D0C2729A-59F8-46A4-9AAA-7665E5966E2D}"/>
              </a:ext>
            </a:extLst>
          </p:cNvPr>
          <p:cNvGrpSpPr>
            <a:grpSpLocks noChangeAspect="1"/>
          </p:cNvGrpSpPr>
          <p:nvPr/>
        </p:nvGrpSpPr>
        <p:grpSpPr>
          <a:xfrm rot="16200000" flipH="1">
            <a:off x="-1714500" y="1714500"/>
            <a:ext cx="6858000" cy="3429000"/>
            <a:chOff x="0" y="0"/>
            <a:chExt cx="2880000" cy="1440000"/>
          </a:xfrm>
        </p:grpSpPr>
        <p:sp>
          <p:nvSpPr>
            <p:cNvPr id="13" name="Rectangle 12">
              <a:extLst>
                <a:ext uri="{FF2B5EF4-FFF2-40B4-BE49-F238E27FC236}">
                  <a16:creationId xmlns:a16="http://schemas.microsoft.com/office/drawing/2014/main" id="{83EBBB96-590D-4704-87AD-A00AE2424DE8}"/>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89BAB7D-5298-40B9-910B-136D0C6A9934}"/>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2" name="Rectangle 11">
            <a:extLst>
              <a:ext uri="{FF2B5EF4-FFF2-40B4-BE49-F238E27FC236}">
                <a16:creationId xmlns:a16="http://schemas.microsoft.com/office/drawing/2014/main" id="{F323EA00-E168-4864-883B-358A7CDF9153}"/>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CA4F2DFA-2F27-43FB-B08C-0787FA44B0D1}"/>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7D750354-CD8D-4A3B-A7AC-04622BCB0499}"/>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F3ED3C6-DA43-4D1C-9056-407A4FB1C6AB}"/>
              </a:ext>
            </a:extLst>
          </p:cNvPr>
          <p:cNvSpPr>
            <a:spLocks noGrp="1"/>
          </p:cNvSpPr>
          <p:nvPr>
            <p:ph type="title"/>
          </p:nvPr>
        </p:nvSpPr>
        <p:spPr>
          <a:xfrm>
            <a:off x="550863" y="549276"/>
            <a:ext cx="11090275" cy="5759450"/>
          </a:xfrm>
        </p:spPr>
        <p:txBody>
          <a:bodyPr/>
          <a:lstStyle>
            <a:lvl1pPr>
              <a:defRPr sz="8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20CEB41-E921-45ED-951A-861E31E01336}"/>
              </a:ext>
            </a:extLst>
          </p:cNvPr>
          <p:cNvSpPr>
            <a:spLocks noGrp="1"/>
          </p:cNvSpPr>
          <p:nvPr>
            <p:ph type="dt" sz="half" idx="10"/>
          </p:nvPr>
        </p:nvSpPr>
        <p:spPr/>
        <p:txBody>
          <a:bodyPr/>
          <a:lstStyle/>
          <a:p>
            <a:fld id="{166A3C40-85CB-415C-B020-DF1A6BAE8A9F}" type="datetime1">
              <a:rPr lang="en-US" smtClean="0"/>
              <a:t>4/12/2022</a:t>
            </a:fld>
            <a:endParaRPr lang="en-US"/>
          </a:p>
        </p:txBody>
      </p:sp>
      <p:sp>
        <p:nvSpPr>
          <p:cNvPr id="4" name="Footer Placeholder 3">
            <a:extLst>
              <a:ext uri="{FF2B5EF4-FFF2-40B4-BE49-F238E27FC236}">
                <a16:creationId xmlns:a16="http://schemas.microsoft.com/office/drawing/2014/main" id="{8F6B422D-769C-4E63-8763-ABBB885007E2}"/>
              </a:ext>
            </a:extLst>
          </p:cNvPr>
          <p:cNvSpPr>
            <a:spLocks noGrp="1"/>
          </p:cNvSpPr>
          <p:nvPr>
            <p:ph type="ftr" sz="quarter" idx="11"/>
          </p:nvPr>
        </p:nvSpPr>
        <p:spPr/>
        <p:txBody>
          <a:bodyPr/>
          <a:lstStyle/>
          <a:p>
            <a:r>
              <a:rPr lang="en-US"/>
              <a:t>“U.S. Census Bureau Quickfacts: United States,” United States Census , July 1, 2021, https://www.census.gov/quickfacts/US, 1.</a:t>
            </a:r>
          </a:p>
        </p:txBody>
      </p:sp>
      <p:sp>
        <p:nvSpPr>
          <p:cNvPr id="5" name="Slide Number Placeholder 4">
            <a:extLst>
              <a:ext uri="{FF2B5EF4-FFF2-40B4-BE49-F238E27FC236}">
                <a16:creationId xmlns:a16="http://schemas.microsoft.com/office/drawing/2014/main" id="{9D38FB6F-2D68-40C0-B628-142011F34A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54184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ED88E92-14F3-4B58-9E48-1D79E139A89E}"/>
              </a:ext>
            </a:extLst>
          </p:cNvPr>
          <p:cNvGrpSpPr/>
          <p:nvPr/>
        </p:nvGrpSpPr>
        <p:grpSpPr>
          <a:xfrm>
            <a:off x="0" y="0"/>
            <a:ext cx="12191999" cy="6861600"/>
            <a:chOff x="1" y="0"/>
            <a:chExt cx="12191999" cy="6861600"/>
          </a:xfrm>
        </p:grpSpPr>
        <p:sp>
          <p:nvSpPr>
            <p:cNvPr id="6" name="Rectangle 5">
              <a:extLst>
                <a:ext uri="{FF2B5EF4-FFF2-40B4-BE49-F238E27FC236}">
                  <a16:creationId xmlns:a16="http://schemas.microsoft.com/office/drawing/2014/main" id="{A6466AE7-32B6-4334-AF41-B9387E6726C5}"/>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 name="Oval 6">
              <a:extLst>
                <a:ext uri="{FF2B5EF4-FFF2-40B4-BE49-F238E27FC236}">
                  <a16:creationId xmlns:a16="http://schemas.microsoft.com/office/drawing/2014/main" id="{659C09F8-90CD-443F-9AA1-D08C56A605BB}"/>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Oval 7">
              <a:extLst>
                <a:ext uri="{FF2B5EF4-FFF2-40B4-BE49-F238E27FC236}">
                  <a16:creationId xmlns:a16="http://schemas.microsoft.com/office/drawing/2014/main" id="{DC7304AB-BE7D-45AC-A876-4A24543AE5B3}"/>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9" name="Group 8">
              <a:extLst>
                <a:ext uri="{FF2B5EF4-FFF2-40B4-BE49-F238E27FC236}">
                  <a16:creationId xmlns:a16="http://schemas.microsoft.com/office/drawing/2014/main" id="{8E11922B-DDB3-46D7-B1BD-C1CCDB3C42E3}"/>
                </a:ext>
              </a:extLst>
            </p:cNvPr>
            <p:cNvGrpSpPr>
              <a:grpSpLocks noChangeAspect="1"/>
            </p:cNvGrpSpPr>
            <p:nvPr/>
          </p:nvGrpSpPr>
          <p:grpSpPr>
            <a:xfrm>
              <a:off x="690092" y="0"/>
              <a:ext cx="10800000" cy="6858000"/>
              <a:chOff x="2328000" y="0"/>
              <a:chExt cx="2880000" cy="1440000"/>
            </a:xfrm>
          </p:grpSpPr>
          <p:sp>
            <p:nvSpPr>
              <p:cNvPr id="14" name="Rectangle 13">
                <a:extLst>
                  <a:ext uri="{FF2B5EF4-FFF2-40B4-BE49-F238E27FC236}">
                    <a16:creationId xmlns:a16="http://schemas.microsoft.com/office/drawing/2014/main" id="{C580F8F6-E662-4BCD-AC9C-7E5DDBD5A773}"/>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9A333FE5-ADB0-48EE-A1A6-9AA36DA343A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0B09CD4F-6DF4-48AA-BD35-23E3F2A643F7}"/>
                </a:ext>
              </a:extLst>
            </p:cNvPr>
            <p:cNvGrpSpPr>
              <a:grpSpLocks noChangeAspect="1"/>
            </p:cNvGrpSpPr>
            <p:nvPr/>
          </p:nvGrpSpPr>
          <p:grpSpPr>
            <a:xfrm rot="5400000">
              <a:off x="7048499" y="1714500"/>
              <a:ext cx="6858000" cy="3429000"/>
              <a:chOff x="0" y="0"/>
              <a:chExt cx="2880000" cy="1440000"/>
            </a:xfrm>
          </p:grpSpPr>
          <p:sp>
            <p:nvSpPr>
              <p:cNvPr id="12" name="Rectangle 11">
                <a:extLst>
                  <a:ext uri="{FF2B5EF4-FFF2-40B4-BE49-F238E27FC236}">
                    <a16:creationId xmlns:a16="http://schemas.microsoft.com/office/drawing/2014/main" id="{02223219-ACCC-42F2-A1B4-E3C8C8AB12A4}"/>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1510B0E9-9BA0-4357-9E04-554C19BAAC8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 name="Rectangle 10">
              <a:extLst>
                <a:ext uri="{FF2B5EF4-FFF2-40B4-BE49-F238E27FC236}">
                  <a16:creationId xmlns:a16="http://schemas.microsoft.com/office/drawing/2014/main" id="{DF06DA80-525A-4C9E-A441-50630AA772A4}"/>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E841E027-8E53-4FEB-8605-2124D85731CA}"/>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Date Placeholder 1">
            <a:extLst>
              <a:ext uri="{FF2B5EF4-FFF2-40B4-BE49-F238E27FC236}">
                <a16:creationId xmlns:a16="http://schemas.microsoft.com/office/drawing/2014/main" id="{7DD871A2-AE80-4408-AA95-DC60D132E9E3}"/>
              </a:ext>
            </a:extLst>
          </p:cNvPr>
          <p:cNvSpPr>
            <a:spLocks noGrp="1"/>
          </p:cNvSpPr>
          <p:nvPr>
            <p:ph type="dt" sz="half" idx="10"/>
          </p:nvPr>
        </p:nvSpPr>
        <p:spPr/>
        <p:txBody>
          <a:bodyPr/>
          <a:lstStyle/>
          <a:p>
            <a:fld id="{4B7EF767-FB01-4DA0-8450-A665F77C8512}" type="datetime1">
              <a:rPr lang="en-US" smtClean="0"/>
              <a:t>4/12/2022</a:t>
            </a:fld>
            <a:endParaRPr lang="en-US"/>
          </a:p>
        </p:txBody>
      </p:sp>
      <p:sp>
        <p:nvSpPr>
          <p:cNvPr id="3" name="Footer Placeholder 2">
            <a:extLst>
              <a:ext uri="{FF2B5EF4-FFF2-40B4-BE49-F238E27FC236}">
                <a16:creationId xmlns:a16="http://schemas.microsoft.com/office/drawing/2014/main" id="{DDD122A1-7B97-4979-B319-1CE0A4A49787}"/>
              </a:ext>
            </a:extLst>
          </p:cNvPr>
          <p:cNvSpPr>
            <a:spLocks noGrp="1"/>
          </p:cNvSpPr>
          <p:nvPr>
            <p:ph type="ftr" sz="quarter" idx="11"/>
          </p:nvPr>
        </p:nvSpPr>
        <p:spPr/>
        <p:txBody>
          <a:bodyPr/>
          <a:lstStyle/>
          <a:p>
            <a:r>
              <a:rPr lang="en-US"/>
              <a:t>“U.S. Census Bureau Quickfacts: United States,” United States Census , July 1, 2021, https://www.census.gov/quickfacts/US, 1.</a:t>
            </a:r>
          </a:p>
        </p:txBody>
      </p:sp>
      <p:sp>
        <p:nvSpPr>
          <p:cNvPr id="4" name="Slide Number Placeholder 3">
            <a:extLst>
              <a:ext uri="{FF2B5EF4-FFF2-40B4-BE49-F238E27FC236}">
                <a16:creationId xmlns:a16="http://schemas.microsoft.com/office/drawing/2014/main" id="{26209A76-7DCD-477A-A6BA-EEA63FF94082}"/>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963282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5C0F5C-A529-490C-8941-78F10C6A00D3}"/>
              </a:ext>
            </a:extLst>
          </p:cNvPr>
          <p:cNvGrpSpPr/>
          <p:nvPr/>
        </p:nvGrpSpPr>
        <p:grpSpPr>
          <a:xfrm flipH="1">
            <a:off x="0" y="0"/>
            <a:ext cx="12191999" cy="6858001"/>
            <a:chOff x="0" y="-2"/>
            <a:chExt cx="12191999" cy="6858001"/>
          </a:xfrm>
        </p:grpSpPr>
        <p:sp>
          <p:nvSpPr>
            <p:cNvPr id="9" name="Rectangle 8">
              <a:extLst>
                <a:ext uri="{FF2B5EF4-FFF2-40B4-BE49-F238E27FC236}">
                  <a16:creationId xmlns:a16="http://schemas.microsoft.com/office/drawing/2014/main" id="{14A8D739-B942-4545-9459-A6CAF0444D1F}"/>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B38CCA-110B-4404-9363-BFFA76C096D2}"/>
                </a:ext>
              </a:extLst>
            </p:cNvPr>
            <p:cNvGrpSpPr/>
            <p:nvPr/>
          </p:nvGrpSpPr>
          <p:grpSpPr>
            <a:xfrm rot="16200000">
              <a:off x="2295528" y="-2295528"/>
              <a:ext cx="6858000" cy="11449051"/>
              <a:chOff x="0" y="2333625"/>
              <a:chExt cx="9515474" cy="3766109"/>
            </a:xfrm>
          </p:grpSpPr>
          <p:sp>
            <p:nvSpPr>
              <p:cNvPr id="20" name="Rectangle 19">
                <a:extLst>
                  <a:ext uri="{FF2B5EF4-FFF2-40B4-BE49-F238E27FC236}">
                    <a16:creationId xmlns:a16="http://schemas.microsoft.com/office/drawing/2014/main" id="{B223FE99-C58F-4A56-8F8E-2942FF74E4BD}"/>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BBD4511-8AB6-4BD3-8410-7FB3EC8D42B2}"/>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6A8CA067-2248-4BD3-B56E-2C014AEB2273}"/>
                </a:ext>
              </a:extLst>
            </p:cNvPr>
            <p:cNvGrpSpPr>
              <a:grpSpLocks noChangeAspect="1"/>
            </p:cNvGrpSpPr>
            <p:nvPr/>
          </p:nvGrpSpPr>
          <p:grpSpPr>
            <a:xfrm rot="5400000">
              <a:off x="3583369" y="-3583369"/>
              <a:ext cx="4713262" cy="11880000"/>
              <a:chOff x="1" y="0"/>
              <a:chExt cx="8305797" cy="6858000"/>
            </a:xfrm>
          </p:grpSpPr>
          <p:sp>
            <p:nvSpPr>
              <p:cNvPr id="18" name="Rectangle 17">
                <a:extLst>
                  <a:ext uri="{FF2B5EF4-FFF2-40B4-BE49-F238E27FC236}">
                    <a16:creationId xmlns:a16="http://schemas.microsoft.com/office/drawing/2014/main" id="{8C017B9B-2727-4255-8F80-9D4C2A5AE297}"/>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93C5F16-BC47-4707-B6B7-DC5262ACDC51}"/>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2E88FE13-0734-4BB3-B4D1-7C53A194DA84}"/>
                </a:ext>
              </a:extLst>
            </p:cNvPr>
            <p:cNvGrpSpPr/>
            <p:nvPr/>
          </p:nvGrpSpPr>
          <p:grpSpPr>
            <a:xfrm>
              <a:off x="2676525" y="0"/>
              <a:ext cx="9515473" cy="3766109"/>
              <a:chOff x="2333625" y="2433367"/>
              <a:chExt cx="9897159" cy="3766109"/>
            </a:xfrm>
          </p:grpSpPr>
          <p:sp>
            <p:nvSpPr>
              <p:cNvPr id="16" name="Rectangle 15">
                <a:extLst>
                  <a:ext uri="{FF2B5EF4-FFF2-40B4-BE49-F238E27FC236}">
                    <a16:creationId xmlns:a16="http://schemas.microsoft.com/office/drawing/2014/main" id="{5C9B7EF7-1EDF-4AC7-8E40-C2801783AC85}"/>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5CA0A0-9A3F-498E-983D-B3285EF5AD9A}"/>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A5171814-E4F0-44B5-BC3F-588512210991}"/>
                </a:ext>
              </a:extLst>
            </p:cNvPr>
            <p:cNvGrpSpPr/>
            <p:nvPr/>
          </p:nvGrpSpPr>
          <p:grpSpPr>
            <a:xfrm>
              <a:off x="0" y="0"/>
              <a:ext cx="9515473" cy="3766109"/>
              <a:chOff x="0" y="2333625"/>
              <a:chExt cx="9515473" cy="3766109"/>
            </a:xfrm>
          </p:grpSpPr>
          <p:sp>
            <p:nvSpPr>
              <p:cNvPr id="14" name="Rectangle 13">
                <a:extLst>
                  <a:ext uri="{FF2B5EF4-FFF2-40B4-BE49-F238E27FC236}">
                    <a16:creationId xmlns:a16="http://schemas.microsoft.com/office/drawing/2014/main" id="{8E666ACD-EB1C-4732-971B-C3B26061DB8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A4E213B-7F96-44C1-90B3-B72E9387BF73}"/>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21">
            <a:extLst>
              <a:ext uri="{FF2B5EF4-FFF2-40B4-BE49-F238E27FC236}">
                <a16:creationId xmlns:a16="http://schemas.microsoft.com/office/drawing/2014/main" id="{BFE392AA-35E5-40E5-9309-284A0C54106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1A8188C-9713-46E1-AA5C-C84FE515F3A2}"/>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E192CC-893A-4A84-A7E9-F389D83F0B16}"/>
              </a:ext>
            </a:extLst>
          </p:cNvPr>
          <p:cNvSpPr>
            <a:spLocks noGrp="1"/>
          </p:cNvSpPr>
          <p:nvPr>
            <p:ph idx="1"/>
          </p:nvPr>
        </p:nvSpPr>
        <p:spPr>
          <a:xfrm>
            <a:off x="5232400" y="540000"/>
            <a:ext cx="6408736" cy="5759450"/>
          </a:xfrm>
        </p:spPr>
        <p:txBody>
          <a:bodyPr/>
          <a:lstStyle>
            <a:lvl1pPr>
              <a:defRPr sz="3200"/>
            </a:lvl1pPr>
            <a:lvl2pPr>
              <a:defRPr sz="24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6CC7765-7D44-43DD-A1DF-419D3E1C625F}"/>
              </a:ext>
            </a:extLst>
          </p:cNvPr>
          <p:cNvSpPr>
            <a:spLocks noGrp="1"/>
          </p:cNvSpPr>
          <p:nvPr>
            <p:ph type="body" sz="half" idx="2"/>
          </p:nvPr>
        </p:nvSpPr>
        <p:spPr>
          <a:xfrm>
            <a:off x="540000" y="3536950"/>
            <a:ext cx="4511426" cy="2771775"/>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36875-AFB0-4905-8C9E-A72B4F59775E}"/>
              </a:ext>
            </a:extLst>
          </p:cNvPr>
          <p:cNvSpPr>
            <a:spLocks noGrp="1"/>
          </p:cNvSpPr>
          <p:nvPr>
            <p:ph type="dt" sz="half" idx="10"/>
          </p:nvPr>
        </p:nvSpPr>
        <p:spPr/>
        <p:txBody>
          <a:bodyPr/>
          <a:lstStyle/>
          <a:p>
            <a:fld id="{6A165BA8-5EDB-4540-BFBE-E5D745B875A5}" type="datetime1">
              <a:rPr lang="en-US" smtClean="0"/>
              <a:t>4/12/2022</a:t>
            </a:fld>
            <a:endParaRPr lang="en-US"/>
          </a:p>
        </p:txBody>
      </p:sp>
      <p:sp>
        <p:nvSpPr>
          <p:cNvPr id="6" name="Footer Placeholder 5">
            <a:extLst>
              <a:ext uri="{FF2B5EF4-FFF2-40B4-BE49-F238E27FC236}">
                <a16:creationId xmlns:a16="http://schemas.microsoft.com/office/drawing/2014/main" id="{25437ABF-7E70-4E45-A67B-C503BF18209D}"/>
              </a:ext>
            </a:extLst>
          </p:cNvPr>
          <p:cNvSpPr>
            <a:spLocks noGrp="1"/>
          </p:cNvSpPr>
          <p:nvPr>
            <p:ph type="ftr" sz="quarter" idx="11"/>
          </p:nvPr>
        </p:nvSpPr>
        <p:spPr/>
        <p:txBody>
          <a:bodyPr/>
          <a:lstStyle/>
          <a:p>
            <a:r>
              <a:rPr lang="en-US"/>
              <a:t>“U.S. Census Bureau Quickfacts: United States,” United States Census , July 1, 2021, https://www.census.gov/quickfacts/US, 1.</a:t>
            </a:r>
          </a:p>
        </p:txBody>
      </p:sp>
      <p:sp>
        <p:nvSpPr>
          <p:cNvPr id="7" name="Slide Number Placeholder 6">
            <a:extLst>
              <a:ext uri="{FF2B5EF4-FFF2-40B4-BE49-F238E27FC236}">
                <a16:creationId xmlns:a16="http://schemas.microsoft.com/office/drawing/2014/main" id="{B48016CA-2983-47BF-BA09-2130A40C8763}"/>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528055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97E00A2-2906-4C97-9D1F-C789D3ADD373}"/>
              </a:ext>
            </a:extLst>
          </p:cNvPr>
          <p:cNvGrpSpPr/>
          <p:nvPr/>
        </p:nvGrpSpPr>
        <p:grpSpPr>
          <a:xfrm rot="10800000">
            <a:off x="1392000" y="0"/>
            <a:ext cx="10800000" cy="6858000"/>
            <a:chOff x="0" y="0"/>
            <a:chExt cx="10800000" cy="6858000"/>
          </a:xfrm>
        </p:grpSpPr>
        <p:sp>
          <p:nvSpPr>
            <p:cNvPr id="9" name="Rectangle 8">
              <a:extLst>
                <a:ext uri="{FF2B5EF4-FFF2-40B4-BE49-F238E27FC236}">
                  <a16:creationId xmlns:a16="http://schemas.microsoft.com/office/drawing/2014/main" id="{59CE8EF9-87D6-47FD-B7D3-2D48D8E48AC3}"/>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6784998E-9D37-4D0D-889A-C67531E5295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8B575B0B-C502-438E-967C-64D268031426}"/>
              </a:ext>
            </a:extLst>
          </p:cNvPr>
          <p:cNvGrpSpPr>
            <a:grpSpLocks noChangeAspect="1"/>
          </p:cNvGrpSpPr>
          <p:nvPr/>
        </p:nvGrpSpPr>
        <p:grpSpPr>
          <a:xfrm rot="16200000" flipH="1">
            <a:off x="-1714500" y="1714500"/>
            <a:ext cx="6858000" cy="3429000"/>
            <a:chOff x="0" y="0"/>
            <a:chExt cx="2880000" cy="1440000"/>
          </a:xfrm>
        </p:grpSpPr>
        <p:sp>
          <p:nvSpPr>
            <p:cNvPr id="12" name="Rectangle 11">
              <a:extLst>
                <a:ext uri="{FF2B5EF4-FFF2-40B4-BE49-F238E27FC236}">
                  <a16:creationId xmlns:a16="http://schemas.microsoft.com/office/drawing/2014/main" id="{4FC29931-00EB-4F74-BE4C-172A4C282A26}"/>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989B4C87-FDD3-406D-BE06-3ABF69905E0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4" name="Rectangle 13">
            <a:extLst>
              <a:ext uri="{FF2B5EF4-FFF2-40B4-BE49-F238E27FC236}">
                <a16:creationId xmlns:a16="http://schemas.microsoft.com/office/drawing/2014/main" id="{FD817A89-A0E1-4190-90AE-0571E6CE8FC6}"/>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4FD20388-C666-4992-920D-5F034214950C}"/>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FCAB0CC3-A07E-43B8-9B34-0A67C1806DE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F91800A6-9706-4B81-B957-C950A5F77490}"/>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CA17652B-AA0D-4574-AF1D-7F7442D84B0B}"/>
              </a:ext>
            </a:extLst>
          </p:cNvPr>
          <p:cNvSpPr>
            <a:spLocks noGrp="1"/>
          </p:cNvSpPr>
          <p:nvPr>
            <p:ph type="pic" idx="1"/>
          </p:nvPr>
        </p:nvSpPr>
        <p:spPr>
          <a:xfrm>
            <a:off x="5232400" y="549275"/>
            <a:ext cx="6408736" cy="57594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CA19547-D24B-4BD1-8C26-318450B171B3}"/>
              </a:ext>
            </a:extLst>
          </p:cNvPr>
          <p:cNvSpPr>
            <a:spLocks noGrp="1"/>
          </p:cNvSpPr>
          <p:nvPr>
            <p:ph type="body" sz="half" idx="2"/>
          </p:nvPr>
        </p:nvSpPr>
        <p:spPr>
          <a:xfrm>
            <a:off x="539999" y="3536950"/>
            <a:ext cx="4511425" cy="2771774"/>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A22E6-7E01-4547-8555-B2C197543921}"/>
              </a:ext>
            </a:extLst>
          </p:cNvPr>
          <p:cNvSpPr>
            <a:spLocks noGrp="1"/>
          </p:cNvSpPr>
          <p:nvPr>
            <p:ph type="dt" sz="half" idx="10"/>
          </p:nvPr>
        </p:nvSpPr>
        <p:spPr/>
        <p:txBody>
          <a:bodyPr/>
          <a:lstStyle/>
          <a:p>
            <a:fld id="{D9AF42E6-8D7C-48B8-BF7D-6FA01A4E8F92}" type="datetime1">
              <a:rPr lang="en-US" smtClean="0"/>
              <a:t>4/12/2022</a:t>
            </a:fld>
            <a:endParaRPr lang="en-US"/>
          </a:p>
        </p:txBody>
      </p:sp>
      <p:sp>
        <p:nvSpPr>
          <p:cNvPr id="6" name="Footer Placeholder 5">
            <a:extLst>
              <a:ext uri="{FF2B5EF4-FFF2-40B4-BE49-F238E27FC236}">
                <a16:creationId xmlns:a16="http://schemas.microsoft.com/office/drawing/2014/main" id="{A90F6BEC-98F3-43FE-BA9B-B046D8917FFC}"/>
              </a:ext>
            </a:extLst>
          </p:cNvPr>
          <p:cNvSpPr>
            <a:spLocks noGrp="1"/>
          </p:cNvSpPr>
          <p:nvPr>
            <p:ph type="ftr" sz="quarter" idx="11"/>
          </p:nvPr>
        </p:nvSpPr>
        <p:spPr/>
        <p:txBody>
          <a:bodyPr/>
          <a:lstStyle/>
          <a:p>
            <a:r>
              <a:rPr lang="en-US"/>
              <a:t>“U.S. Census Bureau Quickfacts: United States,” United States Census , July 1, 2021, https://www.census.gov/quickfacts/US, 1.</a:t>
            </a:r>
          </a:p>
        </p:txBody>
      </p:sp>
      <p:sp>
        <p:nvSpPr>
          <p:cNvPr id="7" name="Slide Number Placeholder 6">
            <a:extLst>
              <a:ext uri="{FF2B5EF4-FFF2-40B4-BE49-F238E27FC236}">
                <a16:creationId xmlns:a16="http://schemas.microsoft.com/office/drawing/2014/main" id="{4D2FAF54-57F0-46F9-A1BA-B554E14017DF}"/>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589781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C461672-F18A-4768-9850-0531FD3720BA}"/>
              </a:ext>
            </a:extLst>
          </p:cNvPr>
          <p:cNvGrpSpPr/>
          <p:nvPr/>
        </p:nvGrpSpPr>
        <p:grpSpPr>
          <a:xfrm rot="10800000">
            <a:off x="5921828" y="2876440"/>
            <a:ext cx="6270171" cy="3981559"/>
            <a:chOff x="0" y="0"/>
            <a:chExt cx="10800000" cy="6858000"/>
          </a:xfrm>
        </p:grpSpPr>
        <p:sp>
          <p:nvSpPr>
            <p:cNvPr id="8" name="Rectangle 7">
              <a:extLst>
                <a:ext uri="{FF2B5EF4-FFF2-40B4-BE49-F238E27FC236}">
                  <a16:creationId xmlns:a16="http://schemas.microsoft.com/office/drawing/2014/main" id="{9FA73898-D78C-45F9-AFC1-2AB16F6725C2}"/>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Rectangle 8">
              <a:extLst>
                <a:ext uri="{FF2B5EF4-FFF2-40B4-BE49-F238E27FC236}">
                  <a16:creationId xmlns:a16="http://schemas.microsoft.com/office/drawing/2014/main" id="{4FC423E3-700B-43D6-A2CB-F3C871632C20}"/>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82F05B2A-1EC7-4131-B899-C7ECB9A502EB}"/>
              </a:ext>
            </a:extLst>
          </p:cNvPr>
          <p:cNvGrpSpPr>
            <a:grpSpLocks noChangeAspect="1"/>
          </p:cNvGrpSpPr>
          <p:nvPr/>
        </p:nvGrpSpPr>
        <p:grpSpPr>
          <a:xfrm flipH="1">
            <a:off x="0" y="-1"/>
            <a:ext cx="9361714" cy="4680857"/>
            <a:chOff x="0" y="0"/>
            <a:chExt cx="2880000" cy="1440000"/>
          </a:xfrm>
        </p:grpSpPr>
        <p:sp>
          <p:nvSpPr>
            <p:cNvPr id="11" name="Rectangle 10">
              <a:extLst>
                <a:ext uri="{FF2B5EF4-FFF2-40B4-BE49-F238E27FC236}">
                  <a16:creationId xmlns:a16="http://schemas.microsoft.com/office/drawing/2014/main" id="{97711D4C-4FFE-4151-B53D-60890F0F5827}"/>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F69D6393-413D-4151-BC2C-43161BE4A79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3" name="Rectangle 12">
            <a:extLst>
              <a:ext uri="{FF2B5EF4-FFF2-40B4-BE49-F238E27FC236}">
                <a16:creationId xmlns:a16="http://schemas.microsoft.com/office/drawing/2014/main" id="{A96370B9-6459-4B05-9A8B-A9E7FA8966CD}"/>
              </a:ext>
            </a:extLst>
          </p:cNvPr>
          <p:cNvSpPr>
            <a:spLocks noChangeAspect="1"/>
          </p:cNvSpPr>
          <p:nvPr/>
        </p:nvSpPr>
        <p:spPr>
          <a:xfrm rot="10800000">
            <a:off x="8430794" y="3096793"/>
            <a:ext cx="3761205" cy="3761205"/>
          </a:xfrm>
          <a:prstGeom prst="rect">
            <a:avLst/>
          </a:prstGeom>
          <a:gradFill flip="none" rotWithShape="1">
            <a:gsLst>
              <a:gs pos="0">
                <a:schemeClr val="accent1">
                  <a:alpha val="4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A3AC0C6-74C3-4E55-AA42-A9F1A4B1B210}"/>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132C27A4-86D3-4C83-8022-E37A8672A993}"/>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8F1FF59-E1BE-4475-953B-5BF6FBC10C57}"/>
              </a:ext>
            </a:extLst>
          </p:cNvPr>
          <p:cNvSpPr>
            <a:spLocks noGrp="1"/>
          </p:cNvSpPr>
          <p:nvPr>
            <p:ph type="title"/>
          </p:nvPr>
        </p:nvSpPr>
        <p:spPr>
          <a:xfrm>
            <a:off x="540000" y="540000"/>
            <a:ext cx="11090273" cy="1800224"/>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8F1F045-44C5-4165-A640-4E4D33A59580}"/>
              </a:ext>
            </a:extLst>
          </p:cNvPr>
          <p:cNvSpPr>
            <a:spLocks noGrp="1"/>
          </p:cNvSpPr>
          <p:nvPr>
            <p:ph type="body" orient="vert" idx="1"/>
          </p:nvPr>
        </p:nvSpPr>
        <p:spPr>
          <a:xfrm>
            <a:off x="540000" y="2528887"/>
            <a:ext cx="11090276" cy="3779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17047A-D05B-44E9-A240-BDB881C4296A}"/>
              </a:ext>
            </a:extLst>
          </p:cNvPr>
          <p:cNvSpPr>
            <a:spLocks noGrp="1"/>
          </p:cNvSpPr>
          <p:nvPr>
            <p:ph type="dt" sz="half" idx="10"/>
          </p:nvPr>
        </p:nvSpPr>
        <p:spPr/>
        <p:txBody>
          <a:bodyPr/>
          <a:lstStyle/>
          <a:p>
            <a:fld id="{64B8B39E-BD56-44D2-911D-BFF6EABC28B0}" type="datetime1">
              <a:rPr lang="en-US" smtClean="0"/>
              <a:t>4/12/2022</a:t>
            </a:fld>
            <a:endParaRPr lang="en-US"/>
          </a:p>
        </p:txBody>
      </p:sp>
      <p:sp>
        <p:nvSpPr>
          <p:cNvPr id="5" name="Footer Placeholder 4">
            <a:extLst>
              <a:ext uri="{FF2B5EF4-FFF2-40B4-BE49-F238E27FC236}">
                <a16:creationId xmlns:a16="http://schemas.microsoft.com/office/drawing/2014/main" id="{7FDCB2E8-A68D-478D-A728-C9612848C84E}"/>
              </a:ext>
            </a:extLst>
          </p:cNvPr>
          <p:cNvSpPr>
            <a:spLocks noGrp="1"/>
          </p:cNvSpPr>
          <p:nvPr>
            <p:ph type="ftr" sz="quarter" idx="11"/>
          </p:nvPr>
        </p:nvSpPr>
        <p:spPr/>
        <p:txBody>
          <a:bodyPr/>
          <a:lstStyle/>
          <a:p>
            <a:r>
              <a:rPr lang="en-US"/>
              <a:t>“U.S. Census Bureau Quickfacts: United States,” United States Census , July 1, 2021, https://www.census.gov/quickfacts/US, 1.</a:t>
            </a:r>
          </a:p>
        </p:txBody>
      </p:sp>
      <p:sp>
        <p:nvSpPr>
          <p:cNvPr id="6" name="Slide Number Placeholder 5">
            <a:extLst>
              <a:ext uri="{FF2B5EF4-FFF2-40B4-BE49-F238E27FC236}">
                <a16:creationId xmlns:a16="http://schemas.microsoft.com/office/drawing/2014/main" id="{2F7E4F1D-3280-4DB5-B2E0-DA7F10717EB4}"/>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728273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C627D45-FE54-49FF-A37F-6206993AEFD8}"/>
              </a:ext>
            </a:extLst>
          </p:cNvPr>
          <p:cNvGrpSpPr/>
          <p:nvPr/>
        </p:nvGrpSpPr>
        <p:grpSpPr>
          <a:xfrm>
            <a:off x="0" y="-3"/>
            <a:ext cx="12192000" cy="6858003"/>
            <a:chOff x="0" y="-3"/>
            <a:chExt cx="12192000" cy="6858003"/>
          </a:xfrm>
        </p:grpSpPr>
        <p:sp useBgFill="1">
          <p:nvSpPr>
            <p:cNvPr id="8" name="Rectangle 7">
              <a:extLst>
                <a:ext uri="{FF2B5EF4-FFF2-40B4-BE49-F238E27FC236}">
                  <a16:creationId xmlns:a16="http://schemas.microsoft.com/office/drawing/2014/main" id="{879CEFA6-CCA5-4FEF-B53D-E74B1E67E9C7}"/>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CFCD768-2100-4B20-87EF-9F92EFBD8FA8}"/>
                </a:ext>
              </a:extLst>
            </p:cNvPr>
            <p:cNvGrpSpPr>
              <a:grpSpLocks noChangeAspect="1"/>
            </p:cNvGrpSpPr>
            <p:nvPr/>
          </p:nvGrpSpPr>
          <p:grpSpPr>
            <a:xfrm>
              <a:off x="672000" y="-3"/>
              <a:ext cx="11520000" cy="5760000"/>
              <a:chOff x="5981700" y="-1"/>
              <a:chExt cx="6042660" cy="3021330"/>
            </a:xfrm>
          </p:grpSpPr>
          <p:sp>
            <p:nvSpPr>
              <p:cNvPr id="16" name="Rectangle 15">
                <a:extLst>
                  <a:ext uri="{FF2B5EF4-FFF2-40B4-BE49-F238E27FC236}">
                    <a16:creationId xmlns:a16="http://schemas.microsoft.com/office/drawing/2014/main" id="{E0D1B599-DFF1-4E00-9EAE-EE32BD7B4860}"/>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0FCF7F6-290B-4DE7-BA60-863CBF95C2AF}"/>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F59358AB-E1C9-402B-9F3F-28B4F50DAC6F}"/>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78C24EC-8C5D-4A7E-9D57-C752E0DC9485}"/>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6C0B30A-4855-4424-B3A8-AC110CA8356F}"/>
                </a:ext>
              </a:extLst>
            </p:cNvPr>
            <p:cNvGrpSpPr/>
            <p:nvPr/>
          </p:nvGrpSpPr>
          <p:grpSpPr>
            <a:xfrm rot="10800000">
              <a:off x="1" y="2948940"/>
              <a:ext cx="7818118" cy="3909059"/>
              <a:chOff x="0" y="0"/>
              <a:chExt cx="2880000" cy="1440000"/>
            </a:xfrm>
          </p:grpSpPr>
          <p:sp>
            <p:nvSpPr>
              <p:cNvPr id="14" name="Rectangle 13">
                <a:extLst>
                  <a:ext uri="{FF2B5EF4-FFF2-40B4-BE49-F238E27FC236}">
                    <a16:creationId xmlns:a16="http://schemas.microsoft.com/office/drawing/2014/main" id="{DC119EB9-1A9A-45A4-AE16-9968A70C5C35}"/>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5B7B85-4DC3-4343-B734-4852DD5DF03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3F3733E-DBA5-4A25-9315-B7A1A5E7A1FF}"/>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AAB30D07-BE85-45CD-8055-8C57B00E2957}"/>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Vertical Title 1">
            <a:extLst>
              <a:ext uri="{FF2B5EF4-FFF2-40B4-BE49-F238E27FC236}">
                <a16:creationId xmlns:a16="http://schemas.microsoft.com/office/drawing/2014/main" id="{737FFCCA-9DBF-4E0A-BDC6-F7B8F39BD72F}"/>
              </a:ext>
            </a:extLst>
          </p:cNvPr>
          <p:cNvSpPr>
            <a:spLocks noGrp="1"/>
          </p:cNvSpPr>
          <p:nvPr>
            <p:ph type="title" orient="vert"/>
          </p:nvPr>
        </p:nvSpPr>
        <p:spPr>
          <a:xfrm>
            <a:off x="9012238" y="539999"/>
            <a:ext cx="2628900" cy="576872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511F1B23-21CD-4A3B-938B-5502019A13CD}"/>
              </a:ext>
            </a:extLst>
          </p:cNvPr>
          <p:cNvSpPr>
            <a:spLocks noGrp="1"/>
          </p:cNvSpPr>
          <p:nvPr>
            <p:ph type="body" orient="vert" idx="1"/>
          </p:nvPr>
        </p:nvSpPr>
        <p:spPr>
          <a:xfrm>
            <a:off x="550863" y="539999"/>
            <a:ext cx="8245475" cy="57687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99C884-5A98-4C01-BB89-098AC6966496}"/>
              </a:ext>
            </a:extLst>
          </p:cNvPr>
          <p:cNvSpPr>
            <a:spLocks noGrp="1"/>
          </p:cNvSpPr>
          <p:nvPr>
            <p:ph type="dt" sz="half" idx="10"/>
          </p:nvPr>
        </p:nvSpPr>
        <p:spPr/>
        <p:txBody>
          <a:bodyPr/>
          <a:lstStyle/>
          <a:p>
            <a:fld id="{032BB4AE-6EE1-4A9D-9D19-25D194A23E00}" type="datetime1">
              <a:rPr lang="en-US" smtClean="0"/>
              <a:t>4/12/2022</a:t>
            </a:fld>
            <a:endParaRPr lang="en-US"/>
          </a:p>
        </p:txBody>
      </p:sp>
      <p:sp>
        <p:nvSpPr>
          <p:cNvPr id="5" name="Footer Placeholder 4">
            <a:extLst>
              <a:ext uri="{FF2B5EF4-FFF2-40B4-BE49-F238E27FC236}">
                <a16:creationId xmlns:a16="http://schemas.microsoft.com/office/drawing/2014/main" id="{7DF54D22-9CD7-4FC6-9444-21948246C7C3}"/>
              </a:ext>
            </a:extLst>
          </p:cNvPr>
          <p:cNvSpPr>
            <a:spLocks noGrp="1"/>
          </p:cNvSpPr>
          <p:nvPr>
            <p:ph type="ftr" sz="quarter" idx="11"/>
          </p:nvPr>
        </p:nvSpPr>
        <p:spPr/>
        <p:txBody>
          <a:bodyPr/>
          <a:lstStyle/>
          <a:p>
            <a:r>
              <a:rPr lang="en-US"/>
              <a:t>“U.S. Census Bureau Quickfacts: United States,” United States Census , July 1, 2021, https://www.census.gov/quickfacts/US, 1.</a:t>
            </a:r>
          </a:p>
        </p:txBody>
      </p:sp>
      <p:sp>
        <p:nvSpPr>
          <p:cNvPr id="6" name="Slide Number Placeholder 5">
            <a:extLst>
              <a:ext uri="{FF2B5EF4-FFF2-40B4-BE49-F238E27FC236}">
                <a16:creationId xmlns:a16="http://schemas.microsoft.com/office/drawing/2014/main" id="{48AECC14-D66C-401A-A0C9-DFCA5533A5C7}"/>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407060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749C77-AA3A-4DA0-9E20-32FCD2B8BD5F}"/>
              </a:ext>
            </a:extLst>
          </p:cNvPr>
          <p:cNvSpPr>
            <a:spLocks noGrp="1"/>
          </p:cNvSpPr>
          <p:nvPr>
            <p:ph type="title"/>
          </p:nvPr>
        </p:nvSpPr>
        <p:spPr>
          <a:xfrm>
            <a:off x="540000" y="540000"/>
            <a:ext cx="11101135" cy="18095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8DC81A-9B5E-4A92-AA7B-3D750F95F434}"/>
              </a:ext>
            </a:extLst>
          </p:cNvPr>
          <p:cNvSpPr>
            <a:spLocks noGrp="1"/>
          </p:cNvSpPr>
          <p:nvPr>
            <p:ph type="body" idx="1"/>
          </p:nvPr>
        </p:nvSpPr>
        <p:spPr>
          <a:xfrm>
            <a:off x="540000" y="2528887"/>
            <a:ext cx="11101136" cy="3779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4B8083-48FB-4D6A-B77A-262FE3E23D6C}"/>
              </a:ext>
            </a:extLst>
          </p:cNvPr>
          <p:cNvSpPr>
            <a:spLocks noGrp="1"/>
          </p:cNvSpPr>
          <p:nvPr>
            <p:ph type="ftr" sz="quarter" idx="3"/>
          </p:nvPr>
        </p:nvSpPr>
        <p:spPr>
          <a:xfrm>
            <a:off x="540000" y="6314400"/>
            <a:ext cx="7350795" cy="365125"/>
          </a:xfrm>
          <a:prstGeom prst="rect">
            <a:avLst/>
          </a:prstGeom>
        </p:spPr>
        <p:txBody>
          <a:bodyPr vert="horz" lIns="91440" tIns="45720" rIns="91440" bIns="45720" rtlCol="0" anchor="ctr"/>
          <a:lstStyle>
            <a:lvl1pPr algn="l">
              <a:defRPr sz="1000" spc="100" baseline="0">
                <a:solidFill>
                  <a:schemeClr val="tx1"/>
                </a:solidFill>
              </a:defRPr>
            </a:lvl1pPr>
          </a:lstStyle>
          <a:p>
            <a:r>
              <a:rPr lang="en-US" sz="1000"/>
              <a:t>“U.S. Census Bureau Quickfacts: United States,” United States Census , July 1, 2021, https://www.census.gov/quickfacts/US, 1.</a:t>
            </a:r>
            <a:endParaRPr lang="en-US" sz="1000" dirty="0"/>
          </a:p>
        </p:txBody>
      </p:sp>
      <p:sp>
        <p:nvSpPr>
          <p:cNvPr id="4" name="Date Placeholder 3">
            <a:extLst>
              <a:ext uri="{FF2B5EF4-FFF2-40B4-BE49-F238E27FC236}">
                <a16:creationId xmlns:a16="http://schemas.microsoft.com/office/drawing/2014/main" id="{41EDA5BD-F7C8-4883-81D1-EF1F6F00EF72}"/>
              </a:ext>
            </a:extLst>
          </p:cNvPr>
          <p:cNvSpPr>
            <a:spLocks noGrp="1"/>
          </p:cNvSpPr>
          <p:nvPr>
            <p:ph type="dt" sz="half" idx="2"/>
          </p:nvPr>
        </p:nvSpPr>
        <p:spPr>
          <a:xfrm>
            <a:off x="8075613" y="6314400"/>
            <a:ext cx="2623468" cy="365125"/>
          </a:xfrm>
          <a:prstGeom prst="rect">
            <a:avLst/>
          </a:prstGeom>
        </p:spPr>
        <p:txBody>
          <a:bodyPr vert="horz" lIns="91440" tIns="45720" rIns="91440" bIns="45720" rtlCol="0" anchor="ctr"/>
          <a:lstStyle>
            <a:lvl1pPr algn="r">
              <a:defRPr sz="1000" cap="none" spc="100" baseline="0">
                <a:solidFill>
                  <a:schemeClr val="tx1"/>
                </a:solidFill>
              </a:defRPr>
            </a:lvl1pPr>
          </a:lstStyle>
          <a:p>
            <a:pPr algn="r"/>
            <a:fld id="{B07145CD-8543-4D70-A287-FE095756EB8B}" type="datetime1">
              <a:rPr lang="en-US" smtClean="0"/>
              <a:t>4/12/2022</a:t>
            </a:fld>
            <a:endParaRPr lang="en-US" dirty="0"/>
          </a:p>
        </p:txBody>
      </p:sp>
      <p:sp>
        <p:nvSpPr>
          <p:cNvPr id="6" name="Slide Number Placeholder 5">
            <a:extLst>
              <a:ext uri="{FF2B5EF4-FFF2-40B4-BE49-F238E27FC236}">
                <a16:creationId xmlns:a16="http://schemas.microsoft.com/office/drawing/2014/main" id="{AB48FEDB-2614-400B-9C19-0F4D448D98AB}"/>
              </a:ext>
            </a:extLst>
          </p:cNvPr>
          <p:cNvSpPr>
            <a:spLocks noGrp="1"/>
          </p:cNvSpPr>
          <p:nvPr>
            <p:ph type="sldNum" sz="quarter" idx="4"/>
          </p:nvPr>
        </p:nvSpPr>
        <p:spPr>
          <a:xfrm>
            <a:off x="10883899" y="6314400"/>
            <a:ext cx="757237" cy="365125"/>
          </a:xfrm>
          <a:prstGeom prst="rect">
            <a:avLst/>
          </a:prstGeom>
        </p:spPr>
        <p:txBody>
          <a:bodyPr vert="horz" lIns="91440" tIns="45720" rIns="91440" bIns="45720" rtlCol="0" anchor="ctr"/>
          <a:lstStyle>
            <a:lvl1pPr algn="r">
              <a:defRPr sz="1000" spc="100" baseline="0">
                <a:solidFill>
                  <a:schemeClr val="tx1"/>
                </a:solidFill>
              </a:defRPr>
            </a:lvl1pPr>
          </a:lstStyle>
          <a:p>
            <a:fld id="{4CD77608-3819-479B-BB98-C216BA724EFE}" type="slidenum">
              <a:rPr lang="en-US" smtClean="0"/>
              <a:pPr/>
              <a:t>‹#›</a:t>
            </a:fld>
            <a:endParaRPr lang="en-US" sz="1000" dirty="0"/>
          </a:p>
        </p:txBody>
      </p:sp>
    </p:spTree>
    <p:extLst>
      <p:ext uri="{BB962C8B-B14F-4D97-AF65-F5344CB8AC3E}">
        <p14:creationId xmlns:p14="http://schemas.microsoft.com/office/powerpoint/2010/main" val="1602272093"/>
      </p:ext>
    </p:extLst>
  </p:cSld>
  <p:clrMap bg1="dk1" tx1="lt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sldNum="0"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1000"/>
        </a:spcBef>
        <a:buFont typeface="Arial" panose="020B0604020202020204" pitchFamily="34" charset="0"/>
        <a:buChar char="•"/>
        <a:defRPr sz="1800" kern="1200" spc="50" baseline="0">
          <a:solidFill>
            <a:schemeClr val="tx1"/>
          </a:solidFill>
          <a:latin typeface="+mn-lt"/>
          <a:ea typeface="+mn-ea"/>
          <a:cs typeface="+mn-cs"/>
        </a:defRPr>
      </a:lvl1pPr>
      <a:lvl2pPr marL="72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08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3pPr>
      <a:lvl4pPr marL="144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4pPr>
      <a:lvl5pPr marL="180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state.gov/refugee-admissions/#:~:text=Since%20the%20passage%20of%20the,more%20than%203.1%20million%20refugees" TargetMode="External"/><Relationship Id="rId2" Type="http://schemas.openxmlformats.org/officeDocument/2006/relationships/hyperlink" Target="https://www.pewresearch.org/fact-tank/2020/08/20/key-findings-about-u-s-immigrant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unhcr.org/1951-refugee-convention.html" TargetMode="External"/><Relationship Id="rId2" Type="http://schemas.openxmlformats.org/officeDocument/2006/relationships/hyperlink" Target="https://www.vox.com/2014/9/13/6135905/open-borders-bryan-caplan-interview-gdp-double" TargetMode="External"/><Relationship Id="rId1" Type="http://schemas.openxmlformats.org/officeDocument/2006/relationships/slideLayout" Target="../slideLayouts/slideLayout2.xml"/><Relationship Id="rId4" Type="http://schemas.openxmlformats.org/officeDocument/2006/relationships/hyperlink" Target="https://poets.org/poem/new-coloss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nber.org/papers/w23498"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vox.com/2014/9/13/6135905/open-borders-bryan-caplan-interview-gdp-double" TargetMode="External"/><Relationship Id="rId2" Type="http://schemas.openxmlformats.org/officeDocument/2006/relationships/hyperlink" Target="https://www.pewresearch.org/fact-tank/2020/08/20/key-findings-about-u-s-immigrants/" TargetMode="External"/><Relationship Id="rId1" Type="http://schemas.openxmlformats.org/officeDocument/2006/relationships/slideLayout" Target="../slideLayouts/slideLayout2.xml"/><Relationship Id="rId4" Type="http://schemas.openxmlformats.org/officeDocument/2006/relationships/hyperlink" Target="https://www.unhcr.org/1951-refugee-conventio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56" name="Rectangle 55">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57" name="Oval 56">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58" name="Oval 57">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59" name="Group 58">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61" name="Rectangle 60">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2" name="Rectangle 61">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60" name="Rectangle 59">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64" name="Rectangle 63">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66" name="Group 65">
            <a:extLst>
              <a:ext uri="{FF2B5EF4-FFF2-40B4-BE49-F238E27FC236}">
                <a16:creationId xmlns:a16="http://schemas.microsoft.com/office/drawing/2014/main" id="{30D050C3-946A-4155-B469-3FE5492E6E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67" name="Rectangle 66">
              <a:extLst>
                <a:ext uri="{FF2B5EF4-FFF2-40B4-BE49-F238E27FC236}">
                  <a16:creationId xmlns:a16="http://schemas.microsoft.com/office/drawing/2014/main" id="{70D7BFBB-BF60-4EF1-AF1C-731347DB115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40150CBC-E30B-417C-9BB2-CE6BB1A644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476020D6-6ADB-408E-A69F-4EA6F51A7F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0" name="Group 69">
              <a:extLst>
                <a:ext uri="{FF2B5EF4-FFF2-40B4-BE49-F238E27FC236}">
                  <a16:creationId xmlns:a16="http://schemas.microsoft.com/office/drawing/2014/main" id="{8226C8E5-1D99-421D-AB3C-2AF296A1532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75" name="Rectangle 74">
                <a:extLst>
                  <a:ext uri="{FF2B5EF4-FFF2-40B4-BE49-F238E27FC236}">
                    <a16:creationId xmlns:a16="http://schemas.microsoft.com/office/drawing/2014/main" id="{67669339-D0C4-4CF0-9A76-5BFBCDB798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38B31604-91C4-4CB0-8097-02EE0ADDC1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70">
              <a:extLst>
                <a:ext uri="{FF2B5EF4-FFF2-40B4-BE49-F238E27FC236}">
                  <a16:creationId xmlns:a16="http://schemas.microsoft.com/office/drawing/2014/main" id="{548340F5-A593-469A-98DC-B6D90D3B22B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73" name="Rectangle 72">
                <a:extLst>
                  <a:ext uri="{FF2B5EF4-FFF2-40B4-BE49-F238E27FC236}">
                    <a16:creationId xmlns:a16="http://schemas.microsoft.com/office/drawing/2014/main" id="{B59E3068-3000-4C82-ACA8-367498951E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C2E1C398-D8F7-4828-9F7F-80D61DAE2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 name="Rectangle 71">
              <a:extLst>
                <a:ext uri="{FF2B5EF4-FFF2-40B4-BE49-F238E27FC236}">
                  <a16:creationId xmlns:a16="http://schemas.microsoft.com/office/drawing/2014/main" id="{813B333C-60FD-4260-80E0-190666C9DE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DC05F582-AA63-4A8C-915E-66057E4BE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flip="none" rotWithShape="1">
            <a:gsLst>
              <a:gs pos="0">
                <a:schemeClr val="bg2">
                  <a:alpha val="60000"/>
                </a:schemeClr>
              </a:gs>
              <a:gs pos="37000">
                <a:schemeClr val="bg2">
                  <a:alpha val="60000"/>
                </a:schemeClr>
              </a:gs>
              <a:gs pos="79000">
                <a:schemeClr val="bg2">
                  <a:alpha val="0"/>
                </a:scheme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5D8F1D8E-380F-4A5C-AA9D-536C17D423AC}"/>
              </a:ext>
            </a:extLst>
          </p:cNvPr>
          <p:cNvSpPr>
            <a:spLocks noGrp="1"/>
          </p:cNvSpPr>
          <p:nvPr>
            <p:ph type="ctrTitle"/>
          </p:nvPr>
        </p:nvSpPr>
        <p:spPr>
          <a:xfrm>
            <a:off x="7086315" y="540000"/>
            <a:ext cx="4554821" cy="2186096"/>
          </a:xfrm>
        </p:spPr>
        <p:txBody>
          <a:bodyPr vert="horz" lIns="91440" tIns="45720" rIns="91440" bIns="45720" rtlCol="0" anchor="b">
            <a:normAutofit/>
          </a:bodyPr>
          <a:lstStyle/>
          <a:p>
            <a:r>
              <a:rPr lang="en-US" sz="3800" dirty="0"/>
              <a:t>The Economic Case for Immigration with Regards to Refugees</a:t>
            </a:r>
          </a:p>
        </p:txBody>
      </p:sp>
      <p:pic>
        <p:nvPicPr>
          <p:cNvPr id="19" name="Picture 3" descr="Foggy landscape of mountains reflecting onto a lake at twilight">
            <a:extLst>
              <a:ext uri="{FF2B5EF4-FFF2-40B4-BE49-F238E27FC236}">
                <a16:creationId xmlns:a16="http://schemas.microsoft.com/office/drawing/2014/main" id="{47862722-E903-E124-BA51-FDDC09F7C22C}"/>
              </a:ext>
            </a:extLst>
          </p:cNvPr>
          <p:cNvPicPr>
            <a:picLocks noChangeAspect="1"/>
          </p:cNvPicPr>
          <p:nvPr/>
        </p:nvPicPr>
        <p:blipFill rotWithShape="1">
          <a:blip r:embed="rId2"/>
          <a:srcRect l="13866" r="23407" b="-1"/>
          <a:stretch/>
        </p:blipFill>
        <p:spPr>
          <a:xfrm>
            <a:off x="20" y="10"/>
            <a:ext cx="6444556" cy="6857990"/>
          </a:xfrm>
          <a:prstGeom prst="rect">
            <a:avLst/>
          </a:prstGeom>
        </p:spPr>
      </p:pic>
      <p:sp>
        <p:nvSpPr>
          <p:cNvPr id="3" name="Subtitle 2">
            <a:extLst>
              <a:ext uri="{FF2B5EF4-FFF2-40B4-BE49-F238E27FC236}">
                <a16:creationId xmlns:a16="http://schemas.microsoft.com/office/drawing/2014/main" id="{833EE51F-3036-4F74-A40D-55D007A53C73}"/>
              </a:ext>
            </a:extLst>
          </p:cNvPr>
          <p:cNvSpPr>
            <a:spLocks noGrp="1"/>
          </p:cNvSpPr>
          <p:nvPr>
            <p:ph type="subTitle" idx="1"/>
          </p:nvPr>
        </p:nvSpPr>
        <p:spPr>
          <a:xfrm>
            <a:off x="7104063" y="2947121"/>
            <a:ext cx="4537073" cy="3361604"/>
          </a:xfrm>
        </p:spPr>
        <p:txBody>
          <a:bodyPr vert="horz" lIns="91440" tIns="45720" rIns="91440" bIns="45720" rtlCol="0" anchor="t">
            <a:normAutofit/>
          </a:bodyPr>
          <a:lstStyle/>
          <a:p>
            <a:pPr indent="-270000">
              <a:buFont typeface="Arial" panose="020B0604020202020204" pitchFamily="34" charset="0"/>
              <a:buChar char="•"/>
            </a:pPr>
            <a:r>
              <a:rPr lang="en-US" sz="1800" spc="50" dirty="0"/>
              <a:t>Created By Gary Yu</a:t>
            </a:r>
          </a:p>
          <a:p>
            <a:pPr indent="-270000">
              <a:buFont typeface="Arial" panose="020B0604020202020204" pitchFamily="34" charset="0"/>
              <a:buChar char="•"/>
            </a:pPr>
            <a:r>
              <a:rPr lang="en-US" sz="1800" spc="50" dirty="0"/>
              <a:t>ECON Student </a:t>
            </a:r>
          </a:p>
          <a:p>
            <a:pPr indent="-270000">
              <a:buFont typeface="Arial" panose="020B0604020202020204" pitchFamily="34" charset="0"/>
              <a:buChar char="•"/>
            </a:pPr>
            <a:r>
              <a:rPr lang="en-US" sz="1800" spc="50" dirty="0"/>
              <a:t>BA in Political Science: with a specialty in International Relations</a:t>
            </a:r>
          </a:p>
          <a:p>
            <a:pPr indent="-270000">
              <a:buFont typeface="Arial" panose="020B0604020202020204" pitchFamily="34" charset="0"/>
              <a:buChar char="•"/>
            </a:pPr>
            <a:endParaRPr lang="en-US" sz="1800" spc="50" dirty="0"/>
          </a:p>
        </p:txBody>
      </p:sp>
    </p:spTree>
    <p:extLst>
      <p:ext uri="{BB962C8B-B14F-4D97-AF65-F5344CB8AC3E}">
        <p14:creationId xmlns:p14="http://schemas.microsoft.com/office/powerpoint/2010/main" val="856141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1BF1D-72A7-4EDA-85D4-43C6E8C8D11C}"/>
              </a:ext>
            </a:extLst>
          </p:cNvPr>
          <p:cNvSpPr>
            <a:spLocks noGrp="1"/>
          </p:cNvSpPr>
          <p:nvPr>
            <p:ph type="title"/>
          </p:nvPr>
        </p:nvSpPr>
        <p:spPr/>
        <p:txBody>
          <a:bodyPr/>
          <a:lstStyle/>
          <a:p>
            <a:pPr algn="ctr"/>
            <a:r>
              <a:rPr lang="en-US" dirty="0"/>
              <a:t>Introduction </a:t>
            </a:r>
          </a:p>
        </p:txBody>
      </p:sp>
      <p:sp>
        <p:nvSpPr>
          <p:cNvPr id="3" name="Content Placeholder 2">
            <a:extLst>
              <a:ext uri="{FF2B5EF4-FFF2-40B4-BE49-F238E27FC236}">
                <a16:creationId xmlns:a16="http://schemas.microsoft.com/office/drawing/2014/main" id="{1234362F-E582-4CA1-B0DC-E234F832F8AF}"/>
              </a:ext>
            </a:extLst>
          </p:cNvPr>
          <p:cNvSpPr>
            <a:spLocks noGrp="1"/>
          </p:cNvSpPr>
          <p:nvPr>
            <p:ph idx="1"/>
          </p:nvPr>
        </p:nvSpPr>
        <p:spPr/>
        <p:txBody>
          <a:bodyPr>
            <a:normAutofit/>
          </a:bodyPr>
          <a:lstStyle/>
          <a:p>
            <a:r>
              <a:rPr lang="en-US" dirty="0"/>
              <a:t>As of 2021 there are about 332 million people in the United States according to the US Census Bureau.</a:t>
            </a:r>
            <a:r>
              <a:rPr lang="en-US" baseline="30000" dirty="0"/>
              <a:t>1</a:t>
            </a:r>
          </a:p>
          <a:p>
            <a:r>
              <a:rPr lang="en-US" dirty="0"/>
              <a:t>Of those in 2018 there were 44.8 million immigrants. According to Pew Research who got it from… the US Census Bureau.</a:t>
            </a:r>
            <a:r>
              <a:rPr lang="en-US" baseline="30000" dirty="0"/>
              <a:t>2</a:t>
            </a:r>
          </a:p>
          <a:p>
            <a:r>
              <a:rPr lang="en-US" dirty="0"/>
              <a:t>The US State Department/US Government has already admitted 3.1 million refugees since 1980.</a:t>
            </a:r>
            <a:r>
              <a:rPr lang="en-US" baseline="30000" dirty="0"/>
              <a:t>3</a:t>
            </a:r>
          </a:p>
          <a:p>
            <a:r>
              <a:rPr lang="en-US" dirty="0"/>
              <a:t>Overall, in the past decade in the US, 28 percent of refugees have been from Africa, 63 percent from Asia, 5 percent from Europe, and 4 percent from Latin America/the Caribbean.</a:t>
            </a:r>
            <a:r>
              <a:rPr lang="en-US" baseline="30000" dirty="0"/>
              <a:t>4</a:t>
            </a:r>
            <a:endParaRPr lang="en-US" b="0" i="0" baseline="30000" dirty="0">
              <a:solidFill>
                <a:srgbClr val="333333"/>
              </a:solidFill>
              <a:effectLst/>
              <a:latin typeface="Aspira Webfont"/>
            </a:endParaRPr>
          </a:p>
          <a:p>
            <a:endParaRPr lang="en-US" dirty="0"/>
          </a:p>
        </p:txBody>
      </p:sp>
      <p:sp>
        <p:nvSpPr>
          <p:cNvPr id="7" name="Footer Placeholder 6">
            <a:extLst>
              <a:ext uri="{FF2B5EF4-FFF2-40B4-BE49-F238E27FC236}">
                <a16:creationId xmlns:a16="http://schemas.microsoft.com/office/drawing/2014/main" id="{6E33D4E6-B4C5-4E04-9A27-48F1999EB978}"/>
              </a:ext>
            </a:extLst>
          </p:cNvPr>
          <p:cNvSpPr>
            <a:spLocks noGrp="1"/>
          </p:cNvSpPr>
          <p:nvPr>
            <p:ph type="ftr" sz="quarter" idx="11"/>
          </p:nvPr>
        </p:nvSpPr>
        <p:spPr>
          <a:xfrm>
            <a:off x="540000" y="6314400"/>
            <a:ext cx="11489813" cy="365125"/>
          </a:xfrm>
        </p:spPr>
        <p:txBody>
          <a:bodyPr/>
          <a:lstStyle/>
          <a:p>
            <a:pPr marL="228600" indent="-228600">
              <a:buAutoNum type="arabicPeriod"/>
            </a:pPr>
            <a:r>
              <a:rPr lang="en-US" sz="800" dirty="0"/>
              <a:t>“U.S. Census Bureau </a:t>
            </a:r>
            <a:r>
              <a:rPr lang="en-US" sz="800" dirty="0" err="1"/>
              <a:t>Quickfacts</a:t>
            </a:r>
            <a:r>
              <a:rPr lang="en-US" sz="800" dirty="0"/>
              <a:t>: United States,” United States Census , July 1, 2021, https://www.census.gov/quickfacts/US, 1.</a:t>
            </a:r>
          </a:p>
          <a:p>
            <a:pPr marL="228600" indent="-228600">
              <a:buAutoNum type="arabicPeriod"/>
            </a:pPr>
            <a:r>
              <a:rPr lang="en-US" sz="800" dirty="0"/>
              <a:t>Abby Budiman, “Key Findings about U.S. Immigrants,” Pew Research Center (Pew Research Center, September 22, 2020), </a:t>
            </a:r>
            <a:r>
              <a:rPr lang="en-US" sz="800" dirty="0">
                <a:hlinkClick r:id="rId2"/>
              </a:rPr>
              <a:t>https://www.pewresearch.org/fact-tank/2020/08/20/key-findings-about-u-s-immigrants/</a:t>
            </a:r>
            <a:r>
              <a:rPr lang="en-US" sz="800" dirty="0"/>
              <a:t>.</a:t>
            </a:r>
          </a:p>
          <a:p>
            <a:pPr marL="228600" indent="-228600">
              <a:buAutoNum type="arabicPeriod"/>
            </a:pPr>
            <a:r>
              <a:rPr lang="en-US" sz="800" dirty="0"/>
              <a:t>“Refugee Admissions - United States Department of State,” U.S. Department of State (U.S. Department of State, October 8, 2021), </a:t>
            </a:r>
            <a:r>
              <a:rPr lang="en-US" sz="800" dirty="0">
                <a:hlinkClick r:id="rId3"/>
              </a:rPr>
              <a:t>https://www.state.gov/refugee-admissions/#:~:text=Since%20the%20passage%20of%20the,more%20than%203.1%20million%20refugees</a:t>
            </a:r>
            <a:r>
              <a:rPr lang="en-US" sz="800" dirty="0"/>
              <a:t>.</a:t>
            </a:r>
          </a:p>
          <a:p>
            <a:pPr marL="228600" indent="-228600">
              <a:buAutoNum type="arabicPeriod"/>
            </a:pPr>
            <a:r>
              <a:rPr lang="en-US" sz="800" dirty="0"/>
              <a:t>Jeanne </a:t>
            </a:r>
            <a:r>
              <a:rPr lang="en-US" sz="800" dirty="0" err="1"/>
              <a:t>Batalova</a:t>
            </a:r>
            <a:r>
              <a:rPr lang="en-US" sz="800" dirty="0"/>
              <a:t> Jeanne </a:t>
            </a:r>
            <a:r>
              <a:rPr lang="en-US" sz="800" dirty="0" err="1"/>
              <a:t>Batalova</a:t>
            </a:r>
            <a:r>
              <a:rPr lang="en-US" sz="800" dirty="0"/>
              <a:t> Kira </a:t>
            </a:r>
            <a:r>
              <a:rPr lang="en-US" sz="800" dirty="0" err="1"/>
              <a:t>Monin</a:t>
            </a:r>
            <a:r>
              <a:rPr lang="en-US" sz="800" dirty="0"/>
              <a:t>, “Refugees and Asylees in the United States,” migrationpolicy.org, July 8, 2021, https://www.migrationpolicy.org/article/refugees-and-asylees-united-states-2021#:~:text=Overall%2C%20in%20the%20past%20decade,from%20Latin%20America%2Fthe%20Caribbean.</a:t>
            </a:r>
          </a:p>
          <a:p>
            <a:pPr marL="228600" indent="-228600">
              <a:buAutoNum type="arabicPeriod"/>
            </a:pPr>
            <a:endParaRPr lang="en-US" sz="800" dirty="0"/>
          </a:p>
          <a:p>
            <a:pPr marL="228600" indent="-228600">
              <a:buAutoNum type="arabicPeriod"/>
            </a:pPr>
            <a:endParaRPr lang="en-US" dirty="0"/>
          </a:p>
          <a:p>
            <a:pPr marL="228600" indent="-228600">
              <a:buAutoNum type="arabicPeriod"/>
            </a:pPr>
            <a:endParaRPr lang="en-US" dirty="0"/>
          </a:p>
          <a:p>
            <a:pPr marL="228600" indent="-228600">
              <a:buAutoNum type="arabicPeriod"/>
            </a:pPr>
            <a:endParaRPr lang="en-US" dirty="0"/>
          </a:p>
        </p:txBody>
      </p:sp>
    </p:spTree>
    <p:extLst>
      <p:ext uri="{BB962C8B-B14F-4D97-AF65-F5344CB8AC3E}">
        <p14:creationId xmlns:p14="http://schemas.microsoft.com/office/powerpoint/2010/main" val="3590645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C24A3-39F0-40D0-B740-AD9CDA49742C}"/>
              </a:ext>
            </a:extLst>
          </p:cNvPr>
          <p:cNvSpPr>
            <a:spLocks noGrp="1"/>
          </p:cNvSpPr>
          <p:nvPr>
            <p:ph type="title"/>
          </p:nvPr>
        </p:nvSpPr>
        <p:spPr/>
        <p:txBody>
          <a:bodyPr/>
          <a:lstStyle/>
          <a:p>
            <a:r>
              <a:rPr lang="en-US" dirty="0"/>
              <a:t>Why Should the US bring in refugees?</a:t>
            </a:r>
          </a:p>
        </p:txBody>
      </p:sp>
      <p:sp>
        <p:nvSpPr>
          <p:cNvPr id="3" name="Content Placeholder 2">
            <a:extLst>
              <a:ext uri="{FF2B5EF4-FFF2-40B4-BE49-F238E27FC236}">
                <a16:creationId xmlns:a16="http://schemas.microsoft.com/office/drawing/2014/main" id="{A851A8E0-945B-4FAD-A659-FCE2922C2189}"/>
              </a:ext>
            </a:extLst>
          </p:cNvPr>
          <p:cNvSpPr>
            <a:spLocks noGrp="1"/>
          </p:cNvSpPr>
          <p:nvPr>
            <p:ph idx="1"/>
          </p:nvPr>
        </p:nvSpPr>
        <p:spPr/>
        <p:txBody>
          <a:bodyPr>
            <a:normAutofit fontScale="85000" lnSpcReduction="10000"/>
          </a:bodyPr>
          <a:lstStyle/>
          <a:p>
            <a:r>
              <a:rPr lang="en-US" dirty="0"/>
              <a:t>A few reasons have been given; I agree with some of these</a:t>
            </a:r>
          </a:p>
          <a:p>
            <a:r>
              <a:rPr lang="en-US" dirty="0"/>
              <a:t>Geopolitics/Foreign Policy; Matthew </a:t>
            </a:r>
            <a:r>
              <a:rPr lang="en-US" dirty="0" err="1"/>
              <a:t>Yglesias</a:t>
            </a:r>
            <a:r>
              <a:rPr lang="en-US" dirty="0"/>
              <a:t>, Basically the US needs more people so it can remain the global hegemon vs China and India for democracy, and rule of law plus economic growth in the world. Also, you can add US soft power to this as well. </a:t>
            </a:r>
            <a:r>
              <a:rPr lang="en-US" baseline="30000" dirty="0"/>
              <a:t>5</a:t>
            </a:r>
          </a:p>
          <a:p>
            <a:r>
              <a:rPr lang="en-US" dirty="0"/>
              <a:t>Economic potential: Bryan Caplan an economist thinks we should have open borders so that we can fight to get more people who are a commodity to which we can produce economic growth in the US.</a:t>
            </a:r>
            <a:r>
              <a:rPr lang="en-US" baseline="30000" dirty="0"/>
              <a:t>6</a:t>
            </a:r>
          </a:p>
          <a:p>
            <a:r>
              <a:rPr lang="en-US" dirty="0"/>
              <a:t>Moral/UN perspective: Refugees face serious harm in their countries and must be safe in another country or area.</a:t>
            </a:r>
            <a:r>
              <a:rPr lang="en-US" baseline="30000" dirty="0"/>
              <a:t>7</a:t>
            </a:r>
          </a:p>
          <a:p>
            <a:r>
              <a:rPr lang="en-US" dirty="0"/>
              <a:t>Modern Statue of Liberty: The US should take in the oppressed/masses of the world because no one else will do it, and so they can be free.</a:t>
            </a:r>
            <a:r>
              <a:rPr lang="en-US" baseline="30000" dirty="0"/>
              <a:t>8</a:t>
            </a:r>
          </a:p>
          <a:p>
            <a:r>
              <a:rPr lang="en-US" dirty="0"/>
              <a:t>Climate Change: </a:t>
            </a:r>
            <a:r>
              <a:rPr lang="en-US" dirty="0" err="1"/>
              <a:t>Vaush</a:t>
            </a:r>
            <a:r>
              <a:rPr lang="en-US" dirty="0"/>
              <a:t> a streamer argues we should use refugees to build massive public works projects to counter climate change.</a:t>
            </a:r>
            <a:r>
              <a:rPr lang="en-US" baseline="30000" dirty="0"/>
              <a:t>9</a:t>
            </a:r>
          </a:p>
          <a:p>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DA49F0A2-732E-47C3-9FF2-99BB22238666}"/>
              </a:ext>
            </a:extLst>
          </p:cNvPr>
          <p:cNvSpPr>
            <a:spLocks noGrp="1"/>
          </p:cNvSpPr>
          <p:nvPr>
            <p:ph type="ftr" sz="quarter" idx="11"/>
          </p:nvPr>
        </p:nvSpPr>
        <p:spPr>
          <a:xfrm>
            <a:off x="0" y="6314400"/>
            <a:ext cx="12192000" cy="365125"/>
          </a:xfrm>
        </p:spPr>
        <p:txBody>
          <a:bodyPr/>
          <a:lstStyle/>
          <a:p>
            <a:r>
              <a:rPr lang="en-US" sz="800" dirty="0"/>
              <a:t>5. Matthew </a:t>
            </a:r>
            <a:r>
              <a:rPr lang="en-US" sz="800" dirty="0" err="1"/>
              <a:t>Yglesias</a:t>
            </a:r>
            <a:r>
              <a:rPr lang="en-US" sz="800" dirty="0"/>
              <a:t>, One Billion Americans (Penguin Publishing Group, 2020).</a:t>
            </a:r>
          </a:p>
          <a:p>
            <a:r>
              <a:rPr lang="en-US" sz="800" dirty="0"/>
              <a:t>6. Dylan Matthews, “The Case for Open Borders,” Vox (Vox, September 13, 2014), </a:t>
            </a:r>
            <a:r>
              <a:rPr lang="en-US" sz="800" dirty="0">
                <a:hlinkClick r:id="rId2"/>
              </a:rPr>
              <a:t>https://www.vox.com/2014/9/13/6135905/open-borders-bryan-caplan-interview-gdp-double</a:t>
            </a:r>
            <a:r>
              <a:rPr lang="en-US" sz="800" dirty="0"/>
              <a:t>.</a:t>
            </a:r>
          </a:p>
          <a:p>
            <a:r>
              <a:rPr lang="en-US" sz="800" dirty="0"/>
              <a:t>7. “The 1951 Refugee Convention - UNHCR,” UNHCR, accessed April 11, 2022, </a:t>
            </a:r>
            <a:r>
              <a:rPr lang="en-US" sz="800" dirty="0">
                <a:hlinkClick r:id="rId3"/>
              </a:rPr>
              <a:t>https://www.unhcr.org/1951-refugee-convention.html</a:t>
            </a:r>
            <a:r>
              <a:rPr lang="en-US" sz="800" dirty="0"/>
              <a:t>.</a:t>
            </a:r>
          </a:p>
          <a:p>
            <a:r>
              <a:rPr lang="en-US" sz="800" dirty="0"/>
              <a:t>8. Emma Lazarus, “The New Colossus by Emma Lazarus - Poems | Academy of American Poets,” Poets.org (Academy of American Poets), accessed April 11, 2022, </a:t>
            </a:r>
            <a:r>
              <a:rPr lang="en-US" sz="800" dirty="0">
                <a:hlinkClick r:id="rId4"/>
              </a:rPr>
              <a:t>https://poets.org/poem/new-colossus</a:t>
            </a:r>
            <a:r>
              <a:rPr lang="en-US" sz="800" dirty="0"/>
              <a:t>.</a:t>
            </a:r>
          </a:p>
          <a:p>
            <a:r>
              <a:rPr lang="en-US" sz="800" dirty="0"/>
              <a:t>9. Ian </a:t>
            </a:r>
            <a:r>
              <a:rPr lang="en-US" sz="800" dirty="0" err="1"/>
              <a:t>Kochinski</a:t>
            </a:r>
            <a:r>
              <a:rPr lang="en-US" sz="800" dirty="0"/>
              <a:t> , “</a:t>
            </a:r>
            <a:r>
              <a:rPr lang="en-US" sz="800" dirty="0" err="1"/>
              <a:t>Vaush</a:t>
            </a:r>
            <a:r>
              <a:rPr lang="en-US" sz="800" dirty="0"/>
              <a:t> Talks about Climate Change,” </a:t>
            </a:r>
            <a:r>
              <a:rPr lang="en-US" sz="800" dirty="0" err="1"/>
              <a:t>Youtube</a:t>
            </a:r>
            <a:r>
              <a:rPr lang="en-US" sz="800" dirty="0"/>
              <a:t>, May 21, 2021, https://www.youtube.com/watch?v=KGj2sCJBxKI.</a:t>
            </a:r>
          </a:p>
          <a:p>
            <a:endParaRPr lang="en-US" sz="800" dirty="0"/>
          </a:p>
          <a:p>
            <a:endParaRPr lang="en-US" sz="800" dirty="0"/>
          </a:p>
        </p:txBody>
      </p:sp>
    </p:spTree>
    <p:extLst>
      <p:ext uri="{BB962C8B-B14F-4D97-AF65-F5344CB8AC3E}">
        <p14:creationId xmlns:p14="http://schemas.microsoft.com/office/powerpoint/2010/main" val="663779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DD916-61F6-4305-826F-1CE26D36F12F}"/>
              </a:ext>
            </a:extLst>
          </p:cNvPr>
          <p:cNvSpPr>
            <a:spLocks noGrp="1"/>
          </p:cNvSpPr>
          <p:nvPr>
            <p:ph type="title"/>
          </p:nvPr>
        </p:nvSpPr>
        <p:spPr/>
        <p:txBody>
          <a:bodyPr/>
          <a:lstStyle/>
          <a:p>
            <a:pPr algn="ctr"/>
            <a:r>
              <a:rPr lang="en-US" dirty="0"/>
              <a:t>My Reason</a:t>
            </a:r>
          </a:p>
        </p:txBody>
      </p:sp>
      <p:sp>
        <p:nvSpPr>
          <p:cNvPr id="3" name="Content Placeholder 2">
            <a:extLst>
              <a:ext uri="{FF2B5EF4-FFF2-40B4-BE49-F238E27FC236}">
                <a16:creationId xmlns:a16="http://schemas.microsoft.com/office/drawing/2014/main" id="{2C1A3949-106E-414D-B91A-0CA14563D2FF}"/>
              </a:ext>
            </a:extLst>
          </p:cNvPr>
          <p:cNvSpPr>
            <a:spLocks noGrp="1"/>
          </p:cNvSpPr>
          <p:nvPr>
            <p:ph idx="1"/>
          </p:nvPr>
        </p:nvSpPr>
        <p:spPr/>
        <p:txBody>
          <a:bodyPr>
            <a:normAutofit/>
          </a:bodyPr>
          <a:lstStyle/>
          <a:p>
            <a:r>
              <a:rPr lang="en-US" dirty="0"/>
              <a:t>Refugees according to my personal experience are the most disliked of the immigrants' groups, generally I feel like in our society in terms economic usefulness it’s </a:t>
            </a:r>
          </a:p>
          <a:p>
            <a:pPr lvl="1"/>
            <a:r>
              <a:rPr lang="en-US" dirty="0"/>
              <a:t>R</a:t>
            </a:r>
            <a:r>
              <a:rPr lang="en-US"/>
              <a:t>ich </a:t>
            </a:r>
            <a:r>
              <a:rPr lang="en-US" dirty="0"/>
              <a:t>investor&gt; H1B(skilled immigrants)&gt; family migration &gt; undocumented workers &gt; refugees</a:t>
            </a:r>
          </a:p>
          <a:p>
            <a:r>
              <a:rPr lang="en-US" dirty="0"/>
              <a:t>I generally want more immigrants, and I have a habit of attacking the strongest part of an argument</a:t>
            </a:r>
          </a:p>
          <a:p>
            <a:r>
              <a:rPr lang="en-US" dirty="0"/>
              <a:t>Generally, I think having more people in the right place will create solutions to many problems, and the US is a right place. </a:t>
            </a:r>
          </a:p>
        </p:txBody>
      </p:sp>
    </p:spTree>
    <p:extLst>
      <p:ext uri="{BB962C8B-B14F-4D97-AF65-F5344CB8AC3E}">
        <p14:creationId xmlns:p14="http://schemas.microsoft.com/office/powerpoint/2010/main" val="3794136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0F746-6189-4CA9-B622-5D22A93A4FCC}"/>
              </a:ext>
            </a:extLst>
          </p:cNvPr>
          <p:cNvSpPr>
            <a:spLocks noGrp="1"/>
          </p:cNvSpPr>
          <p:nvPr>
            <p:ph type="title"/>
          </p:nvPr>
        </p:nvSpPr>
        <p:spPr/>
        <p:txBody>
          <a:bodyPr/>
          <a:lstStyle/>
          <a:p>
            <a:pPr algn="ctr"/>
            <a:r>
              <a:rPr lang="en-US" dirty="0"/>
              <a:t>My Two Papers </a:t>
            </a:r>
          </a:p>
        </p:txBody>
      </p:sp>
      <p:sp>
        <p:nvSpPr>
          <p:cNvPr id="3" name="Content Placeholder 2">
            <a:extLst>
              <a:ext uri="{FF2B5EF4-FFF2-40B4-BE49-F238E27FC236}">
                <a16:creationId xmlns:a16="http://schemas.microsoft.com/office/drawing/2014/main" id="{6435311D-EA42-4C36-B340-E62B53AF5311}"/>
              </a:ext>
            </a:extLst>
          </p:cNvPr>
          <p:cNvSpPr>
            <a:spLocks noGrp="1"/>
          </p:cNvSpPr>
          <p:nvPr>
            <p:ph idx="1"/>
          </p:nvPr>
        </p:nvSpPr>
        <p:spPr/>
        <p:txBody>
          <a:bodyPr>
            <a:normAutofit fontScale="85000" lnSpcReduction="10000"/>
          </a:bodyPr>
          <a:lstStyle/>
          <a:p>
            <a:r>
              <a:rPr lang="en-US" dirty="0"/>
              <a:t>I read two papers on refugees</a:t>
            </a:r>
          </a:p>
          <a:p>
            <a:r>
              <a:rPr lang="en-US" dirty="0"/>
              <a:t>The Economic and Social Outcomes of Refugees in the United States: Evidence from the ACS</a:t>
            </a:r>
            <a:r>
              <a:rPr lang="en-US" baseline="30000" dirty="0"/>
              <a:t>10</a:t>
            </a:r>
          </a:p>
          <a:p>
            <a:pPr lvl="1"/>
            <a:r>
              <a:rPr lang="en-US" dirty="0"/>
              <a:t>“However, most economic outcomes such as employment and earnings improve as refugees age in the country, while enrollment in government transfer programs tends to decline considerably over the same period.”</a:t>
            </a:r>
          </a:p>
          <a:p>
            <a:pPr lvl="1"/>
            <a:r>
              <a:rPr lang="en-US" dirty="0"/>
              <a:t>“However, we also find that refugees who arrived as children of any age have much higher school enrollment rates than U.S.-born respondents of the same age. As a result, observed differences in high school graduation between refugees and natives observed at ages 19-24 disappear when we examine them 10 years later.”</a:t>
            </a:r>
          </a:p>
          <a:p>
            <a:r>
              <a:rPr lang="en-US" dirty="0"/>
              <a:t>The other on integration of refugees in wealthy western countries (EU, US, Canada) </a:t>
            </a:r>
            <a:r>
              <a:rPr lang="en-US" baseline="30000" dirty="0"/>
              <a:t>11</a:t>
            </a:r>
          </a:p>
          <a:p>
            <a:pPr lvl="1"/>
            <a:r>
              <a:rPr lang="en-US" dirty="0"/>
              <a:t>Over the long term, among refugees who entered at a young age, positive economic assimilation occurred quickly; but this was not the case for refugees who arrived at older ages.</a:t>
            </a:r>
          </a:p>
          <a:p>
            <a:pPr lvl="1"/>
            <a:endParaRPr lang="en-US" dirty="0"/>
          </a:p>
          <a:p>
            <a:endParaRPr lang="en-US" dirty="0"/>
          </a:p>
        </p:txBody>
      </p:sp>
      <p:sp>
        <p:nvSpPr>
          <p:cNvPr id="4" name="Footer Placeholder 3">
            <a:extLst>
              <a:ext uri="{FF2B5EF4-FFF2-40B4-BE49-F238E27FC236}">
                <a16:creationId xmlns:a16="http://schemas.microsoft.com/office/drawing/2014/main" id="{90C04371-E586-4819-9143-3067EDF89C93}"/>
              </a:ext>
            </a:extLst>
          </p:cNvPr>
          <p:cNvSpPr>
            <a:spLocks noGrp="1"/>
          </p:cNvSpPr>
          <p:nvPr>
            <p:ph type="ftr" sz="quarter" idx="11"/>
          </p:nvPr>
        </p:nvSpPr>
        <p:spPr>
          <a:xfrm>
            <a:off x="540000" y="6314400"/>
            <a:ext cx="11422701" cy="365125"/>
          </a:xfrm>
        </p:spPr>
        <p:txBody>
          <a:bodyPr/>
          <a:lstStyle/>
          <a:p>
            <a:r>
              <a:rPr lang="en-US" dirty="0"/>
              <a:t>10. William N. Evans and Daniel Fitzgerald, “The Economic and Social Outcomes of Refugees in the United States: Evidence from the ACS,” NBER, June 12, 2017, </a:t>
            </a:r>
            <a:r>
              <a:rPr lang="en-US" dirty="0">
                <a:hlinkClick r:id="rId2"/>
              </a:rPr>
              <a:t>http://www.nber.org/papers/w23498</a:t>
            </a:r>
            <a:r>
              <a:rPr lang="en-US" dirty="0"/>
              <a:t>.</a:t>
            </a:r>
          </a:p>
          <a:p>
            <a:r>
              <a:rPr lang="en-US" dirty="0"/>
              <a:t>11. Scott Feinstein et al., “States and Refugee Integration: A Comparative Analysis of France, Germany, and Switzerland - Journal of International Migration and Integration,” SpringerLink (Springer Netherlands, January 7, 2022), https://link.springer.com/article/10.1007/s12134-021-00929-8.</a:t>
            </a:r>
          </a:p>
          <a:p>
            <a:pPr marL="228600" indent="-228600">
              <a:buAutoNum type="arabicPeriod"/>
            </a:pPr>
            <a:endParaRPr lang="en-US" dirty="0"/>
          </a:p>
        </p:txBody>
      </p:sp>
    </p:spTree>
    <p:extLst>
      <p:ext uri="{BB962C8B-B14F-4D97-AF65-F5344CB8AC3E}">
        <p14:creationId xmlns:p14="http://schemas.microsoft.com/office/powerpoint/2010/main" val="3576983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FBD7F-7032-43D2-84F3-F200DB379984}"/>
              </a:ext>
            </a:extLst>
          </p:cNvPr>
          <p:cNvSpPr>
            <a:spLocks noGrp="1"/>
          </p:cNvSpPr>
          <p:nvPr>
            <p:ph type="title"/>
          </p:nvPr>
        </p:nvSpPr>
        <p:spPr/>
        <p:txBody>
          <a:bodyPr/>
          <a:lstStyle/>
          <a:p>
            <a:r>
              <a:rPr lang="en-US" dirty="0"/>
              <a:t>Where I got my data from </a:t>
            </a:r>
          </a:p>
        </p:txBody>
      </p:sp>
      <p:sp>
        <p:nvSpPr>
          <p:cNvPr id="3" name="Content Placeholder 2">
            <a:extLst>
              <a:ext uri="{FF2B5EF4-FFF2-40B4-BE49-F238E27FC236}">
                <a16:creationId xmlns:a16="http://schemas.microsoft.com/office/drawing/2014/main" id="{A8CCBCA0-675E-468D-B83C-3CF8CB1B033B}"/>
              </a:ext>
            </a:extLst>
          </p:cNvPr>
          <p:cNvSpPr>
            <a:spLocks noGrp="1"/>
          </p:cNvSpPr>
          <p:nvPr>
            <p:ph idx="1"/>
          </p:nvPr>
        </p:nvSpPr>
        <p:spPr/>
        <p:txBody>
          <a:bodyPr/>
          <a:lstStyle/>
          <a:p>
            <a:r>
              <a:rPr lang="en-US" dirty="0"/>
              <a:t>New Annual Survey of Refugees (ASR) 2018 (2020 not available for public use) </a:t>
            </a:r>
            <a:r>
              <a:rPr lang="en-US" baseline="30000" dirty="0">
                <a:effectLst/>
              </a:rPr>
              <a:t>12</a:t>
            </a:r>
          </a:p>
          <a:p>
            <a:r>
              <a:rPr lang="en-US" baseline="30000" dirty="0">
                <a:effectLst/>
              </a:rPr>
              <a:t>“1,500 completed interviews”</a:t>
            </a:r>
          </a:p>
          <a:p>
            <a:r>
              <a:rPr lang="en-US" baseline="30000" dirty="0">
                <a:effectLst/>
              </a:rPr>
              <a:t>“An overall response rate of 21 percent was achieved”</a:t>
            </a:r>
            <a:endParaRPr lang="en-US" baseline="30000" dirty="0"/>
          </a:p>
          <a:p>
            <a:r>
              <a:rPr lang="en-US" baseline="30000" dirty="0">
                <a:effectLst/>
              </a:rPr>
              <a:t>“The overall response rates decreased with time since arrival to the U.S., varying from 17 percent for FY 2013-14 refugees to 23 percent for FY 2015-16 refugees and a high of 25 percent for FY 2017 refugees”</a:t>
            </a:r>
          </a:p>
          <a:p>
            <a:r>
              <a:rPr lang="en-US" baseline="30000" dirty="0">
                <a:effectLst/>
              </a:rPr>
              <a:t>“The 2018 ASR targeted 1,500 completed interviews from refugee households entering the U.S. between FY 2013-2017”</a:t>
            </a:r>
          </a:p>
          <a:p>
            <a:endParaRPr lang="en-US" baseline="30000" dirty="0">
              <a:effectLst/>
            </a:endParaRPr>
          </a:p>
          <a:p>
            <a:endParaRPr lang="en-US" baseline="30000" dirty="0">
              <a:effectLst/>
            </a:endParaRPr>
          </a:p>
          <a:p>
            <a:endParaRPr lang="en-US" baseline="30000" dirty="0">
              <a:effectLst/>
            </a:endParaRPr>
          </a:p>
          <a:p>
            <a:endParaRPr lang="en-US" baseline="30000" dirty="0">
              <a:effectLst/>
            </a:endParaRPr>
          </a:p>
          <a:p>
            <a:endParaRPr lang="en-US" baseline="30000" dirty="0">
              <a:effectLst/>
            </a:endParaRPr>
          </a:p>
        </p:txBody>
      </p:sp>
      <p:sp>
        <p:nvSpPr>
          <p:cNvPr id="4" name="Footer Placeholder 3">
            <a:extLst>
              <a:ext uri="{FF2B5EF4-FFF2-40B4-BE49-F238E27FC236}">
                <a16:creationId xmlns:a16="http://schemas.microsoft.com/office/drawing/2014/main" id="{0E98349D-2292-4A44-969C-9C71839668D4}"/>
              </a:ext>
            </a:extLst>
          </p:cNvPr>
          <p:cNvSpPr>
            <a:spLocks noGrp="1"/>
          </p:cNvSpPr>
          <p:nvPr>
            <p:ph type="ftr" sz="quarter" idx="11"/>
          </p:nvPr>
        </p:nvSpPr>
        <p:spPr/>
        <p:txBody>
          <a:bodyPr/>
          <a:lstStyle/>
          <a:p>
            <a:r>
              <a:rPr lang="en-US"/>
              <a:t>12. “Introducing the New Annual Survey of Refugees (Asr) 2020.” The Administration for Children and Families, March 9, 2021. https://www.acf.hhs.gov/opre/blog/2021/03/introducing-new-annual-survey-refugees-asr-2020. </a:t>
            </a:r>
          </a:p>
        </p:txBody>
      </p:sp>
    </p:spTree>
    <p:extLst>
      <p:ext uri="{BB962C8B-B14F-4D97-AF65-F5344CB8AC3E}">
        <p14:creationId xmlns:p14="http://schemas.microsoft.com/office/powerpoint/2010/main" val="3883602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AC7C8-E546-4245-8F41-0BB66D3AAEF7}"/>
              </a:ext>
            </a:extLst>
          </p:cNvPr>
          <p:cNvSpPr>
            <a:spLocks noGrp="1"/>
          </p:cNvSpPr>
          <p:nvPr>
            <p:ph type="title"/>
          </p:nvPr>
        </p:nvSpPr>
        <p:spPr/>
        <p:txBody>
          <a:bodyPr/>
          <a:lstStyle/>
          <a:p>
            <a:pPr algn="ctr"/>
            <a:r>
              <a:rPr lang="en-US" dirty="0"/>
              <a:t>OLS regression</a:t>
            </a:r>
            <a:br>
              <a:rPr lang="en-US" dirty="0"/>
            </a:br>
            <a:endParaRPr lang="en-US" dirty="0"/>
          </a:p>
        </p:txBody>
      </p:sp>
      <p:sp>
        <p:nvSpPr>
          <p:cNvPr id="3" name="Content Placeholder 2">
            <a:extLst>
              <a:ext uri="{FF2B5EF4-FFF2-40B4-BE49-F238E27FC236}">
                <a16:creationId xmlns:a16="http://schemas.microsoft.com/office/drawing/2014/main" id="{3693A3A4-6C6C-40EE-9DFF-52E18C0BB1D5}"/>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467D9100-3DB3-410B-85E1-92EA258517FF}"/>
              </a:ext>
            </a:extLst>
          </p:cNvPr>
          <p:cNvPicPr>
            <a:picLocks noChangeAspect="1"/>
          </p:cNvPicPr>
          <p:nvPr/>
        </p:nvPicPr>
        <p:blipFill>
          <a:blip r:embed="rId2"/>
          <a:stretch>
            <a:fillRect/>
          </a:stretch>
        </p:blipFill>
        <p:spPr>
          <a:xfrm>
            <a:off x="626931" y="2464113"/>
            <a:ext cx="5463636" cy="2722620"/>
          </a:xfrm>
          <a:prstGeom prst="rect">
            <a:avLst/>
          </a:prstGeom>
        </p:spPr>
      </p:pic>
      <p:pic>
        <p:nvPicPr>
          <p:cNvPr id="7" name="Picture 6">
            <a:extLst>
              <a:ext uri="{FF2B5EF4-FFF2-40B4-BE49-F238E27FC236}">
                <a16:creationId xmlns:a16="http://schemas.microsoft.com/office/drawing/2014/main" id="{89D0C099-F2BC-4DBC-A4E7-4DB3B3793E99}"/>
              </a:ext>
            </a:extLst>
          </p:cNvPr>
          <p:cNvPicPr>
            <a:picLocks noChangeAspect="1"/>
          </p:cNvPicPr>
          <p:nvPr/>
        </p:nvPicPr>
        <p:blipFill>
          <a:blip r:embed="rId3"/>
          <a:stretch>
            <a:fillRect/>
          </a:stretch>
        </p:blipFill>
        <p:spPr>
          <a:xfrm>
            <a:off x="6265532" y="2528887"/>
            <a:ext cx="5725324" cy="2657846"/>
          </a:xfrm>
          <a:prstGeom prst="rect">
            <a:avLst/>
          </a:prstGeom>
        </p:spPr>
      </p:pic>
      <p:sp>
        <p:nvSpPr>
          <p:cNvPr id="10" name="TextBox 9">
            <a:extLst>
              <a:ext uri="{FF2B5EF4-FFF2-40B4-BE49-F238E27FC236}">
                <a16:creationId xmlns:a16="http://schemas.microsoft.com/office/drawing/2014/main" id="{04AE38C1-E365-4E13-A852-2A33EE87F2B6}"/>
              </a:ext>
            </a:extLst>
          </p:cNvPr>
          <p:cNvSpPr txBox="1"/>
          <p:nvPr/>
        </p:nvSpPr>
        <p:spPr>
          <a:xfrm>
            <a:off x="550864" y="5287782"/>
            <a:ext cx="3312051" cy="1200329"/>
          </a:xfrm>
          <a:prstGeom prst="rect">
            <a:avLst/>
          </a:prstGeom>
          <a:noFill/>
        </p:spPr>
        <p:txBody>
          <a:bodyPr wrap="square" rtlCol="0">
            <a:spAutoFit/>
          </a:bodyPr>
          <a:lstStyle/>
          <a:p>
            <a:r>
              <a:rPr lang="en-US" sz="1200" dirty="0"/>
              <a:t>Key: </a:t>
            </a:r>
          </a:p>
          <a:p>
            <a:r>
              <a:rPr lang="en-US" sz="1200" dirty="0"/>
              <a:t>ui_school: adult’s educational pursuit  in US</a:t>
            </a:r>
          </a:p>
          <a:p>
            <a:r>
              <a:rPr lang="en-US" sz="1200" dirty="0"/>
              <a:t>qn26h: If they help in child’s education</a:t>
            </a:r>
          </a:p>
          <a:p>
            <a:r>
              <a:rPr lang="en-US" sz="1200" dirty="0" err="1"/>
              <a:t>ui_agect_arrival</a:t>
            </a:r>
            <a:r>
              <a:rPr lang="en-US" sz="1200" dirty="0"/>
              <a:t>: Their age when arriving in the US</a:t>
            </a:r>
          </a:p>
          <a:p>
            <a:endParaRPr lang="en-US" sz="1200" dirty="0"/>
          </a:p>
        </p:txBody>
      </p:sp>
      <p:sp>
        <p:nvSpPr>
          <p:cNvPr id="13" name="TextBox 12">
            <a:extLst>
              <a:ext uri="{FF2B5EF4-FFF2-40B4-BE49-F238E27FC236}">
                <a16:creationId xmlns:a16="http://schemas.microsoft.com/office/drawing/2014/main" id="{1DB162B6-C806-4136-B4B9-BD73A8E78986}"/>
              </a:ext>
            </a:extLst>
          </p:cNvPr>
          <p:cNvSpPr txBox="1"/>
          <p:nvPr/>
        </p:nvSpPr>
        <p:spPr>
          <a:xfrm>
            <a:off x="6184987" y="5287781"/>
            <a:ext cx="3312051" cy="1015663"/>
          </a:xfrm>
          <a:prstGeom prst="rect">
            <a:avLst/>
          </a:prstGeom>
          <a:noFill/>
        </p:spPr>
        <p:txBody>
          <a:bodyPr wrap="square" rtlCol="0">
            <a:spAutoFit/>
          </a:bodyPr>
          <a:lstStyle/>
          <a:p>
            <a:r>
              <a:rPr lang="en-US" sz="1200" dirty="0"/>
              <a:t>Key: </a:t>
            </a:r>
          </a:p>
          <a:p>
            <a:r>
              <a:rPr lang="en-US" sz="1200" dirty="0"/>
              <a:t>qn11a: Prior history of working</a:t>
            </a:r>
          </a:p>
          <a:p>
            <a:r>
              <a:rPr lang="en-US" sz="1200" dirty="0"/>
              <a:t>qn38b: House or apartment </a:t>
            </a:r>
          </a:p>
          <a:p>
            <a:r>
              <a:rPr lang="en-US" sz="1200" dirty="0" err="1"/>
              <a:t>ui_soi_pubassist</a:t>
            </a:r>
            <a:r>
              <a:rPr lang="en-US" sz="1200" dirty="0"/>
              <a:t>: Do they use public assistance </a:t>
            </a:r>
          </a:p>
        </p:txBody>
      </p:sp>
    </p:spTree>
    <p:extLst>
      <p:ext uri="{BB962C8B-B14F-4D97-AF65-F5344CB8AC3E}">
        <p14:creationId xmlns:p14="http://schemas.microsoft.com/office/powerpoint/2010/main" val="1485632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55377-B2FA-4798-B169-C15A32412ACE}"/>
              </a:ext>
            </a:extLst>
          </p:cNvPr>
          <p:cNvSpPr>
            <a:spLocks noGrp="1"/>
          </p:cNvSpPr>
          <p:nvPr>
            <p:ph type="title"/>
          </p:nvPr>
        </p:nvSpPr>
        <p:spPr/>
        <p:txBody>
          <a:bodyPr/>
          <a:lstStyle/>
          <a:p>
            <a:pPr algn="ctr"/>
            <a:r>
              <a:rPr lang="en-US" dirty="0"/>
              <a:t>More Data about refugees</a:t>
            </a:r>
          </a:p>
        </p:txBody>
      </p:sp>
      <p:pic>
        <p:nvPicPr>
          <p:cNvPr id="5" name="Content Placeholder 4">
            <a:extLst>
              <a:ext uri="{FF2B5EF4-FFF2-40B4-BE49-F238E27FC236}">
                <a16:creationId xmlns:a16="http://schemas.microsoft.com/office/drawing/2014/main" id="{DACA0C29-E8B2-44FB-BCA6-C23046DBD7D4}"/>
              </a:ext>
            </a:extLst>
          </p:cNvPr>
          <p:cNvPicPr>
            <a:picLocks noGrp="1" noChangeAspect="1"/>
          </p:cNvPicPr>
          <p:nvPr>
            <p:ph idx="1"/>
          </p:nvPr>
        </p:nvPicPr>
        <p:blipFill>
          <a:blip r:embed="rId2"/>
          <a:stretch>
            <a:fillRect/>
          </a:stretch>
        </p:blipFill>
        <p:spPr>
          <a:xfrm>
            <a:off x="1480087" y="1364043"/>
            <a:ext cx="5258534" cy="1771897"/>
          </a:xfrm>
        </p:spPr>
      </p:pic>
      <p:pic>
        <p:nvPicPr>
          <p:cNvPr id="7" name="Picture 6">
            <a:extLst>
              <a:ext uri="{FF2B5EF4-FFF2-40B4-BE49-F238E27FC236}">
                <a16:creationId xmlns:a16="http://schemas.microsoft.com/office/drawing/2014/main" id="{D7DCBF2D-3A00-4F3B-8C38-0A1F1AD96788}"/>
              </a:ext>
            </a:extLst>
          </p:cNvPr>
          <p:cNvPicPr>
            <a:picLocks noChangeAspect="1"/>
          </p:cNvPicPr>
          <p:nvPr/>
        </p:nvPicPr>
        <p:blipFill>
          <a:blip r:embed="rId3"/>
          <a:stretch>
            <a:fillRect/>
          </a:stretch>
        </p:blipFill>
        <p:spPr>
          <a:xfrm>
            <a:off x="7678707" y="1479082"/>
            <a:ext cx="4305901" cy="2629267"/>
          </a:xfrm>
          <a:prstGeom prst="rect">
            <a:avLst/>
          </a:prstGeom>
        </p:spPr>
      </p:pic>
      <p:pic>
        <p:nvPicPr>
          <p:cNvPr id="9" name="Picture 8">
            <a:extLst>
              <a:ext uri="{FF2B5EF4-FFF2-40B4-BE49-F238E27FC236}">
                <a16:creationId xmlns:a16="http://schemas.microsoft.com/office/drawing/2014/main" id="{B301C640-8294-4F4A-8269-E7CA2764D9C2}"/>
              </a:ext>
            </a:extLst>
          </p:cNvPr>
          <p:cNvPicPr>
            <a:picLocks noChangeAspect="1"/>
          </p:cNvPicPr>
          <p:nvPr/>
        </p:nvPicPr>
        <p:blipFill>
          <a:blip r:embed="rId4"/>
          <a:stretch>
            <a:fillRect/>
          </a:stretch>
        </p:blipFill>
        <p:spPr>
          <a:xfrm>
            <a:off x="7640602" y="4365930"/>
            <a:ext cx="4344006" cy="2229161"/>
          </a:xfrm>
          <a:prstGeom prst="rect">
            <a:avLst/>
          </a:prstGeom>
        </p:spPr>
      </p:pic>
      <p:pic>
        <p:nvPicPr>
          <p:cNvPr id="11" name="Picture 10">
            <a:extLst>
              <a:ext uri="{FF2B5EF4-FFF2-40B4-BE49-F238E27FC236}">
                <a16:creationId xmlns:a16="http://schemas.microsoft.com/office/drawing/2014/main" id="{228BA7B4-AE34-4669-9BAF-DED6E80C7660}"/>
              </a:ext>
            </a:extLst>
          </p:cNvPr>
          <p:cNvPicPr>
            <a:picLocks noChangeAspect="1"/>
          </p:cNvPicPr>
          <p:nvPr/>
        </p:nvPicPr>
        <p:blipFill>
          <a:blip r:embed="rId5"/>
          <a:stretch>
            <a:fillRect/>
          </a:stretch>
        </p:blipFill>
        <p:spPr>
          <a:xfrm>
            <a:off x="328752" y="3453839"/>
            <a:ext cx="3353268" cy="2324424"/>
          </a:xfrm>
          <a:prstGeom prst="rect">
            <a:avLst/>
          </a:prstGeom>
        </p:spPr>
      </p:pic>
      <p:pic>
        <p:nvPicPr>
          <p:cNvPr id="15" name="Picture 14">
            <a:extLst>
              <a:ext uri="{FF2B5EF4-FFF2-40B4-BE49-F238E27FC236}">
                <a16:creationId xmlns:a16="http://schemas.microsoft.com/office/drawing/2014/main" id="{D292BDBB-4AAB-4361-84D0-F09D405132A9}"/>
              </a:ext>
            </a:extLst>
          </p:cNvPr>
          <p:cNvPicPr>
            <a:picLocks noChangeAspect="1"/>
          </p:cNvPicPr>
          <p:nvPr/>
        </p:nvPicPr>
        <p:blipFill>
          <a:blip r:embed="rId6"/>
          <a:stretch>
            <a:fillRect/>
          </a:stretch>
        </p:blipFill>
        <p:spPr>
          <a:xfrm>
            <a:off x="3851308" y="3429000"/>
            <a:ext cx="3658111" cy="2514951"/>
          </a:xfrm>
          <a:prstGeom prst="rect">
            <a:avLst/>
          </a:prstGeom>
        </p:spPr>
      </p:pic>
    </p:spTree>
    <p:extLst>
      <p:ext uri="{BB962C8B-B14F-4D97-AF65-F5344CB8AC3E}">
        <p14:creationId xmlns:p14="http://schemas.microsoft.com/office/powerpoint/2010/main" val="3153679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6433-614B-4EDC-80BA-448AC754F4A3}"/>
              </a:ext>
            </a:extLst>
          </p:cNvPr>
          <p:cNvSpPr>
            <a:spLocks noGrp="1"/>
          </p:cNvSpPr>
          <p:nvPr>
            <p:ph type="title"/>
          </p:nvPr>
        </p:nvSpPr>
        <p:spPr/>
        <p:txBody>
          <a:bodyPr/>
          <a:lstStyle/>
          <a:p>
            <a:pPr algn="ctr"/>
            <a:r>
              <a:rPr lang="en-US" dirty="0"/>
              <a:t>Counter-arguments</a:t>
            </a:r>
          </a:p>
        </p:txBody>
      </p:sp>
      <p:sp>
        <p:nvSpPr>
          <p:cNvPr id="3" name="Content Placeholder 2">
            <a:extLst>
              <a:ext uri="{FF2B5EF4-FFF2-40B4-BE49-F238E27FC236}">
                <a16:creationId xmlns:a16="http://schemas.microsoft.com/office/drawing/2014/main" id="{E545F2A3-DE17-4AE6-BF03-97BD37336D69}"/>
              </a:ext>
            </a:extLst>
          </p:cNvPr>
          <p:cNvSpPr>
            <a:spLocks noGrp="1"/>
          </p:cNvSpPr>
          <p:nvPr>
            <p:ph idx="1"/>
          </p:nvPr>
        </p:nvSpPr>
        <p:spPr/>
        <p:txBody>
          <a:bodyPr>
            <a:normAutofit fontScale="62500" lnSpcReduction="20000"/>
          </a:bodyPr>
          <a:lstStyle/>
          <a:p>
            <a:r>
              <a:rPr lang="en-US" dirty="0"/>
              <a:t>More people more problems; How are you going to maintain the US welfare state to help all those refugees.</a:t>
            </a:r>
          </a:p>
          <a:p>
            <a:r>
              <a:rPr lang="en-US" dirty="0"/>
              <a:t>Answer: It’s a medium-term investment, but refugees are generally very productive after a period as evidence by the facts stated on this presentation.</a:t>
            </a:r>
          </a:p>
          <a:p>
            <a:r>
              <a:rPr lang="en-US" dirty="0"/>
              <a:t>Abandon of towns, cities, regions, maybe whole countries: What if some places are left without young people, working people, etc. </a:t>
            </a:r>
          </a:p>
          <a:p>
            <a:r>
              <a:rPr lang="en-US" dirty="0"/>
              <a:t>Answer: Reverse brain drain would be the solution; they could entice people from wealthily nation via less expensive cost of living.</a:t>
            </a:r>
          </a:p>
          <a:p>
            <a:r>
              <a:rPr lang="en-US" dirty="0"/>
              <a:t>Increase COL in US. What if more people means increased housing costs.</a:t>
            </a:r>
          </a:p>
          <a:p>
            <a:r>
              <a:rPr lang="en-US" dirty="0"/>
              <a:t>Answer: Building more housing to meet the market’s demand via subsides, etc., also many of refugees want lower housing costs as well, and will fight for it on an economic, and political level.</a:t>
            </a:r>
          </a:p>
          <a:p>
            <a:r>
              <a:rPr lang="en-US" dirty="0"/>
              <a:t>America is full: We have too many people already.</a:t>
            </a:r>
          </a:p>
          <a:p>
            <a:r>
              <a:rPr lang="en-US" dirty="0"/>
              <a:t>Answer: The US isn’t full, and our carrying capacity is not overburden. We could easily through scalable technology have a billion people or more thanks to favorable US geography. </a:t>
            </a:r>
          </a:p>
          <a:p>
            <a:r>
              <a:rPr lang="en-US" dirty="0"/>
              <a:t>Automaton means we don’t need as many people.</a:t>
            </a:r>
          </a:p>
          <a:p>
            <a:r>
              <a:rPr lang="en-US" dirty="0"/>
              <a:t>Answer: We likely still need consumer data and without young people who drive the culture, your country could be less dynamic.</a:t>
            </a:r>
          </a:p>
          <a:p>
            <a:endParaRPr lang="en-US" dirty="0"/>
          </a:p>
        </p:txBody>
      </p:sp>
    </p:spTree>
    <p:extLst>
      <p:ext uri="{BB962C8B-B14F-4D97-AF65-F5344CB8AC3E}">
        <p14:creationId xmlns:p14="http://schemas.microsoft.com/office/powerpoint/2010/main" val="569023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75A47-56CB-43BB-B9C3-2AF481761938}"/>
              </a:ext>
            </a:extLst>
          </p:cNvPr>
          <p:cNvSpPr>
            <a:spLocks noGrp="1"/>
          </p:cNvSpPr>
          <p:nvPr>
            <p:ph type="title"/>
          </p:nvPr>
        </p:nvSpPr>
        <p:spPr/>
        <p:txBody>
          <a:bodyPr/>
          <a:lstStyle/>
          <a:p>
            <a:pPr algn="ctr"/>
            <a:r>
              <a:rPr lang="en-US" dirty="0"/>
              <a:t>Analysis of Data</a:t>
            </a:r>
          </a:p>
        </p:txBody>
      </p:sp>
      <p:sp>
        <p:nvSpPr>
          <p:cNvPr id="3" name="Content Placeholder 2">
            <a:extLst>
              <a:ext uri="{FF2B5EF4-FFF2-40B4-BE49-F238E27FC236}">
                <a16:creationId xmlns:a16="http://schemas.microsoft.com/office/drawing/2014/main" id="{8FE5F6C7-E2BF-49F7-B56D-F2E50012A116}"/>
              </a:ext>
            </a:extLst>
          </p:cNvPr>
          <p:cNvSpPr>
            <a:spLocks noGrp="1"/>
          </p:cNvSpPr>
          <p:nvPr>
            <p:ph idx="1"/>
          </p:nvPr>
        </p:nvSpPr>
        <p:spPr/>
        <p:txBody>
          <a:bodyPr>
            <a:normAutofit lnSpcReduction="10000"/>
          </a:bodyPr>
          <a:lstStyle/>
          <a:p>
            <a:r>
              <a:rPr lang="en-US" dirty="0"/>
              <a:t>I ran an OLS regression, and tabulate data of refugee economic impact using Stata, and here’s what I got…</a:t>
            </a:r>
          </a:p>
          <a:p>
            <a:r>
              <a:rPr lang="en-US" dirty="0"/>
              <a:t>Most refugees like adults who can work will work.</a:t>
            </a:r>
          </a:p>
          <a:p>
            <a:r>
              <a:rPr lang="en-US" dirty="0"/>
              <a:t>Those who can’t work such as homemakers/caretakers, children, students, are doing so in a way to enhance future US human capital.</a:t>
            </a:r>
          </a:p>
          <a:p>
            <a:r>
              <a:rPr lang="en-US" dirty="0"/>
              <a:t>Refugees with children are more likely to work.</a:t>
            </a:r>
          </a:p>
          <a:p>
            <a:r>
              <a:rPr lang="en-US" dirty="0"/>
              <a:t>Refugees who have gotten training/certifications/degrees will also be more likely to work.</a:t>
            </a:r>
          </a:p>
          <a:p>
            <a:r>
              <a:rPr lang="en-US" dirty="0"/>
              <a:t>Age of arrival is likely correlated with working, and likely English speaking/writing/reading ability. </a:t>
            </a:r>
          </a:p>
          <a:p>
            <a:endParaRPr lang="en-US" dirty="0"/>
          </a:p>
          <a:p>
            <a:endParaRPr lang="en-US" dirty="0"/>
          </a:p>
        </p:txBody>
      </p:sp>
    </p:spTree>
    <p:extLst>
      <p:ext uri="{BB962C8B-B14F-4D97-AF65-F5344CB8AC3E}">
        <p14:creationId xmlns:p14="http://schemas.microsoft.com/office/powerpoint/2010/main" val="1052026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2FAFD-E14F-496E-85D2-CFD85A36770D}"/>
              </a:ext>
            </a:extLst>
          </p:cNvPr>
          <p:cNvSpPr>
            <a:spLocks noGrp="1"/>
          </p:cNvSpPr>
          <p:nvPr>
            <p:ph type="title"/>
          </p:nvPr>
        </p:nvSpPr>
        <p:spPr/>
        <p:txBody>
          <a:bodyPr/>
          <a:lstStyle/>
          <a:p>
            <a:pPr algn="ctr"/>
            <a:r>
              <a:rPr lang="en-US" dirty="0"/>
              <a:t>Conclusion </a:t>
            </a:r>
          </a:p>
        </p:txBody>
      </p:sp>
      <p:sp>
        <p:nvSpPr>
          <p:cNvPr id="3" name="Content Placeholder 2">
            <a:extLst>
              <a:ext uri="{FF2B5EF4-FFF2-40B4-BE49-F238E27FC236}">
                <a16:creationId xmlns:a16="http://schemas.microsoft.com/office/drawing/2014/main" id="{747E2981-A1F6-466D-A582-1D30E98483F7}"/>
              </a:ext>
            </a:extLst>
          </p:cNvPr>
          <p:cNvSpPr>
            <a:spLocks noGrp="1"/>
          </p:cNvSpPr>
          <p:nvPr>
            <p:ph idx="1"/>
          </p:nvPr>
        </p:nvSpPr>
        <p:spPr/>
        <p:txBody>
          <a:bodyPr/>
          <a:lstStyle/>
          <a:p>
            <a:r>
              <a:rPr lang="en-US" dirty="0"/>
              <a:t>Refugees if brought in as kids tend to be as or more productive than locals in the US.</a:t>
            </a:r>
          </a:p>
          <a:p>
            <a:r>
              <a:rPr lang="en-US" dirty="0"/>
              <a:t>While the language barrier remains a problem as time goes on refugees use less welfare state resources and are more productive.</a:t>
            </a:r>
          </a:p>
          <a:p>
            <a:r>
              <a:rPr lang="en-US" dirty="0"/>
              <a:t>Refugees while generally needing more state investment are just as productive as other human capital inputs.</a:t>
            </a:r>
          </a:p>
          <a:p>
            <a:r>
              <a:rPr lang="en-US" dirty="0"/>
              <a:t>It’s very likely that the competition to get young people within your borders for various reasons(welfare state, geopolitical, public works) will be relevant depending on various factors(automaton, AAI, AI for example), but even as consumers refugees could have a part to play in data driven economies.</a:t>
            </a:r>
          </a:p>
          <a:p>
            <a:endParaRPr lang="en-US" dirty="0"/>
          </a:p>
        </p:txBody>
      </p:sp>
    </p:spTree>
    <p:extLst>
      <p:ext uri="{BB962C8B-B14F-4D97-AF65-F5344CB8AC3E}">
        <p14:creationId xmlns:p14="http://schemas.microsoft.com/office/powerpoint/2010/main" val="843691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70201-3AE7-4649-BF11-CEC2E0B2B8B6}"/>
              </a:ext>
            </a:extLst>
          </p:cNvPr>
          <p:cNvSpPr>
            <a:spLocks noGrp="1"/>
          </p:cNvSpPr>
          <p:nvPr>
            <p:ph type="title"/>
          </p:nvPr>
        </p:nvSpPr>
        <p:spPr/>
        <p:txBody>
          <a:bodyPr/>
          <a:lstStyle/>
          <a:p>
            <a:pPr algn="ctr"/>
            <a:r>
              <a:rPr lang="en-US" dirty="0"/>
              <a:t>Chicago Style NB Citations</a:t>
            </a:r>
          </a:p>
        </p:txBody>
      </p:sp>
      <p:sp>
        <p:nvSpPr>
          <p:cNvPr id="3" name="Content Placeholder 2">
            <a:extLst>
              <a:ext uri="{FF2B5EF4-FFF2-40B4-BE49-F238E27FC236}">
                <a16:creationId xmlns:a16="http://schemas.microsoft.com/office/drawing/2014/main" id="{43E8FE5D-5EBE-4494-8CAC-88AADED428A6}"/>
              </a:ext>
            </a:extLst>
          </p:cNvPr>
          <p:cNvSpPr>
            <a:spLocks noGrp="1"/>
          </p:cNvSpPr>
          <p:nvPr>
            <p:ph idx="1"/>
          </p:nvPr>
        </p:nvSpPr>
        <p:spPr/>
        <p:txBody>
          <a:bodyPr>
            <a:normAutofit fontScale="40000" lnSpcReduction="20000"/>
          </a:bodyPr>
          <a:lstStyle/>
          <a:p>
            <a:r>
              <a:rPr lang="en-US" dirty="0">
                <a:effectLst/>
              </a:rPr>
              <a:t>“U.S. Census Bureau </a:t>
            </a:r>
            <a:r>
              <a:rPr lang="en-US" dirty="0" err="1">
                <a:effectLst/>
              </a:rPr>
              <a:t>Quickfacts</a:t>
            </a:r>
            <a:r>
              <a:rPr lang="en-US" dirty="0">
                <a:effectLst/>
              </a:rPr>
              <a:t>: United States.” United States Census , July 1, 2021. https://www.census.gov/quickfacts/US. </a:t>
            </a:r>
            <a:endParaRPr lang="en-US" dirty="0">
              <a:hlinkClick r:id="rId2"/>
            </a:endParaRPr>
          </a:p>
          <a:p>
            <a:r>
              <a:rPr lang="en-US" dirty="0">
                <a:effectLst/>
              </a:rPr>
              <a:t>Budiman, Abby. “Key Findings about U.S. Immigrants.” Pew Research Center. Pew Research Center, September 22, 2020. https://www.pewresearch.org/fact-tank/2020/08/20/key-findings-about-u-s-immigrants/. </a:t>
            </a:r>
          </a:p>
          <a:p>
            <a:r>
              <a:rPr lang="en-US" dirty="0">
                <a:effectLst/>
              </a:rPr>
              <a:t>“Refugee Admissions - United States Department of State.” U.S. Department of State. U.S. Department of State, October 8, 2021. https://www.state.gov/refugee-admissions/#:~:text=Since%20the%20passage%20of%20the,more%20than%203.1%20million%20refugees. </a:t>
            </a:r>
          </a:p>
          <a:p>
            <a:r>
              <a:rPr lang="en-US" dirty="0">
                <a:effectLst/>
              </a:rPr>
              <a:t>Jeanne </a:t>
            </a:r>
            <a:r>
              <a:rPr lang="en-US" dirty="0" err="1">
                <a:effectLst/>
              </a:rPr>
              <a:t>Batalova</a:t>
            </a:r>
            <a:r>
              <a:rPr lang="en-US" dirty="0">
                <a:effectLst/>
              </a:rPr>
              <a:t> Kira </a:t>
            </a:r>
            <a:r>
              <a:rPr lang="en-US" dirty="0" err="1">
                <a:effectLst/>
              </a:rPr>
              <a:t>Monin</a:t>
            </a:r>
            <a:r>
              <a:rPr lang="en-US" dirty="0">
                <a:effectLst/>
              </a:rPr>
              <a:t>, Jeanne </a:t>
            </a:r>
            <a:r>
              <a:rPr lang="en-US" dirty="0" err="1">
                <a:effectLst/>
              </a:rPr>
              <a:t>Batalova</a:t>
            </a:r>
            <a:r>
              <a:rPr lang="en-US" dirty="0">
                <a:effectLst/>
              </a:rPr>
              <a:t>. “Refugees and Asylees in the United States.” migrationpolicy.org, July 8, 2021. https://www.migrationpolicy.org/article/refugees-and-asylees-united-states-2021#:~:text=Overall%2C%20in%20the%20past%20decade,from%20Latin%20America%2Fthe%20Caribbean. </a:t>
            </a:r>
          </a:p>
          <a:p>
            <a:r>
              <a:rPr lang="en-US" dirty="0" err="1">
                <a:effectLst/>
              </a:rPr>
              <a:t>Yglesias</a:t>
            </a:r>
            <a:r>
              <a:rPr lang="en-US" dirty="0">
                <a:effectLst/>
              </a:rPr>
              <a:t>, Matthew. </a:t>
            </a:r>
            <a:r>
              <a:rPr lang="en-US" i="1" dirty="0">
                <a:effectLst/>
              </a:rPr>
              <a:t>One Billion Americans</a:t>
            </a:r>
            <a:r>
              <a:rPr lang="en-US" dirty="0">
                <a:effectLst/>
              </a:rPr>
              <a:t>. Penguin Publishing Group, 2020. </a:t>
            </a:r>
          </a:p>
          <a:p>
            <a:r>
              <a:rPr lang="en-US" dirty="0">
                <a:effectLst/>
              </a:rPr>
              <a:t>Matthews, Dylan. “The Case for Open Borders.” Vox. Vox, September 13, 2014. </a:t>
            </a:r>
            <a:r>
              <a:rPr lang="en-US" dirty="0">
                <a:effectLst/>
                <a:hlinkClick r:id="rId3"/>
              </a:rPr>
              <a:t>https://www.vox.com/2014/9/13/6135905/open-borders-bryan-caplan-interview-gdp-double</a:t>
            </a:r>
            <a:r>
              <a:rPr lang="en-US" dirty="0">
                <a:effectLst/>
              </a:rPr>
              <a:t>.</a:t>
            </a:r>
          </a:p>
          <a:p>
            <a:r>
              <a:rPr lang="en-US" dirty="0">
                <a:effectLst/>
              </a:rPr>
              <a:t>“The 1951 Refugee Convention - UNHCR.” UNHCR. Accessed April 11, 2022. </a:t>
            </a:r>
            <a:r>
              <a:rPr lang="en-US" dirty="0">
                <a:effectLst/>
                <a:hlinkClick r:id="rId4"/>
              </a:rPr>
              <a:t>https://www.unhcr.org/1951-refugee-convention.html</a:t>
            </a:r>
            <a:r>
              <a:rPr lang="en-US" dirty="0">
                <a:effectLst/>
              </a:rPr>
              <a:t>.</a:t>
            </a:r>
          </a:p>
          <a:p>
            <a:r>
              <a:rPr lang="en-US" dirty="0">
                <a:effectLst/>
              </a:rPr>
              <a:t>Lazarus, Emma. “The New Colossus by Emma Lazarus - Poems | Academy of American Poets.” Poets.org. Academy of American Poets. Accessed April 11, 2022. https://poets.org/poem/new-colossus. </a:t>
            </a:r>
          </a:p>
          <a:p>
            <a:r>
              <a:rPr lang="en-US" dirty="0" err="1">
                <a:effectLst/>
              </a:rPr>
              <a:t>Kochinski</a:t>
            </a:r>
            <a:r>
              <a:rPr lang="en-US" dirty="0">
                <a:effectLst/>
              </a:rPr>
              <a:t> , Ian. “</a:t>
            </a:r>
            <a:r>
              <a:rPr lang="en-US" dirty="0" err="1">
                <a:effectLst/>
              </a:rPr>
              <a:t>Vaush</a:t>
            </a:r>
            <a:r>
              <a:rPr lang="en-US" dirty="0">
                <a:effectLst/>
              </a:rPr>
              <a:t> Talks about Climate Change.” </a:t>
            </a:r>
            <a:r>
              <a:rPr lang="en-US" dirty="0" err="1">
                <a:effectLst/>
              </a:rPr>
              <a:t>Youtube</a:t>
            </a:r>
            <a:r>
              <a:rPr lang="en-US" dirty="0">
                <a:effectLst/>
              </a:rPr>
              <a:t>, May 21, 2021. https://www.youtube.com/watch?v=KGj2sCJBxKI. </a:t>
            </a:r>
          </a:p>
          <a:p>
            <a:r>
              <a:rPr lang="en-US" dirty="0">
                <a:effectLst/>
              </a:rPr>
              <a:t>Evans, William N., and Daniel Fitzgerald. “The Economic and Social Outcomes of Refugees in the United States: Evidence from the ACS.” NBER, June 12, 2017. http://www.nber.org/papers/w23498. </a:t>
            </a:r>
          </a:p>
          <a:p>
            <a:r>
              <a:rPr lang="en-US" dirty="0">
                <a:effectLst/>
              </a:rPr>
              <a:t>Feinstein, Scott, Cristina </a:t>
            </a:r>
            <a:r>
              <a:rPr lang="en-US" dirty="0" err="1">
                <a:effectLst/>
              </a:rPr>
              <a:t>Poleacovschi</a:t>
            </a:r>
            <a:r>
              <a:rPr lang="en-US" dirty="0">
                <a:effectLst/>
              </a:rPr>
              <a:t>, Riley Drake, and Leslie Ann Winters. “States and Refugee Integration: A Comparative Analysis of France, Germany, and Switzerland - Journal of International Migration and Integration.” SpringerLink. Springer Netherlands, January 7, 2022. https://link.springer.com/article/10.1007/s12134-021-00929-8. </a:t>
            </a:r>
          </a:p>
          <a:p>
            <a:r>
              <a:rPr lang="en-US" dirty="0">
                <a:effectLst/>
              </a:rPr>
              <a:t>“Introducing the New Annual Survey of Refugees (Asr) 2020.” The Administration for Children and Families, March 9, 2021. https://www.acf.hhs.gov/opre/blog/2021/03/introducing-new-annual-survey-refugees-asr-2020. </a:t>
            </a:r>
          </a:p>
          <a:p>
            <a:pPr marL="0" indent="0">
              <a:buNone/>
            </a:pPr>
            <a:endParaRPr lang="en-US" dirty="0">
              <a:effectLst/>
            </a:endParaRPr>
          </a:p>
          <a:p>
            <a:endParaRPr lang="en-US" dirty="0">
              <a:effectLst/>
            </a:endParaRPr>
          </a:p>
        </p:txBody>
      </p:sp>
    </p:spTree>
    <p:extLst>
      <p:ext uri="{BB962C8B-B14F-4D97-AF65-F5344CB8AC3E}">
        <p14:creationId xmlns:p14="http://schemas.microsoft.com/office/powerpoint/2010/main" val="3875947985"/>
      </p:ext>
    </p:extLst>
  </p:cSld>
  <p:clrMapOvr>
    <a:masterClrMapping/>
  </p:clrMapOvr>
</p:sld>
</file>

<file path=ppt/theme/theme1.xml><?xml version="1.0" encoding="utf-8"?>
<a:theme xmlns:a="http://schemas.openxmlformats.org/drawingml/2006/main" name="GlowVTI">
  <a:themeElements>
    <a:clrScheme name="Glow">
      <a:dk1>
        <a:sysClr val="windowText" lastClr="000000"/>
      </a:dk1>
      <a:lt1>
        <a:sysClr val="window" lastClr="FFFFFF"/>
      </a:lt1>
      <a:dk2>
        <a:srgbClr val="000000"/>
      </a:dk2>
      <a:lt2>
        <a:srgbClr val="F2F2F2"/>
      </a:lt2>
      <a:accent1>
        <a:srgbClr val="00BAC8"/>
      </a:accent1>
      <a:accent2>
        <a:srgbClr val="794DFF"/>
      </a:accent2>
      <a:accent3>
        <a:srgbClr val="00D17D"/>
      </a:accent3>
      <a:accent4>
        <a:srgbClr val="E69500"/>
      </a:accent4>
      <a:accent5>
        <a:srgbClr val="FE5D21"/>
      </a:accent5>
      <a:accent6>
        <a:srgbClr val="404040"/>
      </a:accent6>
      <a:hlink>
        <a:srgbClr val="3E8FF1"/>
      </a:hlink>
      <a:folHlink>
        <a:srgbClr val="939393"/>
      </a:folHlink>
    </a:clrScheme>
    <a:fontScheme name="Blur">
      <a:majorFont>
        <a:latin typeface="Bell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owVTI" id="{D5B5AA20-F6D3-43B8-AF6B-ECAF69256418}" vid="{93025AB5-1D44-4CD3-9BC3-729F6E11E0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472</TotalTime>
  <Words>2201</Words>
  <Application>Microsoft Office PowerPoint</Application>
  <PresentationFormat>Widescreen</PresentationFormat>
  <Paragraphs>104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Aspira Webfont</vt:lpstr>
      <vt:lpstr>Arial</vt:lpstr>
      <vt:lpstr>Avenir Next LT Pro</vt:lpstr>
      <vt:lpstr>Bell MT</vt:lpstr>
      <vt:lpstr>Calibri</vt:lpstr>
      <vt:lpstr>GlowVTI</vt:lpstr>
      <vt:lpstr>The Economic Case for Immigration with Regards to Refugees</vt:lpstr>
      <vt:lpstr>Introduction </vt:lpstr>
      <vt:lpstr>Why Should the US bring in refugees?</vt:lpstr>
      <vt:lpstr>My Reason</vt:lpstr>
      <vt:lpstr>My Two Papers </vt:lpstr>
      <vt:lpstr>Where I got my data from </vt:lpstr>
      <vt:lpstr>OLS regression </vt:lpstr>
      <vt:lpstr>More Data about refugees</vt:lpstr>
      <vt:lpstr>Counter-arguments</vt:lpstr>
      <vt:lpstr>Analysis of Data</vt:lpstr>
      <vt:lpstr>Conclusion </vt:lpstr>
      <vt:lpstr>Chicago Style NB Citations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economic case for immigration with regards to refugees</dc:title>
  <dc:creator>Yu, Gary N.</dc:creator>
  <cp:lastModifiedBy>Yu, Gary N.</cp:lastModifiedBy>
  <cp:revision>70</cp:revision>
  <dcterms:created xsi:type="dcterms:W3CDTF">2022-03-30T22:13:30Z</dcterms:created>
  <dcterms:modified xsi:type="dcterms:W3CDTF">2022-04-12T17:47:52Z</dcterms:modified>
</cp:coreProperties>
</file>