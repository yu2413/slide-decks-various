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6"/>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 id="258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oosing the Ideal Machine: Laptops Vs. Desktops for the Best Value and Use Case Under Time Constraints" id="{896CC2A7-124E-4280-9209-DE0CE46ED258}">
          <p14:sldIdLst>
            <p14:sldId id="2561"/>
            <p14:sldId id="2562"/>
          </p14:sldIdLst>
        </p14:section>
        <p14:section name="Defining Use Cases and Time Constraints" id="{25A55E9D-8EDC-4DB2-8DF6-41D72B2EB505}">
          <p14:sldIdLst>
            <p14:sldId id="2563"/>
            <p14:sldId id="2564"/>
            <p14:sldId id="2565"/>
            <p14:sldId id="2566"/>
          </p14:sldIdLst>
        </p14:section>
        <p14:section name="In-Depth Breakdown: Desktop Computers" id="{017117AD-3AB3-4069-88BB-61F2FF928BCD}">
          <p14:sldIdLst>
            <p14:sldId id="2567"/>
            <p14:sldId id="2568"/>
            <p14:sldId id="2569"/>
            <p14:sldId id="2570"/>
          </p14:sldIdLst>
        </p14:section>
        <p14:section name="In-Depth Breakdown: Laptops" id="{EF8ADE9D-3B4F-4626-A58F-1DAD81CDBE85}">
          <p14:sldIdLst>
            <p14:sldId id="2571"/>
            <p14:sldId id="2572"/>
            <p14:sldId id="2573"/>
            <p14:sldId id="2574"/>
          </p14:sldIdLst>
        </p14:section>
        <p14:section name="Comparative Analysis: Desktop Vs. Laptop" id="{3D829AC1-3BBD-499E-8739-72E68CD4B9E8}">
          <p14:sldIdLst>
            <p14:sldId id="2575"/>
            <p14:sldId id="2576"/>
            <p14:sldId id="2577"/>
            <p14:sldId id="2578"/>
          </p14:sldIdLst>
        </p14:section>
        <p14:section name="Recommendations for Optimal Selection" id="{3EC99B2C-6E16-4DA0-8267-13C841780E0B}">
          <p14:sldIdLst>
            <p14:sldId id="2579"/>
            <p14:sldId id="2580"/>
            <p14:sldId id="2581"/>
            <p14:sldId id="2582"/>
          </p14:sldIdLst>
        </p14:section>
        <p14:section name="Conclusion" id="{CB77C888-7E15-435D-AAFA-57A69B5C835D}">
          <p14:sldIdLst>
            <p14:sldId id="2583"/>
            <p14:sldId id="25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26" d="100"/>
          <a:sy n="126" d="100"/>
        </p:scale>
        <p:origin x="162" y="67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image" Target="../media/image10.jpg"/></Relationships>
</file>

<file path=ppt/diagrams/_rels/data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image" Target="../media/image18.png"/></Relationships>
</file>

<file path=ppt/diagrams/_rels/data4.xml.rels><?xml version="1.0" encoding="UTF-8" standalone="yes"?>
<Relationships xmlns="http://schemas.openxmlformats.org/package/2006/relationships"><Relationship Id="rId8" Type="http://schemas.openxmlformats.org/officeDocument/2006/relationships/hyperlink" Target="https://www.walmart.com/" TargetMode="External"/><Relationship Id="rId3" Type="http://schemas.openxmlformats.org/officeDocument/2006/relationships/hyperlink" Target="https://www.amazon.com/" TargetMode="External"/><Relationship Id="rId7" Type="http://schemas.openxmlformats.org/officeDocument/2006/relationships/hyperlink" Target="https://www.bestbuy.com/home" TargetMode="External"/><Relationship Id="rId2" Type="http://schemas.openxmlformats.org/officeDocument/2006/relationships/hyperlink" Target="https://www.woot.com/" TargetMode="External"/><Relationship Id="rId1" Type="http://schemas.openxmlformats.org/officeDocument/2006/relationships/hyperlink" Target="https://www.reddit.com/r/buildapcsales/" TargetMode="External"/><Relationship Id="rId6" Type="http://schemas.openxmlformats.org/officeDocument/2006/relationships/hyperlink" Target="https://www.costco.com/" TargetMode="External"/><Relationship Id="rId5" Type="http://schemas.openxmlformats.org/officeDocument/2006/relationships/hyperlink" Target="https://www.newegg.com/" TargetMode="External"/><Relationship Id="rId4" Type="http://schemas.openxmlformats.org/officeDocument/2006/relationships/hyperlink" Target="https://www.microcenter.com/" TargetMode="External"/></Relationships>
</file>

<file path=ppt/diagrams/_rels/drawing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image" Target="../media/image10.jpg"/></Relationships>
</file>

<file path=ppt/diagrams/_rels/drawing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image" Target="../media/image18.png"/></Relationships>
</file>

<file path=ppt/diagrams/_rels/drawing4.xml.rels><?xml version="1.0" encoding="UTF-8" standalone="yes"?>
<Relationships xmlns="http://schemas.openxmlformats.org/package/2006/relationships"><Relationship Id="rId8" Type="http://schemas.openxmlformats.org/officeDocument/2006/relationships/hyperlink" Target="https://www.walmart.com/" TargetMode="External"/><Relationship Id="rId3" Type="http://schemas.openxmlformats.org/officeDocument/2006/relationships/hyperlink" Target="https://www.amazon.com/" TargetMode="External"/><Relationship Id="rId7" Type="http://schemas.openxmlformats.org/officeDocument/2006/relationships/hyperlink" Target="https://www.bestbuy.com/home" TargetMode="External"/><Relationship Id="rId2" Type="http://schemas.openxmlformats.org/officeDocument/2006/relationships/hyperlink" Target="https://www.woot.com/" TargetMode="External"/><Relationship Id="rId1" Type="http://schemas.openxmlformats.org/officeDocument/2006/relationships/hyperlink" Target="https://www.reddit.com/r/buildapcsales/" TargetMode="External"/><Relationship Id="rId6" Type="http://schemas.openxmlformats.org/officeDocument/2006/relationships/hyperlink" Target="https://www.costco.com/" TargetMode="External"/><Relationship Id="rId5" Type="http://schemas.openxmlformats.org/officeDocument/2006/relationships/hyperlink" Target="https://www.newegg.com/" TargetMode="External"/><Relationship Id="rId4" Type="http://schemas.openxmlformats.org/officeDocument/2006/relationships/hyperlink" Target="https://www.microcenter.com/" TargetMode="Externa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2A768D-27E7-4000-B32B-D2190525D92F}"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D91696B2-F964-48E1-88AE-B90FECFC20FF}">
      <dgm:prSet/>
      <dgm:spPr/>
      <dgm:t>
        <a:bodyPr/>
        <a:lstStyle/>
        <a:p>
          <a:pPr>
            <a:lnSpc>
              <a:spcPct val="100000"/>
            </a:lnSpc>
            <a:defRPr b="1"/>
          </a:pPr>
          <a:r>
            <a:rPr lang="en-US"/>
            <a:t>Entry-Level Desktops</a:t>
          </a:r>
        </a:p>
      </dgm:t>
    </dgm:pt>
    <dgm:pt modelId="{ED1A8E91-084E-4AC2-8473-BB62203CA437}" type="parTrans" cxnId="{68D3B483-FB12-4845-BAEE-A4A10AD2B894}">
      <dgm:prSet/>
      <dgm:spPr/>
      <dgm:t>
        <a:bodyPr/>
        <a:lstStyle/>
        <a:p>
          <a:endParaRPr lang="en-US"/>
        </a:p>
      </dgm:t>
    </dgm:pt>
    <dgm:pt modelId="{33466D19-6759-4CC9-B8F7-668321A522D0}" type="sibTrans" cxnId="{68D3B483-FB12-4845-BAEE-A4A10AD2B894}">
      <dgm:prSet/>
      <dgm:spPr/>
      <dgm:t>
        <a:bodyPr/>
        <a:lstStyle/>
        <a:p>
          <a:pPr>
            <a:lnSpc>
              <a:spcPct val="100000"/>
            </a:lnSpc>
            <a:defRPr b="1"/>
          </a:pPr>
          <a:endParaRPr lang="en-US"/>
        </a:p>
      </dgm:t>
    </dgm:pt>
    <dgm:pt modelId="{77F2C32F-9E18-40C3-BAC9-EDEB0CE4EB99}">
      <dgm:prSet/>
      <dgm:spPr/>
      <dgm:t>
        <a:bodyPr/>
        <a:lstStyle/>
        <a:p>
          <a:pPr>
            <a:lnSpc>
              <a:spcPct val="100000"/>
            </a:lnSpc>
          </a:pPr>
          <a:r>
            <a:rPr lang="en-US"/>
            <a:t>Affordable desktops designed for basic tasks like web browsing and office work, ideal for budget-conscious users.</a:t>
          </a:r>
        </a:p>
      </dgm:t>
    </dgm:pt>
    <dgm:pt modelId="{8D8137F0-28C4-4367-ADD8-E2ED9A8764D2}" type="parTrans" cxnId="{B73F21CF-EDBF-421F-923E-B5CF2C6F520A}">
      <dgm:prSet/>
      <dgm:spPr/>
      <dgm:t>
        <a:bodyPr/>
        <a:lstStyle/>
        <a:p>
          <a:endParaRPr lang="en-US"/>
        </a:p>
      </dgm:t>
    </dgm:pt>
    <dgm:pt modelId="{408BA517-222E-469E-A5D7-4F0F5DF32239}" type="sibTrans" cxnId="{B73F21CF-EDBF-421F-923E-B5CF2C6F520A}">
      <dgm:prSet/>
      <dgm:spPr/>
      <dgm:t>
        <a:bodyPr/>
        <a:lstStyle/>
        <a:p>
          <a:endParaRPr lang="en-US"/>
        </a:p>
      </dgm:t>
    </dgm:pt>
    <dgm:pt modelId="{E2FF4C53-716D-4E07-AA94-F1EA5B613A92}">
      <dgm:prSet/>
      <dgm:spPr/>
      <dgm:t>
        <a:bodyPr/>
        <a:lstStyle/>
        <a:p>
          <a:pPr>
            <a:lnSpc>
              <a:spcPct val="100000"/>
            </a:lnSpc>
            <a:defRPr b="1"/>
          </a:pPr>
          <a:r>
            <a:rPr lang="en-US"/>
            <a:t>Mid-Range Desktops</a:t>
          </a:r>
        </a:p>
      </dgm:t>
    </dgm:pt>
    <dgm:pt modelId="{D791A912-2A87-4F97-9B56-6A2610ACDC6B}" type="parTrans" cxnId="{0C4AAAF1-88E8-4CAA-AD39-4B603ED3F01A}">
      <dgm:prSet/>
      <dgm:spPr/>
      <dgm:t>
        <a:bodyPr/>
        <a:lstStyle/>
        <a:p>
          <a:endParaRPr lang="en-US"/>
        </a:p>
      </dgm:t>
    </dgm:pt>
    <dgm:pt modelId="{2379CEEC-EAF5-4DA9-B8CA-038BEFEE7E8D}" type="sibTrans" cxnId="{0C4AAAF1-88E8-4CAA-AD39-4B603ED3F01A}">
      <dgm:prSet/>
      <dgm:spPr/>
      <dgm:t>
        <a:bodyPr/>
        <a:lstStyle/>
        <a:p>
          <a:pPr>
            <a:lnSpc>
              <a:spcPct val="100000"/>
            </a:lnSpc>
            <a:defRPr b="1"/>
          </a:pPr>
          <a:endParaRPr lang="en-US"/>
        </a:p>
      </dgm:t>
    </dgm:pt>
    <dgm:pt modelId="{EB489E6C-EFBF-46BE-9D0A-C130FC85640B}">
      <dgm:prSet/>
      <dgm:spPr/>
      <dgm:t>
        <a:bodyPr/>
        <a:lstStyle/>
        <a:p>
          <a:pPr>
            <a:lnSpc>
              <a:spcPct val="100000"/>
            </a:lnSpc>
          </a:pPr>
          <a:r>
            <a:rPr lang="en-US" dirty="0"/>
            <a:t>Balanced performance desktops suitable for multitasking, gaming, and creative work without breaking the bank.</a:t>
          </a:r>
        </a:p>
      </dgm:t>
    </dgm:pt>
    <dgm:pt modelId="{6B4C7857-1CCF-4779-90E4-E35A2693883A}" type="parTrans" cxnId="{AACB8C4C-000A-468C-B87C-9BAD741BEF01}">
      <dgm:prSet/>
      <dgm:spPr/>
      <dgm:t>
        <a:bodyPr/>
        <a:lstStyle/>
        <a:p>
          <a:endParaRPr lang="en-US"/>
        </a:p>
      </dgm:t>
    </dgm:pt>
    <dgm:pt modelId="{6B8B73D0-51CC-4B75-943C-876C77F9B918}" type="sibTrans" cxnId="{AACB8C4C-000A-468C-B87C-9BAD741BEF01}">
      <dgm:prSet/>
      <dgm:spPr/>
      <dgm:t>
        <a:bodyPr/>
        <a:lstStyle/>
        <a:p>
          <a:endParaRPr lang="en-US"/>
        </a:p>
      </dgm:t>
    </dgm:pt>
    <dgm:pt modelId="{FA18EDE9-58A0-4FED-929A-F6BE8116C091}">
      <dgm:prSet/>
      <dgm:spPr/>
      <dgm:t>
        <a:bodyPr/>
        <a:lstStyle/>
        <a:p>
          <a:pPr>
            <a:lnSpc>
              <a:spcPct val="100000"/>
            </a:lnSpc>
            <a:defRPr b="1"/>
          </a:pPr>
          <a:r>
            <a:rPr lang="en-US"/>
            <a:t>High-End Desktops</a:t>
          </a:r>
        </a:p>
      </dgm:t>
    </dgm:pt>
    <dgm:pt modelId="{7BB3E4F3-9FD0-4ADD-8AC8-EAFC1CFB04D2}" type="parTrans" cxnId="{9083840B-E51C-43D8-BC04-BBC6D13CE359}">
      <dgm:prSet/>
      <dgm:spPr/>
      <dgm:t>
        <a:bodyPr/>
        <a:lstStyle/>
        <a:p>
          <a:endParaRPr lang="en-US"/>
        </a:p>
      </dgm:t>
    </dgm:pt>
    <dgm:pt modelId="{529DE321-EC09-4777-AEA2-87432339B984}" type="sibTrans" cxnId="{9083840B-E51C-43D8-BC04-BBC6D13CE359}">
      <dgm:prSet/>
      <dgm:spPr/>
      <dgm:t>
        <a:bodyPr/>
        <a:lstStyle/>
        <a:p>
          <a:endParaRPr lang="en-US"/>
        </a:p>
      </dgm:t>
    </dgm:pt>
    <dgm:pt modelId="{CF14CA33-5A67-47BB-8BCE-2AA077A8CF07}">
      <dgm:prSet/>
      <dgm:spPr/>
      <dgm:t>
        <a:bodyPr/>
        <a:lstStyle/>
        <a:p>
          <a:pPr>
            <a:lnSpc>
              <a:spcPct val="100000"/>
            </a:lnSpc>
          </a:pPr>
          <a:r>
            <a:rPr lang="en-US"/>
            <a:t>Premium desktops offering top-tier performance for demanding applications like video editing and 3D rendering.</a:t>
          </a:r>
        </a:p>
      </dgm:t>
    </dgm:pt>
    <dgm:pt modelId="{99C4C4DB-494C-4FFC-853A-682765B89602}" type="parTrans" cxnId="{00E57D87-103F-4C07-B008-8D90E3E696E9}">
      <dgm:prSet/>
      <dgm:spPr/>
      <dgm:t>
        <a:bodyPr/>
        <a:lstStyle/>
        <a:p>
          <a:endParaRPr lang="en-US"/>
        </a:p>
      </dgm:t>
    </dgm:pt>
    <dgm:pt modelId="{DA00F2C2-3F41-4B95-98B4-F05E660ABA37}" type="sibTrans" cxnId="{00E57D87-103F-4C07-B008-8D90E3E696E9}">
      <dgm:prSet/>
      <dgm:spPr/>
      <dgm:t>
        <a:bodyPr/>
        <a:lstStyle/>
        <a:p>
          <a:endParaRPr lang="en-US"/>
        </a:p>
      </dgm:t>
    </dgm:pt>
    <dgm:pt modelId="{D43FCD3D-3ED9-45CB-9B6E-AB2047EAC204}" type="pres">
      <dgm:prSet presAssocID="{472A768D-27E7-4000-B32B-D2190525D92F}" presName="Root" presStyleCnt="0">
        <dgm:presLayoutVars>
          <dgm:dir/>
          <dgm:resizeHandles val="exact"/>
        </dgm:presLayoutVars>
      </dgm:prSet>
      <dgm:spPr/>
    </dgm:pt>
    <dgm:pt modelId="{CDDA4653-6C06-4E12-8587-1D82BD60F724}" type="pres">
      <dgm:prSet presAssocID="{D91696B2-F964-48E1-88AE-B90FECFC20FF}" presName="Composite" presStyleCnt="0"/>
      <dgm:spPr/>
    </dgm:pt>
    <dgm:pt modelId="{2801DED0-3064-4D87-9457-6B918FFB12FC}" type="pres">
      <dgm:prSet presAssocID="{D91696B2-F964-48E1-88AE-B90FECFC20FF}" presName="Picture" presStyleLbl="node1" presStyleIdx="0" presStyleCnt="3"/>
      <dgm:spPr>
        <a:blipFill>
          <a:blip xmlns:r="http://schemas.openxmlformats.org/officeDocument/2006/relationships" r:embed="rId1"/>
          <a:srcRect/>
          <a:stretch>
            <a:fillRect l="-25000" r="-25000"/>
          </a:stretch>
        </a:blipFill>
      </dgm:spPr>
      <dgm:extLst>
        <a:ext uri="{E40237B7-FDA0-4F09-8148-C483321AD2D9}">
          <dgm14:cNvPr xmlns:dgm14="http://schemas.microsoft.com/office/drawing/2010/diagram" id="0" name="" descr="3D wooden cubes with one red cube suspended in mid-air"/>
        </a:ext>
      </dgm:extLst>
    </dgm:pt>
    <dgm:pt modelId="{D5760682-8644-44DE-AFEE-1F798F2B2ED3}" type="pres">
      <dgm:prSet presAssocID="{D91696B2-F964-48E1-88AE-B90FECFC20FF}" presName="Subtitle" presStyleLbl="revTx" presStyleIdx="0" presStyleCnt="6">
        <dgm:presLayoutVars>
          <dgm:chMax val="0"/>
          <dgm:bulletEnabled/>
        </dgm:presLayoutVars>
      </dgm:prSet>
      <dgm:spPr/>
    </dgm:pt>
    <dgm:pt modelId="{32BC77A0-F44B-423D-B55A-1A39B202523D}" type="pres">
      <dgm:prSet presAssocID="{D91696B2-F964-48E1-88AE-B90FECFC20FF}" presName="Description" presStyleLbl="revTx" presStyleIdx="1" presStyleCnt="6">
        <dgm:presLayoutVars>
          <dgm:bulletEnabled/>
        </dgm:presLayoutVars>
      </dgm:prSet>
      <dgm:spPr/>
    </dgm:pt>
    <dgm:pt modelId="{B7C64631-1E2D-4516-8328-A8C050DE64AE}" type="pres">
      <dgm:prSet presAssocID="{33466D19-6759-4CC9-B8F7-668321A522D0}" presName="sibTrans" presStyleLbl="sibTrans2D1" presStyleIdx="0" presStyleCnt="0"/>
      <dgm:spPr/>
    </dgm:pt>
    <dgm:pt modelId="{9A3DBD51-CB40-4862-807C-11CDD22CAD4E}" type="pres">
      <dgm:prSet presAssocID="{E2FF4C53-716D-4E07-AA94-F1EA5B613A92}" presName="Composite" presStyleCnt="0"/>
      <dgm:spPr/>
    </dgm:pt>
    <dgm:pt modelId="{E78C6778-07C3-4DED-9797-42E6BCE700D9}" type="pres">
      <dgm:prSet presAssocID="{E2FF4C53-716D-4E07-AA94-F1EA5B613A92}" presName="Picture" presStyleLbl="node1" presStyleIdx="1" presStyleCnt="3"/>
      <dgm:spPr>
        <a:blipFill>
          <a:blip xmlns:r="http://schemas.openxmlformats.org/officeDocument/2006/relationships" r:embed="rId2"/>
          <a:srcRect/>
          <a:stretch>
            <a:fillRect l="-25000" r="-25000"/>
          </a:stretch>
        </a:blipFill>
      </dgm:spPr>
      <dgm:extLst>
        <a:ext uri="{E40237B7-FDA0-4F09-8148-C483321AD2D9}">
          <dgm14:cNvPr xmlns:dgm14="http://schemas.microsoft.com/office/drawing/2010/diagram" id="0" name="" descr="3D box skeletons"/>
        </a:ext>
      </dgm:extLst>
    </dgm:pt>
    <dgm:pt modelId="{E08E35B3-D65D-4A40-8F52-57B24E7ABA15}" type="pres">
      <dgm:prSet presAssocID="{E2FF4C53-716D-4E07-AA94-F1EA5B613A92}" presName="Subtitle" presStyleLbl="revTx" presStyleIdx="2" presStyleCnt="6">
        <dgm:presLayoutVars>
          <dgm:chMax val="0"/>
          <dgm:bulletEnabled/>
        </dgm:presLayoutVars>
      </dgm:prSet>
      <dgm:spPr/>
    </dgm:pt>
    <dgm:pt modelId="{B14E8F45-D173-4BED-9A02-1EAE3A280FEF}" type="pres">
      <dgm:prSet presAssocID="{E2FF4C53-716D-4E07-AA94-F1EA5B613A92}" presName="Description" presStyleLbl="revTx" presStyleIdx="3" presStyleCnt="6">
        <dgm:presLayoutVars>
          <dgm:bulletEnabled/>
        </dgm:presLayoutVars>
      </dgm:prSet>
      <dgm:spPr/>
    </dgm:pt>
    <dgm:pt modelId="{F46CDEC0-4ECC-45D7-9CD2-40FAC99CFC0B}" type="pres">
      <dgm:prSet presAssocID="{2379CEEC-EAF5-4DA9-B8CA-038BEFEE7E8D}" presName="sibTrans" presStyleLbl="sibTrans2D1" presStyleIdx="0" presStyleCnt="0"/>
      <dgm:spPr/>
    </dgm:pt>
    <dgm:pt modelId="{6CF9826D-B961-48EE-BBF6-C24F4F081FD0}" type="pres">
      <dgm:prSet presAssocID="{FA18EDE9-58A0-4FED-929A-F6BE8116C091}" presName="Composite" presStyleCnt="0"/>
      <dgm:spPr/>
    </dgm:pt>
    <dgm:pt modelId="{D8228587-BEFB-4729-9F71-2D7FB04D488E}" type="pres">
      <dgm:prSet presAssocID="{FA18EDE9-58A0-4FED-929A-F6BE8116C091}" presName="Picture" presStyleLbl="node1" presStyleIdx="2" presStyleCnt="3"/>
      <dgm:spPr>
        <a:blipFill>
          <a:blip xmlns:r="http://schemas.openxmlformats.org/officeDocument/2006/relationships" r:embed="rId3"/>
          <a:srcRect/>
          <a:stretch>
            <a:fillRect l="-39000" r="-39000"/>
          </a:stretch>
        </a:blipFill>
      </dgm:spPr>
      <dgm:extLst>
        <a:ext uri="{E40237B7-FDA0-4F09-8148-C483321AD2D9}">
          <dgm14:cNvPr xmlns:dgm14="http://schemas.microsoft.com/office/drawing/2010/diagram" id="0" name="" descr="A wall filled with colofrul 3D boxes"/>
        </a:ext>
      </dgm:extLst>
    </dgm:pt>
    <dgm:pt modelId="{CD102E95-E738-4BB2-886F-B4DAFF85636C}" type="pres">
      <dgm:prSet presAssocID="{FA18EDE9-58A0-4FED-929A-F6BE8116C091}" presName="Subtitle" presStyleLbl="revTx" presStyleIdx="4" presStyleCnt="6">
        <dgm:presLayoutVars>
          <dgm:chMax val="0"/>
          <dgm:bulletEnabled/>
        </dgm:presLayoutVars>
      </dgm:prSet>
      <dgm:spPr/>
    </dgm:pt>
    <dgm:pt modelId="{E022184C-E04F-454E-B3AB-9EA519FE949A}" type="pres">
      <dgm:prSet presAssocID="{FA18EDE9-58A0-4FED-929A-F6BE8116C091}" presName="Description" presStyleLbl="revTx" presStyleIdx="5" presStyleCnt="6">
        <dgm:presLayoutVars>
          <dgm:bulletEnabled/>
        </dgm:presLayoutVars>
      </dgm:prSet>
      <dgm:spPr/>
    </dgm:pt>
  </dgm:ptLst>
  <dgm:cxnLst>
    <dgm:cxn modelId="{9083840B-E51C-43D8-BC04-BBC6D13CE359}" srcId="{472A768D-27E7-4000-B32B-D2190525D92F}" destId="{FA18EDE9-58A0-4FED-929A-F6BE8116C091}" srcOrd="2" destOrd="0" parTransId="{7BB3E4F3-9FD0-4ADD-8AC8-EAFC1CFB04D2}" sibTransId="{529DE321-EC09-4777-AEA2-87432339B984}"/>
    <dgm:cxn modelId="{F1D7660C-877C-4F13-B9FF-77ECAE35B092}" type="presOf" srcId="{D91696B2-F964-48E1-88AE-B90FECFC20FF}" destId="{D5760682-8644-44DE-AFEE-1F798F2B2ED3}" srcOrd="0" destOrd="0" presId="urn:microsoft.com/office/officeart/2024/3/layout/verticalVisualTextBlock1"/>
    <dgm:cxn modelId="{0A28B317-5738-4432-85E2-EEB517DEA598}" type="presOf" srcId="{E2FF4C53-716D-4E07-AA94-F1EA5B613A92}" destId="{E08E35B3-D65D-4A40-8F52-57B24E7ABA15}" srcOrd="0" destOrd="0" presId="urn:microsoft.com/office/officeart/2024/3/layout/verticalVisualTextBlock1"/>
    <dgm:cxn modelId="{072D131D-983E-4E0F-8E2E-F2FDA9DA0FF4}" type="presOf" srcId="{2379CEEC-EAF5-4DA9-B8CA-038BEFEE7E8D}" destId="{F46CDEC0-4ECC-45D7-9CD2-40FAC99CFC0B}" srcOrd="0" destOrd="0" presId="urn:microsoft.com/office/officeart/2024/3/layout/verticalVisualTextBlock1"/>
    <dgm:cxn modelId="{5A757C23-144C-487F-B5BE-89486120141A}" type="presOf" srcId="{472A768D-27E7-4000-B32B-D2190525D92F}" destId="{D43FCD3D-3ED9-45CB-9B6E-AB2047EAC204}" srcOrd="0" destOrd="0" presId="urn:microsoft.com/office/officeart/2024/3/layout/verticalVisualTextBlock1"/>
    <dgm:cxn modelId="{661D994B-5600-492A-8FE0-289C7D4E9728}" type="presOf" srcId="{33466D19-6759-4CC9-B8F7-668321A522D0}" destId="{B7C64631-1E2D-4516-8328-A8C050DE64AE}" srcOrd="0" destOrd="0" presId="urn:microsoft.com/office/officeart/2024/3/layout/verticalVisualTextBlock1"/>
    <dgm:cxn modelId="{AACB8C4C-000A-468C-B87C-9BAD741BEF01}" srcId="{E2FF4C53-716D-4E07-AA94-F1EA5B613A92}" destId="{EB489E6C-EFBF-46BE-9D0A-C130FC85640B}" srcOrd="0" destOrd="0" parTransId="{6B4C7857-1CCF-4779-90E4-E35A2693883A}" sibTransId="{6B8B73D0-51CC-4B75-943C-876C77F9B918}"/>
    <dgm:cxn modelId="{68D3B483-FB12-4845-BAEE-A4A10AD2B894}" srcId="{472A768D-27E7-4000-B32B-D2190525D92F}" destId="{D91696B2-F964-48E1-88AE-B90FECFC20FF}" srcOrd="0" destOrd="0" parTransId="{ED1A8E91-084E-4AC2-8473-BB62203CA437}" sibTransId="{33466D19-6759-4CC9-B8F7-668321A522D0}"/>
    <dgm:cxn modelId="{00E57D87-103F-4C07-B008-8D90E3E696E9}" srcId="{FA18EDE9-58A0-4FED-929A-F6BE8116C091}" destId="{CF14CA33-5A67-47BB-8BCE-2AA077A8CF07}" srcOrd="0" destOrd="0" parTransId="{99C4C4DB-494C-4FFC-853A-682765B89602}" sibTransId="{DA00F2C2-3F41-4B95-98B4-F05E660ABA37}"/>
    <dgm:cxn modelId="{7F426994-4325-4E17-989A-CEDB80879B45}" type="presOf" srcId="{CF14CA33-5A67-47BB-8BCE-2AA077A8CF07}" destId="{E022184C-E04F-454E-B3AB-9EA519FE949A}" srcOrd="0" destOrd="0" presId="urn:microsoft.com/office/officeart/2024/3/layout/verticalVisualTextBlock1"/>
    <dgm:cxn modelId="{26DB31A6-9BC9-4B38-A867-E0E39CFA5480}" type="presOf" srcId="{77F2C32F-9E18-40C3-BAC9-EDEB0CE4EB99}" destId="{32BC77A0-F44B-423D-B55A-1A39B202523D}" srcOrd="0" destOrd="0" presId="urn:microsoft.com/office/officeart/2024/3/layout/verticalVisualTextBlock1"/>
    <dgm:cxn modelId="{2F3E3EB7-4B30-46D9-801F-CA3265053475}" type="presOf" srcId="{EB489E6C-EFBF-46BE-9D0A-C130FC85640B}" destId="{B14E8F45-D173-4BED-9A02-1EAE3A280FEF}" srcOrd="0" destOrd="0" presId="urn:microsoft.com/office/officeart/2024/3/layout/verticalVisualTextBlock1"/>
    <dgm:cxn modelId="{CA1A23C7-F763-4E2F-8FBA-72A9AF69279F}" type="presOf" srcId="{FA18EDE9-58A0-4FED-929A-F6BE8116C091}" destId="{CD102E95-E738-4BB2-886F-B4DAFF85636C}" srcOrd="0" destOrd="0" presId="urn:microsoft.com/office/officeart/2024/3/layout/verticalVisualTextBlock1"/>
    <dgm:cxn modelId="{B73F21CF-EDBF-421F-923E-B5CF2C6F520A}" srcId="{D91696B2-F964-48E1-88AE-B90FECFC20FF}" destId="{77F2C32F-9E18-40C3-BAC9-EDEB0CE4EB99}" srcOrd="0" destOrd="0" parTransId="{8D8137F0-28C4-4367-ADD8-E2ED9A8764D2}" sibTransId="{408BA517-222E-469E-A5D7-4F0F5DF32239}"/>
    <dgm:cxn modelId="{0C4AAAF1-88E8-4CAA-AD39-4B603ED3F01A}" srcId="{472A768D-27E7-4000-B32B-D2190525D92F}" destId="{E2FF4C53-716D-4E07-AA94-F1EA5B613A92}" srcOrd="1" destOrd="0" parTransId="{D791A912-2A87-4F97-9B56-6A2610ACDC6B}" sibTransId="{2379CEEC-EAF5-4DA9-B8CA-038BEFEE7E8D}"/>
    <dgm:cxn modelId="{8CAE8E09-5F5F-480D-8509-15E93B9E2129}" type="presParOf" srcId="{D43FCD3D-3ED9-45CB-9B6E-AB2047EAC204}" destId="{CDDA4653-6C06-4E12-8587-1D82BD60F724}" srcOrd="0" destOrd="0" presId="urn:microsoft.com/office/officeart/2024/3/layout/verticalVisualTextBlock1"/>
    <dgm:cxn modelId="{AAC9E689-4703-494A-A7A9-EE6387EAF798}" type="presParOf" srcId="{CDDA4653-6C06-4E12-8587-1D82BD60F724}" destId="{2801DED0-3064-4D87-9457-6B918FFB12FC}" srcOrd="0" destOrd="0" presId="urn:microsoft.com/office/officeart/2024/3/layout/verticalVisualTextBlock1"/>
    <dgm:cxn modelId="{7A1B5D7D-01B7-4C9B-9B7F-59DAE46BBBEC}" type="presParOf" srcId="{CDDA4653-6C06-4E12-8587-1D82BD60F724}" destId="{D5760682-8644-44DE-AFEE-1F798F2B2ED3}" srcOrd="1" destOrd="0" presId="urn:microsoft.com/office/officeart/2024/3/layout/verticalVisualTextBlock1"/>
    <dgm:cxn modelId="{6FEDCB2A-94FB-40F1-913A-28D18ED8DFCD}" type="presParOf" srcId="{CDDA4653-6C06-4E12-8587-1D82BD60F724}" destId="{32BC77A0-F44B-423D-B55A-1A39B202523D}" srcOrd="2" destOrd="0" presId="urn:microsoft.com/office/officeart/2024/3/layout/verticalVisualTextBlock1"/>
    <dgm:cxn modelId="{55309971-AD7B-4FB4-AB33-B8A12DCEEA02}" type="presParOf" srcId="{D43FCD3D-3ED9-45CB-9B6E-AB2047EAC204}" destId="{B7C64631-1E2D-4516-8328-A8C050DE64AE}" srcOrd="1" destOrd="0" presId="urn:microsoft.com/office/officeart/2024/3/layout/verticalVisualTextBlock1"/>
    <dgm:cxn modelId="{919C3ABF-1DBA-4798-BA36-3B5DBBFB549D}" type="presParOf" srcId="{D43FCD3D-3ED9-45CB-9B6E-AB2047EAC204}" destId="{9A3DBD51-CB40-4862-807C-11CDD22CAD4E}" srcOrd="2" destOrd="0" presId="urn:microsoft.com/office/officeart/2024/3/layout/verticalVisualTextBlock1"/>
    <dgm:cxn modelId="{7D31ADE5-55DF-44BD-9AEC-6B8B6BBAD41B}" type="presParOf" srcId="{9A3DBD51-CB40-4862-807C-11CDD22CAD4E}" destId="{E78C6778-07C3-4DED-9797-42E6BCE700D9}" srcOrd="0" destOrd="0" presId="urn:microsoft.com/office/officeart/2024/3/layout/verticalVisualTextBlock1"/>
    <dgm:cxn modelId="{8C7C78C4-E82A-4360-BD38-3B9777B3DB48}" type="presParOf" srcId="{9A3DBD51-CB40-4862-807C-11CDD22CAD4E}" destId="{E08E35B3-D65D-4A40-8F52-57B24E7ABA15}" srcOrd="1" destOrd="0" presId="urn:microsoft.com/office/officeart/2024/3/layout/verticalVisualTextBlock1"/>
    <dgm:cxn modelId="{170AC924-F1AD-4AB9-8671-34BF22734D67}" type="presParOf" srcId="{9A3DBD51-CB40-4862-807C-11CDD22CAD4E}" destId="{B14E8F45-D173-4BED-9A02-1EAE3A280FEF}" srcOrd="2" destOrd="0" presId="urn:microsoft.com/office/officeart/2024/3/layout/verticalVisualTextBlock1"/>
    <dgm:cxn modelId="{3AD87169-F2A0-4D03-98F4-FE1EF6BE529F}" type="presParOf" srcId="{D43FCD3D-3ED9-45CB-9B6E-AB2047EAC204}" destId="{F46CDEC0-4ECC-45D7-9CD2-40FAC99CFC0B}" srcOrd="3" destOrd="0" presId="urn:microsoft.com/office/officeart/2024/3/layout/verticalVisualTextBlock1"/>
    <dgm:cxn modelId="{CF1F9D25-913D-4AC7-899E-DAA346DC63A1}" type="presParOf" srcId="{D43FCD3D-3ED9-45CB-9B6E-AB2047EAC204}" destId="{6CF9826D-B961-48EE-BBF6-C24F4F081FD0}" srcOrd="4" destOrd="0" presId="urn:microsoft.com/office/officeart/2024/3/layout/verticalVisualTextBlock1"/>
    <dgm:cxn modelId="{C381F1E8-C7EE-443E-B3CB-6D069EB31F4D}" type="presParOf" srcId="{6CF9826D-B961-48EE-BBF6-C24F4F081FD0}" destId="{D8228587-BEFB-4729-9F71-2D7FB04D488E}" srcOrd="0" destOrd="0" presId="urn:microsoft.com/office/officeart/2024/3/layout/verticalVisualTextBlock1"/>
    <dgm:cxn modelId="{7117A7D7-E480-424B-861C-CAC20266B64E}" type="presParOf" srcId="{6CF9826D-B961-48EE-BBF6-C24F4F081FD0}" destId="{CD102E95-E738-4BB2-886F-B4DAFF85636C}" srcOrd="1" destOrd="0" presId="urn:microsoft.com/office/officeart/2024/3/layout/verticalVisualTextBlock1"/>
    <dgm:cxn modelId="{3FE329FC-F862-43E9-A0AF-504D232BC2CA}" type="presParOf" srcId="{6CF9826D-B961-48EE-BBF6-C24F4F081FD0}" destId="{E022184C-E04F-454E-B3AB-9EA519FE949A}"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2FC5708-D2DB-4FFF-9CCE-1ACAC13481D9}"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830A1D1B-415B-48F3-BA7D-A66ADB7D9E9F}">
      <dgm:prSet/>
      <dgm:spPr/>
      <dgm:t>
        <a:bodyPr/>
        <a:lstStyle/>
        <a:p>
          <a:pPr>
            <a:lnSpc>
              <a:spcPct val="100000"/>
            </a:lnSpc>
            <a:defRPr b="1"/>
          </a:pPr>
          <a:r>
            <a:rPr lang="en-US"/>
            <a:t>Initial Cost Comparison</a:t>
          </a:r>
        </a:p>
      </dgm:t>
    </dgm:pt>
    <dgm:pt modelId="{EF2862D2-4C9E-4D4C-9024-D6F5F9CE4082}" type="parTrans" cxnId="{4095431B-36A5-4D9A-8DAD-0818771AD70F}">
      <dgm:prSet/>
      <dgm:spPr/>
      <dgm:t>
        <a:bodyPr/>
        <a:lstStyle/>
        <a:p>
          <a:endParaRPr lang="en-US"/>
        </a:p>
      </dgm:t>
    </dgm:pt>
    <dgm:pt modelId="{9795A354-F988-454D-8067-46C530BDE8D6}" type="sibTrans" cxnId="{4095431B-36A5-4D9A-8DAD-0818771AD70F}">
      <dgm:prSet/>
      <dgm:spPr/>
      <dgm:t>
        <a:bodyPr/>
        <a:lstStyle/>
        <a:p>
          <a:pPr>
            <a:lnSpc>
              <a:spcPct val="100000"/>
            </a:lnSpc>
            <a:defRPr b="1"/>
          </a:pPr>
          <a:endParaRPr lang="en-US"/>
        </a:p>
      </dgm:t>
    </dgm:pt>
    <dgm:pt modelId="{F8FE2DA8-84E0-406B-BA4D-24B376FA59A2}">
      <dgm:prSet/>
      <dgm:spPr/>
      <dgm:t>
        <a:bodyPr/>
        <a:lstStyle/>
        <a:p>
          <a:pPr>
            <a:lnSpc>
              <a:spcPct val="100000"/>
            </a:lnSpc>
          </a:pPr>
          <a:r>
            <a:rPr lang="en-US"/>
            <a:t>Assess the upfront purchase prices for desktops and laptops to understand budget requirements.</a:t>
          </a:r>
        </a:p>
      </dgm:t>
    </dgm:pt>
    <dgm:pt modelId="{D651940E-F6A2-4BD0-BB66-C9716F3C2568}" type="parTrans" cxnId="{2E2B0C69-A709-4307-9B08-B98CE9A99653}">
      <dgm:prSet/>
      <dgm:spPr/>
      <dgm:t>
        <a:bodyPr/>
        <a:lstStyle/>
        <a:p>
          <a:endParaRPr lang="en-US"/>
        </a:p>
      </dgm:t>
    </dgm:pt>
    <dgm:pt modelId="{A5C69810-45F1-460F-BCAD-01978525563E}" type="sibTrans" cxnId="{2E2B0C69-A709-4307-9B08-B98CE9A99653}">
      <dgm:prSet/>
      <dgm:spPr/>
      <dgm:t>
        <a:bodyPr/>
        <a:lstStyle/>
        <a:p>
          <a:endParaRPr lang="en-US"/>
        </a:p>
      </dgm:t>
    </dgm:pt>
    <dgm:pt modelId="{B5D358C9-BC78-48FD-9B5C-7F4300928E5A}">
      <dgm:prSet/>
      <dgm:spPr/>
      <dgm:t>
        <a:bodyPr/>
        <a:lstStyle/>
        <a:p>
          <a:pPr>
            <a:lnSpc>
              <a:spcPct val="100000"/>
            </a:lnSpc>
            <a:defRPr b="1"/>
          </a:pPr>
          <a:r>
            <a:rPr lang="en-US"/>
            <a:t>Lifespan and Durability</a:t>
          </a:r>
        </a:p>
      </dgm:t>
    </dgm:pt>
    <dgm:pt modelId="{6F47697A-3A12-4BD6-A2DB-A18AB4B4B609}" type="parTrans" cxnId="{711E3B72-651D-43A0-A048-96FB5AA54595}">
      <dgm:prSet/>
      <dgm:spPr/>
      <dgm:t>
        <a:bodyPr/>
        <a:lstStyle/>
        <a:p>
          <a:endParaRPr lang="en-US"/>
        </a:p>
      </dgm:t>
    </dgm:pt>
    <dgm:pt modelId="{6AACBD8D-AEDA-4C5E-944A-8852CE8276DE}" type="sibTrans" cxnId="{711E3B72-651D-43A0-A048-96FB5AA54595}">
      <dgm:prSet/>
      <dgm:spPr/>
      <dgm:t>
        <a:bodyPr/>
        <a:lstStyle/>
        <a:p>
          <a:pPr>
            <a:lnSpc>
              <a:spcPct val="100000"/>
            </a:lnSpc>
            <a:defRPr b="1"/>
          </a:pPr>
          <a:endParaRPr lang="en-US"/>
        </a:p>
      </dgm:t>
    </dgm:pt>
    <dgm:pt modelId="{865D5D32-E7F1-48EA-BD5E-0819C5FBA0D1}">
      <dgm:prSet/>
      <dgm:spPr/>
      <dgm:t>
        <a:bodyPr/>
        <a:lstStyle/>
        <a:p>
          <a:pPr>
            <a:lnSpc>
              <a:spcPct val="100000"/>
            </a:lnSpc>
          </a:pPr>
          <a:r>
            <a:rPr lang="en-US"/>
            <a:t>Evaluate the expected usage duration and durability of desktops versus laptops.</a:t>
          </a:r>
        </a:p>
      </dgm:t>
    </dgm:pt>
    <dgm:pt modelId="{514E47DD-3B30-494A-86A1-823FDF009B99}" type="parTrans" cxnId="{A73D5410-0879-4AE8-87BF-819426A323FE}">
      <dgm:prSet/>
      <dgm:spPr/>
      <dgm:t>
        <a:bodyPr/>
        <a:lstStyle/>
        <a:p>
          <a:endParaRPr lang="en-US"/>
        </a:p>
      </dgm:t>
    </dgm:pt>
    <dgm:pt modelId="{8EDEE06D-AE93-45B3-BCCD-16053EE72BF9}" type="sibTrans" cxnId="{A73D5410-0879-4AE8-87BF-819426A323FE}">
      <dgm:prSet/>
      <dgm:spPr/>
      <dgm:t>
        <a:bodyPr/>
        <a:lstStyle/>
        <a:p>
          <a:endParaRPr lang="en-US"/>
        </a:p>
      </dgm:t>
    </dgm:pt>
    <dgm:pt modelId="{44A338F8-DB04-4EDD-921A-CD7D37BECDBF}">
      <dgm:prSet/>
      <dgm:spPr/>
      <dgm:t>
        <a:bodyPr/>
        <a:lstStyle/>
        <a:p>
          <a:pPr>
            <a:lnSpc>
              <a:spcPct val="100000"/>
            </a:lnSpc>
            <a:defRPr b="1"/>
          </a:pPr>
          <a:r>
            <a:rPr lang="en-US"/>
            <a:t>Maintenance and Upgrades</a:t>
          </a:r>
        </a:p>
      </dgm:t>
    </dgm:pt>
    <dgm:pt modelId="{29833A54-3F46-40BC-8520-D089D2165301}" type="parTrans" cxnId="{9E008FFC-72CD-4278-A805-7B4625F75DE1}">
      <dgm:prSet/>
      <dgm:spPr/>
      <dgm:t>
        <a:bodyPr/>
        <a:lstStyle/>
        <a:p>
          <a:endParaRPr lang="en-US"/>
        </a:p>
      </dgm:t>
    </dgm:pt>
    <dgm:pt modelId="{9249D0FB-F7A8-4BAF-9BD5-6CD164F335E9}" type="sibTrans" cxnId="{9E008FFC-72CD-4278-A805-7B4625F75DE1}">
      <dgm:prSet/>
      <dgm:spPr/>
      <dgm:t>
        <a:bodyPr/>
        <a:lstStyle/>
        <a:p>
          <a:endParaRPr lang="en-US"/>
        </a:p>
      </dgm:t>
    </dgm:pt>
    <dgm:pt modelId="{8AA4F224-42C5-45E4-B63B-786383752E4C}">
      <dgm:prSet/>
      <dgm:spPr/>
      <dgm:t>
        <a:bodyPr/>
        <a:lstStyle/>
        <a:p>
          <a:pPr>
            <a:lnSpc>
              <a:spcPct val="100000"/>
            </a:lnSpc>
          </a:pPr>
          <a:r>
            <a:rPr lang="en-US"/>
            <a:t>Consider maintenance costs and ease of upgrading components over time for both devices.</a:t>
          </a:r>
        </a:p>
      </dgm:t>
    </dgm:pt>
    <dgm:pt modelId="{877124E6-81BA-4A6F-9172-27A4073A04C9}" type="parTrans" cxnId="{0ABE8D8C-892E-4F78-B787-7633EE974B0B}">
      <dgm:prSet/>
      <dgm:spPr/>
      <dgm:t>
        <a:bodyPr/>
        <a:lstStyle/>
        <a:p>
          <a:endParaRPr lang="en-US"/>
        </a:p>
      </dgm:t>
    </dgm:pt>
    <dgm:pt modelId="{05AEF81D-0EF2-4DD8-91A5-A816864DEAB4}" type="sibTrans" cxnId="{0ABE8D8C-892E-4F78-B787-7633EE974B0B}">
      <dgm:prSet/>
      <dgm:spPr/>
      <dgm:t>
        <a:bodyPr/>
        <a:lstStyle/>
        <a:p>
          <a:endParaRPr lang="en-US"/>
        </a:p>
      </dgm:t>
    </dgm:pt>
    <dgm:pt modelId="{EE79E63D-44FB-478C-B5E2-29190DFD8C9D}" type="pres">
      <dgm:prSet presAssocID="{A2FC5708-D2DB-4FFF-9CCE-1ACAC13481D9}" presName="Root" presStyleCnt="0">
        <dgm:presLayoutVars>
          <dgm:dir/>
          <dgm:resizeHandles val="exact"/>
        </dgm:presLayoutVars>
      </dgm:prSet>
      <dgm:spPr/>
    </dgm:pt>
    <dgm:pt modelId="{68CB4030-72F5-4D3E-904C-DA36B926BBD2}" type="pres">
      <dgm:prSet presAssocID="{830A1D1B-415B-48F3-BA7D-A66ADB7D9E9F}" presName="Composite" presStyleCnt="0"/>
      <dgm:spPr/>
    </dgm:pt>
    <dgm:pt modelId="{7AF21A13-7D45-4F01-9DBF-89B590B535E4}" type="pres">
      <dgm:prSet presAssocID="{830A1D1B-415B-48F3-BA7D-A66ADB7D9E9F}" presName="Picture" presStyleLbl="node1" presStyleIdx="0" presStyleCnt="3"/>
      <dgm:spPr>
        <a:blipFill>
          <a:blip xmlns:r="http://schemas.openxmlformats.org/officeDocument/2006/relationships" r:embed="rId1"/>
          <a:srcRect/>
          <a:stretch>
            <a:fillRect t="-19000" b="-19000"/>
          </a:stretch>
        </a:blipFill>
      </dgm:spPr>
    </dgm:pt>
    <dgm:pt modelId="{A7A04871-B391-45BD-82B1-D48F401B2BC5}" type="pres">
      <dgm:prSet presAssocID="{830A1D1B-415B-48F3-BA7D-A66ADB7D9E9F}" presName="Subtitle" presStyleLbl="revTx" presStyleIdx="0" presStyleCnt="6">
        <dgm:presLayoutVars>
          <dgm:chMax val="0"/>
          <dgm:bulletEnabled/>
        </dgm:presLayoutVars>
      </dgm:prSet>
      <dgm:spPr/>
    </dgm:pt>
    <dgm:pt modelId="{4D276C51-BACD-41F0-9DF0-96F7AE103C4E}" type="pres">
      <dgm:prSet presAssocID="{830A1D1B-415B-48F3-BA7D-A66ADB7D9E9F}" presName="Description" presStyleLbl="revTx" presStyleIdx="1" presStyleCnt="6">
        <dgm:presLayoutVars>
          <dgm:bulletEnabled/>
        </dgm:presLayoutVars>
      </dgm:prSet>
      <dgm:spPr/>
    </dgm:pt>
    <dgm:pt modelId="{6C2BF866-BB16-4CE8-93C1-6FE052B807A2}" type="pres">
      <dgm:prSet presAssocID="{9795A354-F988-454D-8067-46C530BDE8D6}" presName="sibTrans" presStyleLbl="sibTrans2D1" presStyleIdx="0" presStyleCnt="0"/>
      <dgm:spPr/>
    </dgm:pt>
    <dgm:pt modelId="{A458E013-99EC-4D21-93FB-47F225C5427E}" type="pres">
      <dgm:prSet presAssocID="{B5D358C9-BC78-48FD-9B5C-7F4300928E5A}" presName="Composite" presStyleCnt="0"/>
      <dgm:spPr/>
    </dgm:pt>
    <dgm:pt modelId="{03695890-833D-42DD-A337-D22B004FB93D}" type="pres">
      <dgm:prSet presAssocID="{B5D358C9-BC78-48FD-9B5C-7F4300928E5A}" presName="Picture" presStyleLbl="node1" presStyleIdx="1" presStyleCnt="3" custLinFactNeighborX="-867" custLinFactNeighborY="-137"/>
      <dgm:spPr>
        <a:blipFill>
          <a:blip xmlns:r="http://schemas.openxmlformats.org/officeDocument/2006/relationships" r:embed="rId2"/>
          <a:srcRect/>
          <a:stretch>
            <a:fillRect l="-39000" r="-39000"/>
          </a:stretch>
        </a:blipFill>
      </dgm:spPr>
    </dgm:pt>
    <dgm:pt modelId="{11FFC393-4A8C-4EDC-8730-0F49A7189AC3}" type="pres">
      <dgm:prSet presAssocID="{B5D358C9-BC78-48FD-9B5C-7F4300928E5A}" presName="Subtitle" presStyleLbl="revTx" presStyleIdx="2" presStyleCnt="6">
        <dgm:presLayoutVars>
          <dgm:chMax val="0"/>
          <dgm:bulletEnabled/>
        </dgm:presLayoutVars>
      </dgm:prSet>
      <dgm:spPr/>
    </dgm:pt>
    <dgm:pt modelId="{97FBEA08-6766-440E-BDFA-EDD0BA18F2D2}" type="pres">
      <dgm:prSet presAssocID="{B5D358C9-BC78-48FD-9B5C-7F4300928E5A}" presName="Description" presStyleLbl="revTx" presStyleIdx="3" presStyleCnt="6">
        <dgm:presLayoutVars>
          <dgm:bulletEnabled/>
        </dgm:presLayoutVars>
      </dgm:prSet>
      <dgm:spPr/>
    </dgm:pt>
    <dgm:pt modelId="{D5A10812-E4ED-497E-8299-6D45C8D5291D}" type="pres">
      <dgm:prSet presAssocID="{6AACBD8D-AEDA-4C5E-944A-8852CE8276DE}" presName="sibTrans" presStyleLbl="sibTrans2D1" presStyleIdx="0" presStyleCnt="0"/>
      <dgm:spPr/>
    </dgm:pt>
    <dgm:pt modelId="{73AF278B-6AE7-44BB-AC24-ECF17E2DB5CC}" type="pres">
      <dgm:prSet presAssocID="{44A338F8-DB04-4EDD-921A-CD7D37BECDBF}" presName="Composite" presStyleCnt="0"/>
      <dgm:spPr/>
    </dgm:pt>
    <dgm:pt modelId="{04539E1D-4F2C-4919-8098-F745F9519C02}" type="pres">
      <dgm:prSet presAssocID="{44A338F8-DB04-4EDD-921A-CD7D37BECDBF}" presName="Picture" presStyleLbl="node1" presStyleIdx="2" presStyleCnt="3"/>
      <dgm:spPr>
        <a:blipFill>
          <a:blip xmlns:r="http://schemas.openxmlformats.org/officeDocument/2006/relationships" r:embed="rId3"/>
          <a:srcRect/>
          <a:stretch>
            <a:fillRect l="-17000" r="-17000"/>
          </a:stretch>
        </a:blipFill>
      </dgm:spPr>
    </dgm:pt>
    <dgm:pt modelId="{8B8DC858-3C9F-4B27-9D90-C4568C534DEA}" type="pres">
      <dgm:prSet presAssocID="{44A338F8-DB04-4EDD-921A-CD7D37BECDBF}" presName="Subtitle" presStyleLbl="revTx" presStyleIdx="4" presStyleCnt="6">
        <dgm:presLayoutVars>
          <dgm:chMax val="0"/>
          <dgm:bulletEnabled/>
        </dgm:presLayoutVars>
      </dgm:prSet>
      <dgm:spPr/>
    </dgm:pt>
    <dgm:pt modelId="{792808DB-A924-4DDB-9BAE-229751E65405}" type="pres">
      <dgm:prSet presAssocID="{44A338F8-DB04-4EDD-921A-CD7D37BECDBF}" presName="Description" presStyleLbl="revTx" presStyleIdx="5" presStyleCnt="6">
        <dgm:presLayoutVars>
          <dgm:bulletEnabled/>
        </dgm:presLayoutVars>
      </dgm:prSet>
      <dgm:spPr/>
    </dgm:pt>
  </dgm:ptLst>
  <dgm:cxnLst>
    <dgm:cxn modelId="{A73D5410-0879-4AE8-87BF-819426A323FE}" srcId="{B5D358C9-BC78-48FD-9B5C-7F4300928E5A}" destId="{865D5D32-E7F1-48EA-BD5E-0819C5FBA0D1}" srcOrd="0" destOrd="0" parTransId="{514E47DD-3B30-494A-86A1-823FDF009B99}" sibTransId="{8EDEE06D-AE93-45B3-BCCD-16053EE72BF9}"/>
    <dgm:cxn modelId="{EA1A6A16-EAF2-4801-8ECC-3F8A8629F91F}" type="presOf" srcId="{865D5D32-E7F1-48EA-BD5E-0819C5FBA0D1}" destId="{97FBEA08-6766-440E-BDFA-EDD0BA18F2D2}" srcOrd="0" destOrd="0" presId="urn:microsoft.com/office/officeart/2024/3/layout/verticalVisualTextBlock1"/>
    <dgm:cxn modelId="{4095431B-36A5-4D9A-8DAD-0818771AD70F}" srcId="{A2FC5708-D2DB-4FFF-9CCE-1ACAC13481D9}" destId="{830A1D1B-415B-48F3-BA7D-A66ADB7D9E9F}" srcOrd="0" destOrd="0" parTransId="{EF2862D2-4C9E-4D4C-9024-D6F5F9CE4082}" sibTransId="{9795A354-F988-454D-8067-46C530BDE8D6}"/>
    <dgm:cxn modelId="{669D3D2C-33F8-4609-B011-101287A64B85}" type="presOf" srcId="{A2FC5708-D2DB-4FFF-9CCE-1ACAC13481D9}" destId="{EE79E63D-44FB-478C-B5E2-29190DFD8C9D}" srcOrd="0" destOrd="0" presId="urn:microsoft.com/office/officeart/2024/3/layout/verticalVisualTextBlock1"/>
    <dgm:cxn modelId="{1D34FA3D-F77B-4B83-8321-E7CD6636F8A0}" type="presOf" srcId="{44A338F8-DB04-4EDD-921A-CD7D37BECDBF}" destId="{8B8DC858-3C9F-4B27-9D90-C4568C534DEA}" srcOrd="0" destOrd="0" presId="urn:microsoft.com/office/officeart/2024/3/layout/verticalVisualTextBlock1"/>
    <dgm:cxn modelId="{CFFAF464-4B7C-4768-BC5D-FB5396C6A6B4}" type="presOf" srcId="{B5D358C9-BC78-48FD-9B5C-7F4300928E5A}" destId="{11FFC393-4A8C-4EDC-8730-0F49A7189AC3}" srcOrd="0" destOrd="0" presId="urn:microsoft.com/office/officeart/2024/3/layout/verticalVisualTextBlock1"/>
    <dgm:cxn modelId="{2E2B0C69-A709-4307-9B08-B98CE9A99653}" srcId="{830A1D1B-415B-48F3-BA7D-A66ADB7D9E9F}" destId="{F8FE2DA8-84E0-406B-BA4D-24B376FA59A2}" srcOrd="0" destOrd="0" parTransId="{D651940E-F6A2-4BD0-BB66-C9716F3C2568}" sibTransId="{A5C69810-45F1-460F-BCAD-01978525563E}"/>
    <dgm:cxn modelId="{F627976E-86AF-4401-9AE1-AEA18FA2F493}" type="presOf" srcId="{9795A354-F988-454D-8067-46C530BDE8D6}" destId="{6C2BF866-BB16-4CE8-93C1-6FE052B807A2}" srcOrd="0" destOrd="0" presId="urn:microsoft.com/office/officeart/2024/3/layout/verticalVisualTextBlock1"/>
    <dgm:cxn modelId="{711E3B72-651D-43A0-A048-96FB5AA54595}" srcId="{A2FC5708-D2DB-4FFF-9CCE-1ACAC13481D9}" destId="{B5D358C9-BC78-48FD-9B5C-7F4300928E5A}" srcOrd="1" destOrd="0" parTransId="{6F47697A-3A12-4BD6-A2DB-A18AB4B4B609}" sibTransId="{6AACBD8D-AEDA-4C5E-944A-8852CE8276DE}"/>
    <dgm:cxn modelId="{0ABE8D8C-892E-4F78-B787-7633EE974B0B}" srcId="{44A338F8-DB04-4EDD-921A-CD7D37BECDBF}" destId="{8AA4F224-42C5-45E4-B63B-786383752E4C}" srcOrd="0" destOrd="0" parTransId="{877124E6-81BA-4A6F-9172-27A4073A04C9}" sibTransId="{05AEF81D-0EF2-4DD8-91A5-A816864DEAB4}"/>
    <dgm:cxn modelId="{CB254496-0DCC-4464-92D6-EB78DEDAD651}" type="presOf" srcId="{6AACBD8D-AEDA-4C5E-944A-8852CE8276DE}" destId="{D5A10812-E4ED-497E-8299-6D45C8D5291D}" srcOrd="0" destOrd="0" presId="urn:microsoft.com/office/officeart/2024/3/layout/verticalVisualTextBlock1"/>
    <dgm:cxn modelId="{75AC3DAA-A762-4396-B5E8-20109D236143}" type="presOf" srcId="{830A1D1B-415B-48F3-BA7D-A66ADB7D9E9F}" destId="{A7A04871-B391-45BD-82B1-D48F401B2BC5}" srcOrd="0" destOrd="0" presId="urn:microsoft.com/office/officeart/2024/3/layout/verticalVisualTextBlock1"/>
    <dgm:cxn modelId="{8A4B9DB1-49EA-49BC-84AD-11F07222AE79}" type="presOf" srcId="{8AA4F224-42C5-45E4-B63B-786383752E4C}" destId="{792808DB-A924-4DDB-9BAE-229751E65405}" srcOrd="0" destOrd="0" presId="urn:microsoft.com/office/officeart/2024/3/layout/verticalVisualTextBlock1"/>
    <dgm:cxn modelId="{B28554FC-A4DF-4F05-89DE-4A9DCADACED6}" type="presOf" srcId="{F8FE2DA8-84E0-406B-BA4D-24B376FA59A2}" destId="{4D276C51-BACD-41F0-9DF0-96F7AE103C4E}" srcOrd="0" destOrd="0" presId="urn:microsoft.com/office/officeart/2024/3/layout/verticalVisualTextBlock1"/>
    <dgm:cxn modelId="{9E008FFC-72CD-4278-A805-7B4625F75DE1}" srcId="{A2FC5708-D2DB-4FFF-9CCE-1ACAC13481D9}" destId="{44A338F8-DB04-4EDD-921A-CD7D37BECDBF}" srcOrd="2" destOrd="0" parTransId="{29833A54-3F46-40BC-8520-D089D2165301}" sibTransId="{9249D0FB-F7A8-4BAF-9BD5-6CD164F335E9}"/>
    <dgm:cxn modelId="{ACB1E795-56DB-4023-B9B0-34073AAD11FE}" type="presParOf" srcId="{EE79E63D-44FB-478C-B5E2-29190DFD8C9D}" destId="{68CB4030-72F5-4D3E-904C-DA36B926BBD2}" srcOrd="0" destOrd="0" presId="urn:microsoft.com/office/officeart/2024/3/layout/verticalVisualTextBlock1"/>
    <dgm:cxn modelId="{D2FB6E7F-16CE-4842-B21D-AA0D575A0D96}" type="presParOf" srcId="{68CB4030-72F5-4D3E-904C-DA36B926BBD2}" destId="{7AF21A13-7D45-4F01-9DBF-89B590B535E4}" srcOrd="0" destOrd="0" presId="urn:microsoft.com/office/officeart/2024/3/layout/verticalVisualTextBlock1"/>
    <dgm:cxn modelId="{FB16967F-B786-4774-A511-92DA2CF718EB}" type="presParOf" srcId="{68CB4030-72F5-4D3E-904C-DA36B926BBD2}" destId="{A7A04871-B391-45BD-82B1-D48F401B2BC5}" srcOrd="1" destOrd="0" presId="urn:microsoft.com/office/officeart/2024/3/layout/verticalVisualTextBlock1"/>
    <dgm:cxn modelId="{D62E7538-14F9-4D5D-82D9-39F9D33BD0EA}" type="presParOf" srcId="{68CB4030-72F5-4D3E-904C-DA36B926BBD2}" destId="{4D276C51-BACD-41F0-9DF0-96F7AE103C4E}" srcOrd="2" destOrd="0" presId="urn:microsoft.com/office/officeart/2024/3/layout/verticalVisualTextBlock1"/>
    <dgm:cxn modelId="{AFB5B706-1C4C-4EA3-BEB0-5AFD756DCC8E}" type="presParOf" srcId="{EE79E63D-44FB-478C-B5E2-29190DFD8C9D}" destId="{6C2BF866-BB16-4CE8-93C1-6FE052B807A2}" srcOrd="1" destOrd="0" presId="urn:microsoft.com/office/officeart/2024/3/layout/verticalVisualTextBlock1"/>
    <dgm:cxn modelId="{AE5B7673-2BF6-4339-8A18-CACC60971021}" type="presParOf" srcId="{EE79E63D-44FB-478C-B5E2-29190DFD8C9D}" destId="{A458E013-99EC-4D21-93FB-47F225C5427E}" srcOrd="2" destOrd="0" presId="urn:microsoft.com/office/officeart/2024/3/layout/verticalVisualTextBlock1"/>
    <dgm:cxn modelId="{87C36B11-9CDC-4923-823E-D6DFBCB1098B}" type="presParOf" srcId="{A458E013-99EC-4D21-93FB-47F225C5427E}" destId="{03695890-833D-42DD-A337-D22B004FB93D}" srcOrd="0" destOrd="0" presId="urn:microsoft.com/office/officeart/2024/3/layout/verticalVisualTextBlock1"/>
    <dgm:cxn modelId="{A54E6130-1CDD-433C-BC47-9153ADF36ECB}" type="presParOf" srcId="{A458E013-99EC-4D21-93FB-47F225C5427E}" destId="{11FFC393-4A8C-4EDC-8730-0F49A7189AC3}" srcOrd="1" destOrd="0" presId="urn:microsoft.com/office/officeart/2024/3/layout/verticalVisualTextBlock1"/>
    <dgm:cxn modelId="{75F68E46-DD4B-4334-8CC9-5C25338AE638}" type="presParOf" srcId="{A458E013-99EC-4D21-93FB-47F225C5427E}" destId="{97FBEA08-6766-440E-BDFA-EDD0BA18F2D2}" srcOrd="2" destOrd="0" presId="urn:microsoft.com/office/officeart/2024/3/layout/verticalVisualTextBlock1"/>
    <dgm:cxn modelId="{6FC63E32-13F7-4B61-A6F2-082ADDEA6D1D}" type="presParOf" srcId="{EE79E63D-44FB-478C-B5E2-29190DFD8C9D}" destId="{D5A10812-E4ED-497E-8299-6D45C8D5291D}" srcOrd="3" destOrd="0" presId="urn:microsoft.com/office/officeart/2024/3/layout/verticalVisualTextBlock1"/>
    <dgm:cxn modelId="{A7091C95-A2E9-4FD1-BE02-C9E982676940}" type="presParOf" srcId="{EE79E63D-44FB-478C-B5E2-29190DFD8C9D}" destId="{73AF278B-6AE7-44BB-AC24-ECF17E2DB5CC}" srcOrd="4" destOrd="0" presId="urn:microsoft.com/office/officeart/2024/3/layout/verticalVisualTextBlock1"/>
    <dgm:cxn modelId="{A7AA24AA-A5A0-4E9E-B5C1-71435C3D60EC}" type="presParOf" srcId="{73AF278B-6AE7-44BB-AC24-ECF17E2DB5CC}" destId="{04539E1D-4F2C-4919-8098-F745F9519C02}" srcOrd="0" destOrd="0" presId="urn:microsoft.com/office/officeart/2024/3/layout/verticalVisualTextBlock1"/>
    <dgm:cxn modelId="{01A410F9-F720-4F78-85B1-851C23BC8E69}" type="presParOf" srcId="{73AF278B-6AE7-44BB-AC24-ECF17E2DB5CC}" destId="{8B8DC858-3C9F-4B27-9D90-C4568C534DEA}" srcOrd="1" destOrd="0" presId="urn:microsoft.com/office/officeart/2024/3/layout/verticalVisualTextBlock1"/>
    <dgm:cxn modelId="{82870BF0-DFDA-487A-B65F-936648221AFA}" type="presParOf" srcId="{73AF278B-6AE7-44BB-AC24-ECF17E2DB5CC}" destId="{792808DB-A924-4DDB-9BAE-229751E65405}"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630C44C-BE04-4701-B2C8-F88C7D01BC91}"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31738CE0-20D5-4916-8621-8394E28D7CF9}">
      <dgm:prSet/>
      <dgm:spPr/>
      <dgm:t>
        <a:bodyPr/>
        <a:lstStyle/>
        <a:p>
          <a:pPr>
            <a:lnSpc>
              <a:spcPct val="100000"/>
            </a:lnSpc>
            <a:defRPr b="1"/>
          </a:pPr>
          <a:r>
            <a:rPr lang="en-US"/>
            <a:t>Balancing Key Factors</a:t>
          </a:r>
        </a:p>
      </dgm:t>
    </dgm:pt>
    <dgm:pt modelId="{D4046725-7AE7-4CFF-8D06-1077C93DFE22}" type="parTrans" cxnId="{E437CA86-4469-48A6-B27B-F7C0FAF180FE}">
      <dgm:prSet/>
      <dgm:spPr/>
      <dgm:t>
        <a:bodyPr/>
        <a:lstStyle/>
        <a:p>
          <a:endParaRPr lang="en-US"/>
        </a:p>
      </dgm:t>
    </dgm:pt>
    <dgm:pt modelId="{54E44070-0C10-4380-B41C-DCA5D412AB8C}" type="sibTrans" cxnId="{E437CA86-4469-48A6-B27B-F7C0FAF180FE}">
      <dgm:prSet/>
      <dgm:spPr/>
      <dgm:t>
        <a:bodyPr/>
        <a:lstStyle/>
        <a:p>
          <a:pPr>
            <a:lnSpc>
              <a:spcPct val="100000"/>
            </a:lnSpc>
            <a:defRPr b="1"/>
          </a:pPr>
          <a:endParaRPr lang="en-US"/>
        </a:p>
      </dgm:t>
    </dgm:pt>
    <dgm:pt modelId="{E188B261-DB2D-441E-94D0-74753FFA5A36}">
      <dgm:prSet/>
      <dgm:spPr/>
      <dgm:t>
        <a:bodyPr/>
        <a:lstStyle/>
        <a:p>
          <a:pPr>
            <a:lnSpc>
              <a:spcPct val="100000"/>
            </a:lnSpc>
          </a:pPr>
          <a:r>
            <a:rPr lang="en-US"/>
            <a:t>Choosing between laptops and desktops requires balancing performance, portability, cost, and timing for optimal value.</a:t>
          </a:r>
        </a:p>
      </dgm:t>
    </dgm:pt>
    <dgm:pt modelId="{2B4F41B3-8F9A-4B4C-AEC3-0FE54A97A2A7}" type="parTrans" cxnId="{CB9E3719-91EA-4280-8110-873B5481F697}">
      <dgm:prSet/>
      <dgm:spPr/>
      <dgm:t>
        <a:bodyPr/>
        <a:lstStyle/>
        <a:p>
          <a:endParaRPr lang="en-US"/>
        </a:p>
      </dgm:t>
    </dgm:pt>
    <dgm:pt modelId="{515AB0C2-71BB-4D36-A8E4-5AE84BF12CA9}" type="sibTrans" cxnId="{CB9E3719-91EA-4280-8110-873B5481F697}">
      <dgm:prSet/>
      <dgm:spPr/>
      <dgm:t>
        <a:bodyPr/>
        <a:lstStyle/>
        <a:p>
          <a:endParaRPr lang="en-US"/>
        </a:p>
      </dgm:t>
    </dgm:pt>
    <dgm:pt modelId="{31DE8E55-E57F-4E83-A557-9D28D82902F5}">
      <dgm:prSet/>
      <dgm:spPr/>
      <dgm:t>
        <a:bodyPr/>
        <a:lstStyle/>
        <a:p>
          <a:pPr>
            <a:lnSpc>
              <a:spcPct val="100000"/>
            </a:lnSpc>
            <a:defRPr b="1"/>
          </a:pPr>
          <a:r>
            <a:rPr lang="en-US"/>
            <a:t>Understanding Needs</a:t>
          </a:r>
        </a:p>
      </dgm:t>
    </dgm:pt>
    <dgm:pt modelId="{03F7CE94-B2CC-44B7-973B-283470849C4C}" type="parTrans" cxnId="{7C293726-0CFA-4D63-88EC-3DF298BAF43B}">
      <dgm:prSet/>
      <dgm:spPr/>
      <dgm:t>
        <a:bodyPr/>
        <a:lstStyle/>
        <a:p>
          <a:endParaRPr lang="en-US"/>
        </a:p>
      </dgm:t>
    </dgm:pt>
    <dgm:pt modelId="{2D6E0638-7A06-43B5-AE51-3322F16FE7C0}" type="sibTrans" cxnId="{7C293726-0CFA-4D63-88EC-3DF298BAF43B}">
      <dgm:prSet/>
      <dgm:spPr/>
      <dgm:t>
        <a:bodyPr/>
        <a:lstStyle/>
        <a:p>
          <a:endParaRPr lang="en-US"/>
        </a:p>
      </dgm:t>
    </dgm:pt>
    <dgm:pt modelId="{1D0AA87E-A8C2-4BC2-AA28-70E9B331B0B3}">
      <dgm:prSet/>
      <dgm:spPr/>
      <dgm:t>
        <a:bodyPr/>
        <a:lstStyle/>
        <a:p>
          <a:pPr>
            <a:lnSpc>
              <a:spcPct val="100000"/>
            </a:lnSpc>
          </a:pPr>
          <a:r>
            <a:rPr lang="en-US"/>
            <a:t>Assess your specific needs and constraints to make an informed choice that fits your use case perfectly.</a:t>
          </a:r>
        </a:p>
      </dgm:t>
    </dgm:pt>
    <dgm:pt modelId="{C5BE6B5B-73D0-4776-81A2-8BAB52B3DE4A}" type="parTrans" cxnId="{B05D1029-405D-440A-B88B-F86AAD856FC9}">
      <dgm:prSet/>
      <dgm:spPr/>
      <dgm:t>
        <a:bodyPr/>
        <a:lstStyle/>
        <a:p>
          <a:endParaRPr lang="en-US"/>
        </a:p>
      </dgm:t>
    </dgm:pt>
    <dgm:pt modelId="{3ED75E47-E827-4DFB-A122-78A8C9DBD8FD}" type="sibTrans" cxnId="{B05D1029-405D-440A-B88B-F86AAD856FC9}">
      <dgm:prSet/>
      <dgm:spPr/>
      <dgm:t>
        <a:bodyPr/>
        <a:lstStyle/>
        <a:p>
          <a:endParaRPr lang="en-US"/>
        </a:p>
      </dgm:t>
    </dgm:pt>
    <dgm:pt modelId="{D5ACB591-B57B-4FA6-A23D-01E11BA43D84}" type="pres">
      <dgm:prSet presAssocID="{2630C44C-BE04-4701-B2C8-F88C7D01BC91}" presName="Name0" presStyleCnt="0">
        <dgm:presLayoutVars>
          <dgm:dir/>
          <dgm:resizeHandles val="exact"/>
        </dgm:presLayoutVars>
      </dgm:prSet>
      <dgm:spPr/>
    </dgm:pt>
    <dgm:pt modelId="{526D60AE-DC57-43CB-80AD-619FD5941DC9}" type="pres">
      <dgm:prSet presAssocID="{31738CE0-20D5-4916-8621-8394E28D7CF9}" presName="compNode" presStyleCnt="0"/>
      <dgm:spPr/>
    </dgm:pt>
    <dgm:pt modelId="{4D43E895-319D-480F-8A26-32BC124D0399}" type="pres">
      <dgm:prSet presAssocID="{31738CE0-20D5-4916-8621-8394E28D7CF9}" presName="pictRect" presStyleLbl="revTx" presStyleIdx="0" presStyleCnt="4">
        <dgm:presLayoutVars>
          <dgm:chMax val="0"/>
          <dgm:bulletEnabled/>
        </dgm:presLayoutVars>
      </dgm:prSet>
      <dgm:spPr/>
    </dgm:pt>
    <dgm:pt modelId="{66112092-263D-4FBF-8790-88D917155536}" type="pres">
      <dgm:prSet presAssocID="{31738CE0-20D5-4916-8621-8394E28D7CF9}" presName="textRect" presStyleLbl="revTx" presStyleIdx="1" presStyleCnt="4">
        <dgm:presLayoutVars>
          <dgm:bulletEnabled/>
        </dgm:presLayoutVars>
      </dgm:prSet>
      <dgm:spPr/>
    </dgm:pt>
    <dgm:pt modelId="{EB170823-D310-4C8A-989A-6C753587ED4A}" type="pres">
      <dgm:prSet presAssocID="{54E44070-0C10-4380-B41C-DCA5D412AB8C}" presName="sibTrans" presStyleLbl="sibTrans2D1" presStyleIdx="0" presStyleCnt="0"/>
      <dgm:spPr/>
    </dgm:pt>
    <dgm:pt modelId="{43C032CE-DF2D-4120-A32A-A0C14FD1AA85}" type="pres">
      <dgm:prSet presAssocID="{31DE8E55-E57F-4E83-A557-9D28D82902F5}" presName="compNode" presStyleCnt="0"/>
      <dgm:spPr/>
    </dgm:pt>
    <dgm:pt modelId="{041774FA-3E10-4986-91A0-095AD5653A1A}" type="pres">
      <dgm:prSet presAssocID="{31DE8E55-E57F-4E83-A557-9D28D82902F5}" presName="pictRect" presStyleLbl="revTx" presStyleIdx="2" presStyleCnt="4">
        <dgm:presLayoutVars>
          <dgm:chMax val="0"/>
          <dgm:bulletEnabled/>
        </dgm:presLayoutVars>
      </dgm:prSet>
      <dgm:spPr/>
    </dgm:pt>
    <dgm:pt modelId="{4E7EC07A-DD69-4B39-BBB3-51A3FDFEE853}" type="pres">
      <dgm:prSet presAssocID="{31DE8E55-E57F-4E83-A557-9D28D82902F5}" presName="textRect" presStyleLbl="revTx" presStyleIdx="3" presStyleCnt="4">
        <dgm:presLayoutVars>
          <dgm:bulletEnabled/>
        </dgm:presLayoutVars>
      </dgm:prSet>
      <dgm:spPr/>
    </dgm:pt>
  </dgm:ptLst>
  <dgm:cxnLst>
    <dgm:cxn modelId="{2ED7CC08-7AB9-467F-ABFF-22E7AB042F6F}" type="presOf" srcId="{31738CE0-20D5-4916-8621-8394E28D7CF9}" destId="{4D43E895-319D-480F-8A26-32BC124D0399}" srcOrd="0" destOrd="0" presId="urn:microsoft.com/office/officeart/2024/3/layout/hArchList1"/>
    <dgm:cxn modelId="{CB9E3719-91EA-4280-8110-873B5481F697}" srcId="{31738CE0-20D5-4916-8621-8394E28D7CF9}" destId="{E188B261-DB2D-441E-94D0-74753FFA5A36}" srcOrd="0" destOrd="0" parTransId="{2B4F41B3-8F9A-4B4C-AEC3-0FE54A97A2A7}" sibTransId="{515AB0C2-71BB-4D36-A8E4-5AE84BF12CA9}"/>
    <dgm:cxn modelId="{7C293726-0CFA-4D63-88EC-3DF298BAF43B}" srcId="{2630C44C-BE04-4701-B2C8-F88C7D01BC91}" destId="{31DE8E55-E57F-4E83-A557-9D28D82902F5}" srcOrd="1" destOrd="0" parTransId="{03F7CE94-B2CC-44B7-973B-283470849C4C}" sibTransId="{2D6E0638-7A06-43B5-AE51-3322F16FE7C0}"/>
    <dgm:cxn modelId="{B05D1029-405D-440A-B88B-F86AAD856FC9}" srcId="{31DE8E55-E57F-4E83-A557-9D28D82902F5}" destId="{1D0AA87E-A8C2-4BC2-AA28-70E9B331B0B3}" srcOrd="0" destOrd="0" parTransId="{C5BE6B5B-73D0-4776-81A2-8BAB52B3DE4A}" sibTransId="{3ED75E47-E827-4DFB-A122-78A8C9DBD8FD}"/>
    <dgm:cxn modelId="{CC0CF22A-6E52-48D9-AA21-1D9ACC4D51F1}" type="presOf" srcId="{54E44070-0C10-4380-B41C-DCA5D412AB8C}" destId="{EB170823-D310-4C8A-989A-6C753587ED4A}" srcOrd="0" destOrd="0" presId="urn:microsoft.com/office/officeart/2024/3/layout/hArchList1"/>
    <dgm:cxn modelId="{1838733D-6CC3-4166-B65B-3B854DB48FA1}" type="presOf" srcId="{E188B261-DB2D-441E-94D0-74753FFA5A36}" destId="{66112092-263D-4FBF-8790-88D917155536}" srcOrd="0" destOrd="0" presId="urn:microsoft.com/office/officeart/2024/3/layout/hArchList1"/>
    <dgm:cxn modelId="{01B99247-7AE0-4B6B-95DA-E81CC3C5C261}" type="presOf" srcId="{31DE8E55-E57F-4E83-A557-9D28D82902F5}" destId="{041774FA-3E10-4986-91A0-095AD5653A1A}" srcOrd="0" destOrd="0" presId="urn:microsoft.com/office/officeart/2024/3/layout/hArchList1"/>
    <dgm:cxn modelId="{E437CA86-4469-48A6-B27B-F7C0FAF180FE}" srcId="{2630C44C-BE04-4701-B2C8-F88C7D01BC91}" destId="{31738CE0-20D5-4916-8621-8394E28D7CF9}" srcOrd="0" destOrd="0" parTransId="{D4046725-7AE7-4CFF-8D06-1077C93DFE22}" sibTransId="{54E44070-0C10-4380-B41C-DCA5D412AB8C}"/>
    <dgm:cxn modelId="{962E53B0-DAA1-4E04-9A9F-25F5E78D9B74}" type="presOf" srcId="{2630C44C-BE04-4701-B2C8-F88C7D01BC91}" destId="{D5ACB591-B57B-4FA6-A23D-01E11BA43D84}" srcOrd="0" destOrd="0" presId="urn:microsoft.com/office/officeart/2024/3/layout/hArchList1"/>
    <dgm:cxn modelId="{82B7EAFE-7B99-4161-81BF-4636806D7E86}" type="presOf" srcId="{1D0AA87E-A8C2-4BC2-AA28-70E9B331B0B3}" destId="{4E7EC07A-DD69-4B39-BBB3-51A3FDFEE853}" srcOrd="0" destOrd="0" presId="urn:microsoft.com/office/officeart/2024/3/layout/hArchList1"/>
    <dgm:cxn modelId="{0DC534A3-3C06-4575-807E-F3ED414E943D}" type="presParOf" srcId="{D5ACB591-B57B-4FA6-A23D-01E11BA43D84}" destId="{526D60AE-DC57-43CB-80AD-619FD5941DC9}" srcOrd="0" destOrd="0" presId="urn:microsoft.com/office/officeart/2024/3/layout/hArchList1"/>
    <dgm:cxn modelId="{5CFA8E8A-1A46-4F5D-9B8D-891070BA642A}" type="presParOf" srcId="{526D60AE-DC57-43CB-80AD-619FD5941DC9}" destId="{4D43E895-319D-480F-8A26-32BC124D0399}" srcOrd="0" destOrd="0" presId="urn:microsoft.com/office/officeart/2024/3/layout/hArchList1"/>
    <dgm:cxn modelId="{145D2A9E-F8D6-4F5F-BE42-1BB3348140ED}" type="presParOf" srcId="{526D60AE-DC57-43CB-80AD-619FD5941DC9}" destId="{66112092-263D-4FBF-8790-88D917155536}" srcOrd="1" destOrd="0" presId="urn:microsoft.com/office/officeart/2024/3/layout/hArchList1"/>
    <dgm:cxn modelId="{A19AE8E6-0CB8-4518-8EBC-F36AB4FFDB60}" type="presParOf" srcId="{D5ACB591-B57B-4FA6-A23D-01E11BA43D84}" destId="{EB170823-D310-4C8A-989A-6C753587ED4A}" srcOrd="1" destOrd="0" presId="urn:microsoft.com/office/officeart/2024/3/layout/hArchList1"/>
    <dgm:cxn modelId="{3D45D3B3-A13A-407F-9747-A24E66E231B7}" type="presParOf" srcId="{D5ACB591-B57B-4FA6-A23D-01E11BA43D84}" destId="{43C032CE-DF2D-4120-A32A-A0C14FD1AA85}" srcOrd="2" destOrd="0" presId="urn:microsoft.com/office/officeart/2024/3/layout/hArchList1"/>
    <dgm:cxn modelId="{3ECC5688-746E-4CEE-BB3A-125CAB2EDF2D}" type="presParOf" srcId="{43C032CE-DF2D-4120-A32A-A0C14FD1AA85}" destId="{041774FA-3E10-4986-91A0-095AD5653A1A}" srcOrd="0" destOrd="0" presId="urn:microsoft.com/office/officeart/2024/3/layout/hArchList1"/>
    <dgm:cxn modelId="{6B5315E9-55F9-49E3-9875-C6FCD24293F7}" type="presParOf" srcId="{43C032CE-DF2D-4120-A32A-A0C14FD1AA85}" destId="{4E7EC07A-DD69-4B39-BBB3-51A3FDFEE853}"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630C44C-BE04-4701-B2C8-F88C7D01BC91}"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31738CE0-20D5-4916-8621-8394E28D7CF9}">
      <dgm:prSet custT="1"/>
      <dgm:spPr/>
      <dgm:t>
        <a:bodyPr/>
        <a:lstStyle/>
        <a:p>
          <a:pPr>
            <a:lnSpc>
              <a:spcPct val="100000"/>
            </a:lnSpc>
            <a:defRPr b="1"/>
          </a:pPr>
          <a:r>
            <a:rPr lang="en-US" sz="1600" dirty="0"/>
            <a:t>Reddit – </a:t>
          </a:r>
          <a:r>
            <a:rPr lang="en-US" sz="1600" b="1" dirty="0">
              <a:hlinkClick xmlns:r="http://schemas.openxmlformats.org/officeDocument/2006/relationships" r:id="rId1"/>
            </a:rPr>
            <a:t>r/buildapcsales</a:t>
          </a:r>
          <a:r>
            <a:rPr lang="en-US" sz="1600" b="1" dirty="0"/>
            <a:t> (Best One if a post/deal has more upvotes than downvotes, and the best comments approve)</a:t>
          </a:r>
        </a:p>
        <a:p>
          <a:pPr>
            <a:lnSpc>
              <a:spcPct val="100000"/>
            </a:lnSpc>
            <a:defRPr b="1"/>
          </a:pPr>
          <a:r>
            <a:rPr lang="en-US" sz="1800" dirty="0"/>
            <a:t>Woot - </a:t>
          </a:r>
          <a:r>
            <a:rPr lang="en-US" sz="1800" dirty="0">
              <a:hlinkClick xmlns:r="http://schemas.openxmlformats.org/officeDocument/2006/relationships" r:id="rId2"/>
            </a:rPr>
            <a:t>https://www.woot.com/</a:t>
          </a:r>
          <a:r>
            <a:rPr lang="en-US" sz="1800" dirty="0"/>
            <a:t> (Great Used Deals)</a:t>
          </a:r>
        </a:p>
        <a:p>
          <a:pPr>
            <a:lnSpc>
              <a:spcPct val="100000"/>
            </a:lnSpc>
            <a:defRPr b="1"/>
          </a:pPr>
          <a:r>
            <a:rPr lang="en-US" sz="1100" dirty="0"/>
            <a:t>Amazon - </a:t>
          </a:r>
          <a:r>
            <a:rPr lang="en-US" sz="1100" dirty="0">
              <a:hlinkClick xmlns:r="http://schemas.openxmlformats.org/officeDocument/2006/relationships" r:id="rId3"/>
            </a:rPr>
            <a:t>https://www.amazon.com/</a:t>
          </a:r>
          <a:r>
            <a:rPr lang="en-US" sz="1100" dirty="0"/>
            <a:t> (Hit or Miss and watch out for the brand)</a:t>
          </a:r>
        </a:p>
        <a:p>
          <a:pPr>
            <a:lnSpc>
              <a:spcPct val="100000"/>
            </a:lnSpc>
            <a:defRPr b="1"/>
          </a:pPr>
          <a:endParaRPr lang="en-US" sz="1100" dirty="0"/>
        </a:p>
        <a:p>
          <a:pPr>
            <a:lnSpc>
              <a:spcPct val="100000"/>
            </a:lnSpc>
            <a:defRPr b="1"/>
          </a:pPr>
          <a:endParaRPr lang="en-US" sz="1800" dirty="0"/>
        </a:p>
      </dgm:t>
    </dgm:pt>
    <dgm:pt modelId="{D4046725-7AE7-4CFF-8D06-1077C93DFE22}" type="parTrans" cxnId="{E437CA86-4469-48A6-B27B-F7C0FAF180FE}">
      <dgm:prSet/>
      <dgm:spPr/>
      <dgm:t>
        <a:bodyPr/>
        <a:lstStyle/>
        <a:p>
          <a:endParaRPr lang="en-US"/>
        </a:p>
      </dgm:t>
    </dgm:pt>
    <dgm:pt modelId="{54E44070-0C10-4380-B41C-DCA5D412AB8C}" type="sibTrans" cxnId="{E437CA86-4469-48A6-B27B-F7C0FAF180FE}">
      <dgm:prSet/>
      <dgm:spPr/>
      <dgm:t>
        <a:bodyPr/>
        <a:lstStyle/>
        <a:p>
          <a:pPr>
            <a:lnSpc>
              <a:spcPct val="100000"/>
            </a:lnSpc>
            <a:defRPr b="1"/>
          </a:pPr>
          <a:endParaRPr lang="en-US"/>
        </a:p>
      </dgm:t>
    </dgm:pt>
    <dgm:pt modelId="{E188B261-DB2D-441E-94D0-74753FFA5A36}">
      <dgm:prSet/>
      <dgm:spPr/>
      <dgm:t>
        <a:bodyPr/>
        <a:lstStyle/>
        <a:p>
          <a:pPr>
            <a:lnSpc>
              <a:spcPct val="100000"/>
            </a:lnSpc>
          </a:pPr>
          <a:endParaRPr lang="en-US" dirty="0"/>
        </a:p>
      </dgm:t>
    </dgm:pt>
    <dgm:pt modelId="{2B4F41B3-8F9A-4B4C-AEC3-0FE54A97A2A7}" type="parTrans" cxnId="{CB9E3719-91EA-4280-8110-873B5481F697}">
      <dgm:prSet/>
      <dgm:spPr/>
      <dgm:t>
        <a:bodyPr/>
        <a:lstStyle/>
        <a:p>
          <a:endParaRPr lang="en-US"/>
        </a:p>
      </dgm:t>
    </dgm:pt>
    <dgm:pt modelId="{515AB0C2-71BB-4D36-A8E4-5AE84BF12CA9}" type="sibTrans" cxnId="{CB9E3719-91EA-4280-8110-873B5481F697}">
      <dgm:prSet/>
      <dgm:spPr/>
      <dgm:t>
        <a:bodyPr/>
        <a:lstStyle/>
        <a:p>
          <a:endParaRPr lang="en-US"/>
        </a:p>
      </dgm:t>
    </dgm:pt>
    <dgm:pt modelId="{31DE8E55-E57F-4E83-A557-9D28D82902F5}">
      <dgm:prSet custT="1"/>
      <dgm:spPr/>
      <dgm:t>
        <a:bodyPr/>
        <a:lstStyle/>
        <a:p>
          <a:pPr>
            <a:lnSpc>
              <a:spcPct val="100000"/>
            </a:lnSpc>
            <a:defRPr b="1"/>
          </a:pPr>
          <a:r>
            <a:rPr lang="en-US" sz="1400" dirty="0"/>
            <a:t>Micro-Center Website - </a:t>
          </a:r>
          <a:r>
            <a:rPr lang="en-US" sz="1400" dirty="0">
              <a:hlinkClick xmlns:r="http://schemas.openxmlformats.org/officeDocument/2006/relationships" r:id="rId4"/>
            </a:rPr>
            <a:t>https://www.microcenter.com/</a:t>
          </a:r>
          <a:r>
            <a:rPr lang="en-US" sz="1400" dirty="0"/>
            <a:t> (Amazing)</a:t>
          </a:r>
        </a:p>
        <a:p>
          <a:pPr>
            <a:lnSpc>
              <a:spcPct val="100000"/>
            </a:lnSpc>
            <a:defRPr b="1"/>
          </a:pPr>
          <a:r>
            <a:rPr lang="en-US" sz="1600" dirty="0"/>
            <a:t>Newegg - </a:t>
          </a:r>
          <a:r>
            <a:rPr lang="en-US" sz="1600" dirty="0">
              <a:hlinkClick xmlns:r="http://schemas.openxmlformats.org/officeDocument/2006/relationships" r:id="rId5"/>
            </a:rPr>
            <a:t>https://www.newegg.com/</a:t>
          </a:r>
          <a:r>
            <a:rPr lang="en-US" sz="1600" dirty="0"/>
            <a:t> (Hit or Miss)</a:t>
          </a:r>
        </a:p>
        <a:p>
          <a:pPr>
            <a:lnSpc>
              <a:spcPct val="100000"/>
            </a:lnSpc>
            <a:defRPr b="1"/>
          </a:pPr>
          <a:r>
            <a:rPr lang="en-US" sz="1600" dirty="0"/>
            <a:t>Costco - </a:t>
          </a:r>
          <a:r>
            <a:rPr lang="en-US" sz="1600" dirty="0">
              <a:hlinkClick xmlns:r="http://schemas.openxmlformats.org/officeDocument/2006/relationships" r:id="rId6"/>
            </a:rPr>
            <a:t>https://www.costco.com/</a:t>
          </a:r>
          <a:r>
            <a:rPr lang="en-US" sz="1600" dirty="0"/>
            <a:t> (Hit or Miss)</a:t>
          </a:r>
        </a:p>
        <a:p>
          <a:pPr>
            <a:lnSpc>
              <a:spcPct val="100000"/>
            </a:lnSpc>
            <a:defRPr b="1"/>
          </a:pPr>
          <a:r>
            <a:rPr lang="en-US" sz="1600" dirty="0"/>
            <a:t>Best Buy - </a:t>
          </a:r>
          <a:r>
            <a:rPr lang="en-US" sz="1600" dirty="0">
              <a:hlinkClick xmlns:r="http://schemas.openxmlformats.org/officeDocument/2006/relationships" r:id="rId7"/>
            </a:rPr>
            <a:t>https://www.bestbuy.com/home</a:t>
          </a:r>
          <a:r>
            <a:rPr lang="en-US" sz="1600" dirty="0"/>
            <a:t> (Sometimes)</a:t>
          </a:r>
        </a:p>
        <a:p>
          <a:pPr>
            <a:lnSpc>
              <a:spcPct val="100000"/>
            </a:lnSpc>
            <a:defRPr b="1"/>
          </a:pPr>
          <a:r>
            <a:rPr lang="en-US" sz="1400" dirty="0"/>
            <a:t>Walmart - </a:t>
          </a:r>
          <a:r>
            <a:rPr lang="en-US" sz="1400" dirty="0">
              <a:hlinkClick xmlns:r="http://schemas.openxmlformats.org/officeDocument/2006/relationships" r:id="rId8"/>
            </a:rPr>
            <a:t>https://www.walmart.com/</a:t>
          </a:r>
          <a:r>
            <a:rPr lang="en-US" sz="1400" dirty="0"/>
            <a:t> (Low to Medium tier deals)</a:t>
          </a:r>
        </a:p>
        <a:p>
          <a:pPr>
            <a:lnSpc>
              <a:spcPct val="100000"/>
            </a:lnSpc>
            <a:defRPr b="1"/>
          </a:pPr>
          <a:endParaRPr lang="en-US" sz="1600" dirty="0"/>
        </a:p>
      </dgm:t>
    </dgm:pt>
    <dgm:pt modelId="{03F7CE94-B2CC-44B7-973B-283470849C4C}" type="parTrans" cxnId="{7C293726-0CFA-4D63-88EC-3DF298BAF43B}">
      <dgm:prSet/>
      <dgm:spPr/>
      <dgm:t>
        <a:bodyPr/>
        <a:lstStyle/>
        <a:p>
          <a:endParaRPr lang="en-US"/>
        </a:p>
      </dgm:t>
    </dgm:pt>
    <dgm:pt modelId="{2D6E0638-7A06-43B5-AE51-3322F16FE7C0}" type="sibTrans" cxnId="{7C293726-0CFA-4D63-88EC-3DF298BAF43B}">
      <dgm:prSet/>
      <dgm:spPr/>
      <dgm:t>
        <a:bodyPr/>
        <a:lstStyle/>
        <a:p>
          <a:endParaRPr lang="en-US"/>
        </a:p>
      </dgm:t>
    </dgm:pt>
    <dgm:pt modelId="{1D0AA87E-A8C2-4BC2-AA28-70E9B331B0B3}">
      <dgm:prSet/>
      <dgm:spPr/>
      <dgm:t>
        <a:bodyPr/>
        <a:lstStyle/>
        <a:p>
          <a:pPr>
            <a:lnSpc>
              <a:spcPct val="100000"/>
            </a:lnSpc>
          </a:pPr>
          <a:endParaRPr lang="en-US" dirty="0"/>
        </a:p>
      </dgm:t>
    </dgm:pt>
    <dgm:pt modelId="{C5BE6B5B-73D0-4776-81A2-8BAB52B3DE4A}" type="parTrans" cxnId="{B05D1029-405D-440A-B88B-F86AAD856FC9}">
      <dgm:prSet/>
      <dgm:spPr/>
      <dgm:t>
        <a:bodyPr/>
        <a:lstStyle/>
        <a:p>
          <a:endParaRPr lang="en-US"/>
        </a:p>
      </dgm:t>
    </dgm:pt>
    <dgm:pt modelId="{3ED75E47-E827-4DFB-A122-78A8C9DBD8FD}" type="sibTrans" cxnId="{B05D1029-405D-440A-B88B-F86AAD856FC9}">
      <dgm:prSet/>
      <dgm:spPr/>
      <dgm:t>
        <a:bodyPr/>
        <a:lstStyle/>
        <a:p>
          <a:endParaRPr lang="en-US"/>
        </a:p>
      </dgm:t>
    </dgm:pt>
    <dgm:pt modelId="{D5ACB591-B57B-4FA6-A23D-01E11BA43D84}" type="pres">
      <dgm:prSet presAssocID="{2630C44C-BE04-4701-B2C8-F88C7D01BC91}" presName="Name0" presStyleCnt="0">
        <dgm:presLayoutVars>
          <dgm:dir/>
          <dgm:resizeHandles val="exact"/>
        </dgm:presLayoutVars>
      </dgm:prSet>
      <dgm:spPr/>
    </dgm:pt>
    <dgm:pt modelId="{526D60AE-DC57-43CB-80AD-619FD5941DC9}" type="pres">
      <dgm:prSet presAssocID="{31738CE0-20D5-4916-8621-8394E28D7CF9}" presName="compNode" presStyleCnt="0"/>
      <dgm:spPr/>
    </dgm:pt>
    <dgm:pt modelId="{4D43E895-319D-480F-8A26-32BC124D0399}" type="pres">
      <dgm:prSet presAssocID="{31738CE0-20D5-4916-8621-8394E28D7CF9}" presName="pictRect" presStyleLbl="revTx" presStyleIdx="0" presStyleCnt="4">
        <dgm:presLayoutVars>
          <dgm:chMax val="0"/>
          <dgm:bulletEnabled/>
        </dgm:presLayoutVars>
      </dgm:prSet>
      <dgm:spPr/>
    </dgm:pt>
    <dgm:pt modelId="{66112092-263D-4FBF-8790-88D917155536}" type="pres">
      <dgm:prSet presAssocID="{31738CE0-20D5-4916-8621-8394E28D7CF9}" presName="textRect" presStyleLbl="revTx" presStyleIdx="1" presStyleCnt="4">
        <dgm:presLayoutVars>
          <dgm:bulletEnabled/>
        </dgm:presLayoutVars>
      </dgm:prSet>
      <dgm:spPr/>
    </dgm:pt>
    <dgm:pt modelId="{EB170823-D310-4C8A-989A-6C753587ED4A}" type="pres">
      <dgm:prSet presAssocID="{54E44070-0C10-4380-B41C-DCA5D412AB8C}" presName="sibTrans" presStyleLbl="sibTrans2D1" presStyleIdx="0" presStyleCnt="0"/>
      <dgm:spPr/>
    </dgm:pt>
    <dgm:pt modelId="{43C032CE-DF2D-4120-A32A-A0C14FD1AA85}" type="pres">
      <dgm:prSet presAssocID="{31DE8E55-E57F-4E83-A557-9D28D82902F5}" presName="compNode" presStyleCnt="0"/>
      <dgm:spPr/>
    </dgm:pt>
    <dgm:pt modelId="{041774FA-3E10-4986-91A0-095AD5653A1A}" type="pres">
      <dgm:prSet presAssocID="{31DE8E55-E57F-4E83-A557-9D28D82902F5}" presName="pictRect" presStyleLbl="revTx" presStyleIdx="2" presStyleCnt="4">
        <dgm:presLayoutVars>
          <dgm:chMax val="0"/>
          <dgm:bulletEnabled/>
        </dgm:presLayoutVars>
      </dgm:prSet>
      <dgm:spPr/>
    </dgm:pt>
    <dgm:pt modelId="{4E7EC07A-DD69-4B39-BBB3-51A3FDFEE853}" type="pres">
      <dgm:prSet presAssocID="{31DE8E55-E57F-4E83-A557-9D28D82902F5}" presName="textRect" presStyleLbl="revTx" presStyleIdx="3" presStyleCnt="4">
        <dgm:presLayoutVars>
          <dgm:bulletEnabled/>
        </dgm:presLayoutVars>
      </dgm:prSet>
      <dgm:spPr/>
    </dgm:pt>
  </dgm:ptLst>
  <dgm:cxnLst>
    <dgm:cxn modelId="{2ED7CC08-7AB9-467F-ABFF-22E7AB042F6F}" type="presOf" srcId="{31738CE0-20D5-4916-8621-8394E28D7CF9}" destId="{4D43E895-319D-480F-8A26-32BC124D0399}" srcOrd="0" destOrd="0" presId="urn:microsoft.com/office/officeart/2024/3/layout/hArchList1"/>
    <dgm:cxn modelId="{CB9E3719-91EA-4280-8110-873B5481F697}" srcId="{31738CE0-20D5-4916-8621-8394E28D7CF9}" destId="{E188B261-DB2D-441E-94D0-74753FFA5A36}" srcOrd="0" destOrd="0" parTransId="{2B4F41B3-8F9A-4B4C-AEC3-0FE54A97A2A7}" sibTransId="{515AB0C2-71BB-4D36-A8E4-5AE84BF12CA9}"/>
    <dgm:cxn modelId="{7C293726-0CFA-4D63-88EC-3DF298BAF43B}" srcId="{2630C44C-BE04-4701-B2C8-F88C7D01BC91}" destId="{31DE8E55-E57F-4E83-A557-9D28D82902F5}" srcOrd="1" destOrd="0" parTransId="{03F7CE94-B2CC-44B7-973B-283470849C4C}" sibTransId="{2D6E0638-7A06-43B5-AE51-3322F16FE7C0}"/>
    <dgm:cxn modelId="{B05D1029-405D-440A-B88B-F86AAD856FC9}" srcId="{31DE8E55-E57F-4E83-A557-9D28D82902F5}" destId="{1D0AA87E-A8C2-4BC2-AA28-70E9B331B0B3}" srcOrd="0" destOrd="0" parTransId="{C5BE6B5B-73D0-4776-81A2-8BAB52B3DE4A}" sibTransId="{3ED75E47-E827-4DFB-A122-78A8C9DBD8FD}"/>
    <dgm:cxn modelId="{CC0CF22A-6E52-48D9-AA21-1D9ACC4D51F1}" type="presOf" srcId="{54E44070-0C10-4380-B41C-DCA5D412AB8C}" destId="{EB170823-D310-4C8A-989A-6C753587ED4A}" srcOrd="0" destOrd="0" presId="urn:microsoft.com/office/officeart/2024/3/layout/hArchList1"/>
    <dgm:cxn modelId="{1838733D-6CC3-4166-B65B-3B854DB48FA1}" type="presOf" srcId="{E188B261-DB2D-441E-94D0-74753FFA5A36}" destId="{66112092-263D-4FBF-8790-88D917155536}" srcOrd="0" destOrd="0" presId="urn:microsoft.com/office/officeart/2024/3/layout/hArchList1"/>
    <dgm:cxn modelId="{01B99247-7AE0-4B6B-95DA-E81CC3C5C261}" type="presOf" srcId="{31DE8E55-E57F-4E83-A557-9D28D82902F5}" destId="{041774FA-3E10-4986-91A0-095AD5653A1A}" srcOrd="0" destOrd="0" presId="urn:microsoft.com/office/officeart/2024/3/layout/hArchList1"/>
    <dgm:cxn modelId="{E437CA86-4469-48A6-B27B-F7C0FAF180FE}" srcId="{2630C44C-BE04-4701-B2C8-F88C7D01BC91}" destId="{31738CE0-20D5-4916-8621-8394E28D7CF9}" srcOrd="0" destOrd="0" parTransId="{D4046725-7AE7-4CFF-8D06-1077C93DFE22}" sibTransId="{54E44070-0C10-4380-B41C-DCA5D412AB8C}"/>
    <dgm:cxn modelId="{962E53B0-DAA1-4E04-9A9F-25F5E78D9B74}" type="presOf" srcId="{2630C44C-BE04-4701-B2C8-F88C7D01BC91}" destId="{D5ACB591-B57B-4FA6-A23D-01E11BA43D84}" srcOrd="0" destOrd="0" presId="urn:microsoft.com/office/officeart/2024/3/layout/hArchList1"/>
    <dgm:cxn modelId="{82B7EAFE-7B99-4161-81BF-4636806D7E86}" type="presOf" srcId="{1D0AA87E-A8C2-4BC2-AA28-70E9B331B0B3}" destId="{4E7EC07A-DD69-4B39-BBB3-51A3FDFEE853}" srcOrd="0" destOrd="0" presId="urn:microsoft.com/office/officeart/2024/3/layout/hArchList1"/>
    <dgm:cxn modelId="{0DC534A3-3C06-4575-807E-F3ED414E943D}" type="presParOf" srcId="{D5ACB591-B57B-4FA6-A23D-01E11BA43D84}" destId="{526D60AE-DC57-43CB-80AD-619FD5941DC9}" srcOrd="0" destOrd="0" presId="urn:microsoft.com/office/officeart/2024/3/layout/hArchList1"/>
    <dgm:cxn modelId="{5CFA8E8A-1A46-4F5D-9B8D-891070BA642A}" type="presParOf" srcId="{526D60AE-DC57-43CB-80AD-619FD5941DC9}" destId="{4D43E895-319D-480F-8A26-32BC124D0399}" srcOrd="0" destOrd="0" presId="urn:microsoft.com/office/officeart/2024/3/layout/hArchList1"/>
    <dgm:cxn modelId="{145D2A9E-F8D6-4F5F-BE42-1BB3348140ED}" type="presParOf" srcId="{526D60AE-DC57-43CB-80AD-619FD5941DC9}" destId="{66112092-263D-4FBF-8790-88D917155536}" srcOrd="1" destOrd="0" presId="urn:microsoft.com/office/officeart/2024/3/layout/hArchList1"/>
    <dgm:cxn modelId="{A19AE8E6-0CB8-4518-8EBC-F36AB4FFDB60}" type="presParOf" srcId="{D5ACB591-B57B-4FA6-A23D-01E11BA43D84}" destId="{EB170823-D310-4C8A-989A-6C753587ED4A}" srcOrd="1" destOrd="0" presId="urn:microsoft.com/office/officeart/2024/3/layout/hArchList1"/>
    <dgm:cxn modelId="{3D45D3B3-A13A-407F-9747-A24E66E231B7}" type="presParOf" srcId="{D5ACB591-B57B-4FA6-A23D-01E11BA43D84}" destId="{43C032CE-DF2D-4120-A32A-A0C14FD1AA85}" srcOrd="2" destOrd="0" presId="urn:microsoft.com/office/officeart/2024/3/layout/hArchList1"/>
    <dgm:cxn modelId="{3ECC5688-746E-4CEE-BB3A-125CAB2EDF2D}" type="presParOf" srcId="{43C032CE-DF2D-4120-A32A-A0C14FD1AA85}" destId="{041774FA-3E10-4986-91A0-095AD5653A1A}" srcOrd="0" destOrd="0" presId="urn:microsoft.com/office/officeart/2024/3/layout/hArchList1"/>
    <dgm:cxn modelId="{6B5315E9-55F9-49E3-9875-C6FCD24293F7}" type="presParOf" srcId="{43C032CE-DF2D-4120-A32A-A0C14FD1AA85}" destId="{4E7EC07A-DD69-4B39-BBB3-51A3FDFEE853}"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01DED0-3064-4D87-9457-6B918FFB12FC}">
      <dsp:nvSpPr>
        <dsp:cNvPr id="0" name=""/>
        <dsp:cNvSpPr/>
      </dsp:nvSpPr>
      <dsp:spPr>
        <a:xfrm>
          <a:off x="0" y="0"/>
          <a:ext cx="1681599" cy="1681599"/>
        </a:xfrm>
        <a:prstGeom prst="rect">
          <a:avLst/>
        </a:prstGeom>
        <a:blipFill>
          <a:blip xmlns:r="http://schemas.openxmlformats.org/officeDocument/2006/relationships" r:embed="rId1"/>
          <a:srcRect/>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D5760682-8644-44DE-AFEE-1F798F2B2ED3}">
      <dsp:nvSpPr>
        <dsp:cNvPr id="0" name=""/>
        <dsp:cNvSpPr/>
      </dsp:nvSpPr>
      <dsp:spPr>
        <a:xfrm>
          <a:off x="1861599" y="0"/>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Entry-Level Desktops</a:t>
          </a:r>
        </a:p>
      </dsp:txBody>
      <dsp:txXfrm>
        <a:off x="1861599" y="0"/>
        <a:ext cx="5167674" cy="346182"/>
      </dsp:txXfrm>
    </dsp:sp>
    <dsp:sp modelId="{32BC77A0-F44B-423D-B55A-1A39B202523D}">
      <dsp:nvSpPr>
        <dsp:cNvPr id="0" name=""/>
        <dsp:cNvSpPr/>
      </dsp:nvSpPr>
      <dsp:spPr>
        <a:xfrm>
          <a:off x="1861599" y="346182"/>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Affordable desktops designed for basic tasks like web browsing and office work, ideal for budget-conscious users.</a:t>
          </a:r>
        </a:p>
      </dsp:txBody>
      <dsp:txXfrm>
        <a:off x="1861599" y="346182"/>
        <a:ext cx="5167674" cy="1335417"/>
      </dsp:txXfrm>
    </dsp:sp>
    <dsp:sp modelId="{E78C6778-07C3-4DED-9797-42E6BCE700D9}">
      <dsp:nvSpPr>
        <dsp:cNvPr id="0" name=""/>
        <dsp:cNvSpPr/>
      </dsp:nvSpPr>
      <dsp:spPr>
        <a:xfrm>
          <a:off x="0" y="1816127"/>
          <a:ext cx="1681599" cy="1681599"/>
        </a:xfrm>
        <a:prstGeom prst="rect">
          <a:avLst/>
        </a:prstGeom>
        <a:blipFill>
          <a:blip xmlns:r="http://schemas.openxmlformats.org/officeDocument/2006/relationships" r:embed="rId2"/>
          <a:srcRect/>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E08E35B3-D65D-4A40-8F52-57B24E7ABA15}">
      <dsp:nvSpPr>
        <dsp:cNvPr id="0" name=""/>
        <dsp:cNvSpPr/>
      </dsp:nvSpPr>
      <dsp:spPr>
        <a:xfrm>
          <a:off x="1861599" y="1816127"/>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Mid-Range Desktops</a:t>
          </a:r>
        </a:p>
      </dsp:txBody>
      <dsp:txXfrm>
        <a:off x="1861599" y="1816127"/>
        <a:ext cx="5167674" cy="346182"/>
      </dsp:txXfrm>
    </dsp:sp>
    <dsp:sp modelId="{B14E8F45-D173-4BED-9A02-1EAE3A280FEF}">
      <dsp:nvSpPr>
        <dsp:cNvPr id="0" name=""/>
        <dsp:cNvSpPr/>
      </dsp:nvSpPr>
      <dsp:spPr>
        <a:xfrm>
          <a:off x="1861599" y="2162310"/>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Balanced performance desktops suitable for multitasking, gaming, and creative work without breaking the bank.</a:t>
          </a:r>
        </a:p>
      </dsp:txBody>
      <dsp:txXfrm>
        <a:off x="1861599" y="2162310"/>
        <a:ext cx="5167674" cy="1335417"/>
      </dsp:txXfrm>
    </dsp:sp>
    <dsp:sp modelId="{D8228587-BEFB-4729-9F71-2D7FB04D488E}">
      <dsp:nvSpPr>
        <dsp:cNvPr id="0" name=""/>
        <dsp:cNvSpPr/>
      </dsp:nvSpPr>
      <dsp:spPr>
        <a:xfrm>
          <a:off x="0" y="3632255"/>
          <a:ext cx="1681599" cy="1681599"/>
        </a:xfrm>
        <a:prstGeom prst="rect">
          <a:avLst/>
        </a:prstGeom>
        <a:blipFill>
          <a:blip xmlns:r="http://schemas.openxmlformats.org/officeDocument/2006/relationships" r:embed="rId3"/>
          <a:srcRect/>
          <a:stretch>
            <a:fillRect l="-39000" r="-39000"/>
          </a:stretch>
        </a:blipFill>
        <a:ln>
          <a:noFill/>
        </a:ln>
        <a:effectLst/>
      </dsp:spPr>
      <dsp:style>
        <a:lnRef idx="0">
          <a:scrgbClr r="0" g="0" b="0"/>
        </a:lnRef>
        <a:fillRef idx="3">
          <a:scrgbClr r="0" g="0" b="0"/>
        </a:fillRef>
        <a:effectRef idx="2">
          <a:scrgbClr r="0" g="0" b="0"/>
        </a:effectRef>
        <a:fontRef idx="minor">
          <a:schemeClr val="lt1"/>
        </a:fontRef>
      </dsp:style>
    </dsp:sp>
    <dsp:sp modelId="{CD102E95-E738-4BB2-886F-B4DAFF85636C}">
      <dsp:nvSpPr>
        <dsp:cNvPr id="0" name=""/>
        <dsp:cNvSpPr/>
      </dsp:nvSpPr>
      <dsp:spPr>
        <a:xfrm>
          <a:off x="1861599" y="3632255"/>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High-End Desktops</a:t>
          </a:r>
        </a:p>
      </dsp:txBody>
      <dsp:txXfrm>
        <a:off x="1861599" y="3632255"/>
        <a:ext cx="5167674" cy="346182"/>
      </dsp:txXfrm>
    </dsp:sp>
    <dsp:sp modelId="{E022184C-E04F-454E-B3AB-9EA519FE949A}">
      <dsp:nvSpPr>
        <dsp:cNvPr id="0" name=""/>
        <dsp:cNvSpPr/>
      </dsp:nvSpPr>
      <dsp:spPr>
        <a:xfrm>
          <a:off x="1861599" y="3978438"/>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Premium desktops offering top-tier performance for demanding applications like video editing and 3D rendering.</a:t>
          </a:r>
        </a:p>
      </dsp:txBody>
      <dsp:txXfrm>
        <a:off x="1861599" y="3978438"/>
        <a:ext cx="5167674" cy="13354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F21A13-7D45-4F01-9DBF-89B590B535E4}">
      <dsp:nvSpPr>
        <dsp:cNvPr id="0" name=""/>
        <dsp:cNvSpPr/>
      </dsp:nvSpPr>
      <dsp:spPr>
        <a:xfrm>
          <a:off x="0" y="0"/>
          <a:ext cx="1681599" cy="1681599"/>
        </a:xfrm>
        <a:prstGeom prst="rect">
          <a:avLst/>
        </a:prstGeom>
        <a:blipFill>
          <a:blip xmlns:r="http://schemas.openxmlformats.org/officeDocument/2006/relationships" r:embed="rId1"/>
          <a:srcRect/>
          <a:stretch>
            <a:fillRect t="-19000" b="-19000"/>
          </a:stretch>
        </a:blipFill>
        <a:ln>
          <a:noFill/>
        </a:ln>
        <a:effectLst/>
      </dsp:spPr>
      <dsp:style>
        <a:lnRef idx="0">
          <a:scrgbClr r="0" g="0" b="0"/>
        </a:lnRef>
        <a:fillRef idx="3">
          <a:scrgbClr r="0" g="0" b="0"/>
        </a:fillRef>
        <a:effectRef idx="2">
          <a:scrgbClr r="0" g="0" b="0"/>
        </a:effectRef>
        <a:fontRef idx="minor">
          <a:schemeClr val="lt1"/>
        </a:fontRef>
      </dsp:style>
    </dsp:sp>
    <dsp:sp modelId="{A7A04871-B391-45BD-82B1-D48F401B2BC5}">
      <dsp:nvSpPr>
        <dsp:cNvPr id="0" name=""/>
        <dsp:cNvSpPr/>
      </dsp:nvSpPr>
      <dsp:spPr>
        <a:xfrm>
          <a:off x="1861599" y="0"/>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Initial Cost Comparison</a:t>
          </a:r>
        </a:p>
      </dsp:txBody>
      <dsp:txXfrm>
        <a:off x="1861599" y="0"/>
        <a:ext cx="5167674" cy="346182"/>
      </dsp:txXfrm>
    </dsp:sp>
    <dsp:sp modelId="{4D276C51-BACD-41F0-9DF0-96F7AE103C4E}">
      <dsp:nvSpPr>
        <dsp:cNvPr id="0" name=""/>
        <dsp:cNvSpPr/>
      </dsp:nvSpPr>
      <dsp:spPr>
        <a:xfrm>
          <a:off x="1861599" y="346182"/>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Assess the upfront purchase prices for desktops and laptops to understand budget requirements.</a:t>
          </a:r>
        </a:p>
      </dsp:txBody>
      <dsp:txXfrm>
        <a:off x="1861599" y="346182"/>
        <a:ext cx="5167674" cy="1335417"/>
      </dsp:txXfrm>
    </dsp:sp>
    <dsp:sp modelId="{03695890-833D-42DD-A337-D22B004FB93D}">
      <dsp:nvSpPr>
        <dsp:cNvPr id="0" name=""/>
        <dsp:cNvSpPr/>
      </dsp:nvSpPr>
      <dsp:spPr>
        <a:xfrm>
          <a:off x="0" y="1813824"/>
          <a:ext cx="1681599" cy="1681599"/>
        </a:xfrm>
        <a:prstGeom prst="rect">
          <a:avLst/>
        </a:prstGeom>
        <a:blipFill>
          <a:blip xmlns:r="http://schemas.openxmlformats.org/officeDocument/2006/relationships" r:embed="rId2"/>
          <a:srcRect/>
          <a:stretch>
            <a:fillRect l="-39000" r="-39000"/>
          </a:stretch>
        </a:blipFill>
        <a:ln>
          <a:noFill/>
        </a:ln>
        <a:effectLst/>
      </dsp:spPr>
      <dsp:style>
        <a:lnRef idx="0">
          <a:scrgbClr r="0" g="0" b="0"/>
        </a:lnRef>
        <a:fillRef idx="3">
          <a:scrgbClr r="0" g="0" b="0"/>
        </a:fillRef>
        <a:effectRef idx="2">
          <a:scrgbClr r="0" g="0" b="0"/>
        </a:effectRef>
        <a:fontRef idx="minor">
          <a:schemeClr val="lt1"/>
        </a:fontRef>
      </dsp:style>
    </dsp:sp>
    <dsp:sp modelId="{11FFC393-4A8C-4EDC-8730-0F49A7189AC3}">
      <dsp:nvSpPr>
        <dsp:cNvPr id="0" name=""/>
        <dsp:cNvSpPr/>
      </dsp:nvSpPr>
      <dsp:spPr>
        <a:xfrm>
          <a:off x="1861599" y="1816127"/>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Lifespan and Durability</a:t>
          </a:r>
        </a:p>
      </dsp:txBody>
      <dsp:txXfrm>
        <a:off x="1861599" y="1816127"/>
        <a:ext cx="5167674" cy="346182"/>
      </dsp:txXfrm>
    </dsp:sp>
    <dsp:sp modelId="{97FBEA08-6766-440E-BDFA-EDD0BA18F2D2}">
      <dsp:nvSpPr>
        <dsp:cNvPr id="0" name=""/>
        <dsp:cNvSpPr/>
      </dsp:nvSpPr>
      <dsp:spPr>
        <a:xfrm>
          <a:off x="1861599" y="2162310"/>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Evaluate the expected usage duration and durability of desktops versus laptops.</a:t>
          </a:r>
        </a:p>
      </dsp:txBody>
      <dsp:txXfrm>
        <a:off x="1861599" y="2162310"/>
        <a:ext cx="5167674" cy="1335417"/>
      </dsp:txXfrm>
    </dsp:sp>
    <dsp:sp modelId="{04539E1D-4F2C-4919-8098-F745F9519C02}">
      <dsp:nvSpPr>
        <dsp:cNvPr id="0" name=""/>
        <dsp:cNvSpPr/>
      </dsp:nvSpPr>
      <dsp:spPr>
        <a:xfrm>
          <a:off x="0" y="3632255"/>
          <a:ext cx="1681599" cy="1681599"/>
        </a:xfrm>
        <a:prstGeom prst="rect">
          <a:avLst/>
        </a:prstGeom>
        <a:blipFill>
          <a:blip xmlns:r="http://schemas.openxmlformats.org/officeDocument/2006/relationships" r:embed="rId3"/>
          <a:srcRect/>
          <a:stretch>
            <a:fillRect l="-17000" r="-17000"/>
          </a:stretch>
        </a:blipFill>
        <a:ln>
          <a:noFill/>
        </a:ln>
        <a:effectLst/>
      </dsp:spPr>
      <dsp:style>
        <a:lnRef idx="0">
          <a:scrgbClr r="0" g="0" b="0"/>
        </a:lnRef>
        <a:fillRef idx="3">
          <a:scrgbClr r="0" g="0" b="0"/>
        </a:fillRef>
        <a:effectRef idx="2">
          <a:scrgbClr r="0" g="0" b="0"/>
        </a:effectRef>
        <a:fontRef idx="minor">
          <a:schemeClr val="lt1"/>
        </a:fontRef>
      </dsp:style>
    </dsp:sp>
    <dsp:sp modelId="{8B8DC858-3C9F-4B27-9D90-C4568C534DEA}">
      <dsp:nvSpPr>
        <dsp:cNvPr id="0" name=""/>
        <dsp:cNvSpPr/>
      </dsp:nvSpPr>
      <dsp:spPr>
        <a:xfrm>
          <a:off x="1861599" y="3632255"/>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Maintenance and Upgrades</a:t>
          </a:r>
        </a:p>
      </dsp:txBody>
      <dsp:txXfrm>
        <a:off x="1861599" y="3632255"/>
        <a:ext cx="5167674" cy="346182"/>
      </dsp:txXfrm>
    </dsp:sp>
    <dsp:sp modelId="{792808DB-A924-4DDB-9BAE-229751E65405}">
      <dsp:nvSpPr>
        <dsp:cNvPr id="0" name=""/>
        <dsp:cNvSpPr/>
      </dsp:nvSpPr>
      <dsp:spPr>
        <a:xfrm>
          <a:off x="1861599" y="3978438"/>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Consider maintenance costs and ease of upgrading components over time for both devices.</a:t>
          </a:r>
        </a:p>
      </dsp:txBody>
      <dsp:txXfrm>
        <a:off x="1861599" y="3978438"/>
        <a:ext cx="5167674" cy="13354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43E895-319D-480F-8A26-32BC124D0399}">
      <dsp:nvSpPr>
        <dsp:cNvPr id="0" name=""/>
        <dsp:cNvSpPr/>
      </dsp:nvSpPr>
      <dsp:spPr>
        <a:xfrm>
          <a:off x="0" y="0"/>
          <a:ext cx="5145509" cy="307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Balancing Key Factors</a:t>
          </a:r>
        </a:p>
      </dsp:txBody>
      <dsp:txXfrm>
        <a:off x="0" y="0"/>
        <a:ext cx="5145509" cy="307920"/>
      </dsp:txXfrm>
    </dsp:sp>
    <dsp:sp modelId="{66112092-263D-4FBF-8790-88D917155536}">
      <dsp:nvSpPr>
        <dsp:cNvPr id="0" name=""/>
        <dsp:cNvSpPr/>
      </dsp:nvSpPr>
      <dsp:spPr>
        <a:xfrm>
          <a:off x="0" y="307920"/>
          <a:ext cx="5145509" cy="213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Choosing between laptops and desktops requires balancing performance, portability, cost, and timing for optimal value.</a:t>
          </a:r>
        </a:p>
      </dsp:txBody>
      <dsp:txXfrm>
        <a:off x="0" y="307920"/>
        <a:ext cx="5145509" cy="2135895"/>
      </dsp:txXfrm>
    </dsp:sp>
    <dsp:sp modelId="{041774FA-3E10-4986-91A0-095AD5653A1A}">
      <dsp:nvSpPr>
        <dsp:cNvPr id="0" name=""/>
        <dsp:cNvSpPr/>
      </dsp:nvSpPr>
      <dsp:spPr>
        <a:xfrm>
          <a:off x="5660060" y="0"/>
          <a:ext cx="5145509" cy="307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Understanding Needs</a:t>
          </a:r>
        </a:p>
      </dsp:txBody>
      <dsp:txXfrm>
        <a:off x="5660060" y="0"/>
        <a:ext cx="5145509" cy="307920"/>
      </dsp:txXfrm>
    </dsp:sp>
    <dsp:sp modelId="{4E7EC07A-DD69-4B39-BBB3-51A3FDFEE853}">
      <dsp:nvSpPr>
        <dsp:cNvPr id="0" name=""/>
        <dsp:cNvSpPr/>
      </dsp:nvSpPr>
      <dsp:spPr>
        <a:xfrm>
          <a:off x="5660060" y="307920"/>
          <a:ext cx="5145509" cy="213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Assess your specific needs and constraints to make an informed choice that fits your use case perfectly.</a:t>
          </a:r>
        </a:p>
      </dsp:txBody>
      <dsp:txXfrm>
        <a:off x="5660060" y="307920"/>
        <a:ext cx="5145509" cy="21358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43E895-319D-480F-8A26-32BC124D0399}">
      <dsp:nvSpPr>
        <dsp:cNvPr id="0" name=""/>
        <dsp:cNvSpPr/>
      </dsp:nvSpPr>
      <dsp:spPr>
        <a:xfrm>
          <a:off x="0" y="0"/>
          <a:ext cx="5145509" cy="1679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dirty="0"/>
            <a:t>Reddit – </a:t>
          </a:r>
          <a:r>
            <a:rPr lang="en-US" sz="1600" b="1" kern="1200" dirty="0">
              <a:hlinkClick xmlns:r="http://schemas.openxmlformats.org/officeDocument/2006/relationships" r:id="rId1"/>
            </a:rPr>
            <a:t>r/buildapcsales</a:t>
          </a:r>
          <a:r>
            <a:rPr lang="en-US" sz="1600" b="1" kern="1200" dirty="0"/>
            <a:t> (Best One if a post/deal has more upvotes than downvotes, and the best comments approve)</a:t>
          </a:r>
        </a:p>
        <a:p>
          <a:pPr marL="0" lvl="0" indent="0" algn="l" defTabSz="711200">
            <a:lnSpc>
              <a:spcPct val="100000"/>
            </a:lnSpc>
            <a:spcBef>
              <a:spcPct val="0"/>
            </a:spcBef>
            <a:spcAft>
              <a:spcPct val="35000"/>
            </a:spcAft>
            <a:buNone/>
            <a:defRPr b="1"/>
          </a:pPr>
          <a:r>
            <a:rPr lang="en-US" sz="1800" kern="1200" dirty="0"/>
            <a:t>Woot - </a:t>
          </a:r>
          <a:r>
            <a:rPr lang="en-US" sz="1800" kern="1200" dirty="0">
              <a:hlinkClick xmlns:r="http://schemas.openxmlformats.org/officeDocument/2006/relationships" r:id="rId2"/>
            </a:rPr>
            <a:t>https://www.woot.com/</a:t>
          </a:r>
          <a:r>
            <a:rPr lang="en-US" sz="1800" kern="1200" dirty="0"/>
            <a:t> (Great Used Deals)</a:t>
          </a:r>
        </a:p>
        <a:p>
          <a:pPr marL="0" lvl="0" indent="0" algn="l" defTabSz="711200">
            <a:lnSpc>
              <a:spcPct val="100000"/>
            </a:lnSpc>
            <a:spcBef>
              <a:spcPct val="0"/>
            </a:spcBef>
            <a:spcAft>
              <a:spcPct val="35000"/>
            </a:spcAft>
            <a:buNone/>
            <a:defRPr b="1"/>
          </a:pPr>
          <a:r>
            <a:rPr lang="en-US" sz="1100" kern="1200" dirty="0"/>
            <a:t>Amazon - </a:t>
          </a:r>
          <a:r>
            <a:rPr lang="en-US" sz="1100" kern="1200" dirty="0">
              <a:hlinkClick xmlns:r="http://schemas.openxmlformats.org/officeDocument/2006/relationships" r:id="rId3"/>
            </a:rPr>
            <a:t>https://www.amazon.com/</a:t>
          </a:r>
          <a:r>
            <a:rPr lang="en-US" sz="1100" kern="1200" dirty="0"/>
            <a:t> (Hit or Miss and watch out for the brand)</a:t>
          </a:r>
        </a:p>
        <a:p>
          <a:pPr marL="0" lvl="0" indent="0" algn="l" defTabSz="711200">
            <a:lnSpc>
              <a:spcPct val="100000"/>
            </a:lnSpc>
            <a:spcBef>
              <a:spcPct val="0"/>
            </a:spcBef>
            <a:spcAft>
              <a:spcPct val="35000"/>
            </a:spcAft>
            <a:buNone/>
            <a:defRPr b="1"/>
          </a:pPr>
          <a:endParaRPr lang="en-US" sz="1100" kern="1200" dirty="0"/>
        </a:p>
        <a:p>
          <a:pPr marL="0" lvl="0" indent="0" algn="l" defTabSz="711200">
            <a:lnSpc>
              <a:spcPct val="100000"/>
            </a:lnSpc>
            <a:spcBef>
              <a:spcPct val="0"/>
            </a:spcBef>
            <a:spcAft>
              <a:spcPct val="35000"/>
            </a:spcAft>
            <a:buNone/>
            <a:defRPr b="1"/>
          </a:pPr>
          <a:endParaRPr lang="en-US" sz="1800" kern="1200" dirty="0"/>
        </a:p>
      </dsp:txBody>
      <dsp:txXfrm>
        <a:off x="0" y="0"/>
        <a:ext cx="5145509" cy="1679628"/>
      </dsp:txXfrm>
    </dsp:sp>
    <dsp:sp modelId="{66112092-263D-4FBF-8790-88D917155536}">
      <dsp:nvSpPr>
        <dsp:cNvPr id="0" name=""/>
        <dsp:cNvSpPr/>
      </dsp:nvSpPr>
      <dsp:spPr>
        <a:xfrm>
          <a:off x="0" y="1679628"/>
          <a:ext cx="5145509" cy="752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kern="1200" dirty="0"/>
        </a:p>
      </dsp:txBody>
      <dsp:txXfrm>
        <a:off x="0" y="1679628"/>
        <a:ext cx="5145509" cy="752111"/>
      </dsp:txXfrm>
    </dsp:sp>
    <dsp:sp modelId="{041774FA-3E10-4986-91A0-095AD5653A1A}">
      <dsp:nvSpPr>
        <dsp:cNvPr id="0" name=""/>
        <dsp:cNvSpPr/>
      </dsp:nvSpPr>
      <dsp:spPr>
        <a:xfrm>
          <a:off x="5660060" y="0"/>
          <a:ext cx="5145509" cy="1679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defRPr b="1"/>
          </a:pPr>
          <a:r>
            <a:rPr lang="en-US" sz="1400" kern="1200" dirty="0"/>
            <a:t>Micro-Center Website - </a:t>
          </a:r>
          <a:r>
            <a:rPr lang="en-US" sz="1400" kern="1200" dirty="0">
              <a:hlinkClick xmlns:r="http://schemas.openxmlformats.org/officeDocument/2006/relationships" r:id="rId4"/>
            </a:rPr>
            <a:t>https://www.microcenter.com/</a:t>
          </a:r>
          <a:r>
            <a:rPr lang="en-US" sz="1400" kern="1200" dirty="0"/>
            <a:t> (Amazing)</a:t>
          </a:r>
        </a:p>
        <a:p>
          <a:pPr marL="0" lvl="0" indent="0" algn="l" defTabSz="622300">
            <a:lnSpc>
              <a:spcPct val="100000"/>
            </a:lnSpc>
            <a:spcBef>
              <a:spcPct val="0"/>
            </a:spcBef>
            <a:spcAft>
              <a:spcPct val="35000"/>
            </a:spcAft>
            <a:buNone/>
            <a:defRPr b="1"/>
          </a:pPr>
          <a:r>
            <a:rPr lang="en-US" sz="1600" kern="1200" dirty="0"/>
            <a:t>Newegg - </a:t>
          </a:r>
          <a:r>
            <a:rPr lang="en-US" sz="1600" kern="1200" dirty="0">
              <a:hlinkClick xmlns:r="http://schemas.openxmlformats.org/officeDocument/2006/relationships" r:id="rId5"/>
            </a:rPr>
            <a:t>https://www.newegg.com/</a:t>
          </a:r>
          <a:r>
            <a:rPr lang="en-US" sz="1600" kern="1200" dirty="0"/>
            <a:t> (Hit or Miss)</a:t>
          </a:r>
        </a:p>
        <a:p>
          <a:pPr marL="0" lvl="0" indent="0" algn="l" defTabSz="622300">
            <a:lnSpc>
              <a:spcPct val="100000"/>
            </a:lnSpc>
            <a:spcBef>
              <a:spcPct val="0"/>
            </a:spcBef>
            <a:spcAft>
              <a:spcPct val="35000"/>
            </a:spcAft>
            <a:buNone/>
            <a:defRPr b="1"/>
          </a:pPr>
          <a:r>
            <a:rPr lang="en-US" sz="1600" kern="1200" dirty="0"/>
            <a:t>Costco - </a:t>
          </a:r>
          <a:r>
            <a:rPr lang="en-US" sz="1600" kern="1200" dirty="0">
              <a:hlinkClick xmlns:r="http://schemas.openxmlformats.org/officeDocument/2006/relationships" r:id="rId6"/>
            </a:rPr>
            <a:t>https://www.costco.com/</a:t>
          </a:r>
          <a:r>
            <a:rPr lang="en-US" sz="1600" kern="1200" dirty="0"/>
            <a:t> (Hit or Miss)</a:t>
          </a:r>
        </a:p>
        <a:p>
          <a:pPr marL="0" lvl="0" indent="0" algn="l" defTabSz="622300">
            <a:lnSpc>
              <a:spcPct val="100000"/>
            </a:lnSpc>
            <a:spcBef>
              <a:spcPct val="0"/>
            </a:spcBef>
            <a:spcAft>
              <a:spcPct val="35000"/>
            </a:spcAft>
            <a:buNone/>
            <a:defRPr b="1"/>
          </a:pPr>
          <a:r>
            <a:rPr lang="en-US" sz="1600" kern="1200" dirty="0"/>
            <a:t>Best Buy - </a:t>
          </a:r>
          <a:r>
            <a:rPr lang="en-US" sz="1600" kern="1200" dirty="0">
              <a:hlinkClick xmlns:r="http://schemas.openxmlformats.org/officeDocument/2006/relationships" r:id="rId7"/>
            </a:rPr>
            <a:t>https://www.bestbuy.com/home</a:t>
          </a:r>
          <a:r>
            <a:rPr lang="en-US" sz="1600" kern="1200" dirty="0"/>
            <a:t> (Sometimes)</a:t>
          </a:r>
        </a:p>
        <a:p>
          <a:pPr marL="0" lvl="0" indent="0" algn="l" defTabSz="622300">
            <a:lnSpc>
              <a:spcPct val="100000"/>
            </a:lnSpc>
            <a:spcBef>
              <a:spcPct val="0"/>
            </a:spcBef>
            <a:spcAft>
              <a:spcPct val="35000"/>
            </a:spcAft>
            <a:buNone/>
            <a:defRPr b="1"/>
          </a:pPr>
          <a:r>
            <a:rPr lang="en-US" sz="1400" kern="1200" dirty="0"/>
            <a:t>Walmart - </a:t>
          </a:r>
          <a:r>
            <a:rPr lang="en-US" sz="1400" kern="1200" dirty="0">
              <a:hlinkClick xmlns:r="http://schemas.openxmlformats.org/officeDocument/2006/relationships" r:id="rId8"/>
            </a:rPr>
            <a:t>https://www.walmart.com/</a:t>
          </a:r>
          <a:r>
            <a:rPr lang="en-US" sz="1400" kern="1200" dirty="0"/>
            <a:t> (Low to Medium tier deals)</a:t>
          </a:r>
        </a:p>
        <a:p>
          <a:pPr marL="0" lvl="0" indent="0" algn="l" defTabSz="622300">
            <a:lnSpc>
              <a:spcPct val="100000"/>
            </a:lnSpc>
            <a:spcBef>
              <a:spcPct val="0"/>
            </a:spcBef>
            <a:spcAft>
              <a:spcPct val="35000"/>
            </a:spcAft>
            <a:buNone/>
            <a:defRPr b="1"/>
          </a:pPr>
          <a:endParaRPr lang="en-US" sz="1600" kern="1200" dirty="0"/>
        </a:p>
      </dsp:txBody>
      <dsp:txXfrm>
        <a:off x="5660060" y="0"/>
        <a:ext cx="5145509" cy="1679628"/>
      </dsp:txXfrm>
    </dsp:sp>
    <dsp:sp modelId="{4E7EC07A-DD69-4B39-BBB3-51A3FDFEE853}">
      <dsp:nvSpPr>
        <dsp:cNvPr id="0" name=""/>
        <dsp:cNvSpPr/>
      </dsp:nvSpPr>
      <dsp:spPr>
        <a:xfrm>
          <a:off x="5660060" y="1679628"/>
          <a:ext cx="5145509" cy="752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kern="1200" dirty="0"/>
        </a:p>
      </dsp:txBody>
      <dsp:txXfrm>
        <a:off x="5660060" y="1679628"/>
        <a:ext cx="5145509" cy="752111"/>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CBBFD5-AAC5-4066-81DA-3999877B6A8C}"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A90810-3482-473F-98BF-6F1A97CF2EEF}" type="slidenum">
              <a:rPr lang="en-US" smtClean="0"/>
              <a:t>‹#›</a:t>
            </a:fld>
            <a:endParaRPr lang="en-US"/>
          </a:p>
        </p:txBody>
      </p:sp>
    </p:spTree>
    <p:extLst>
      <p:ext uri="{BB962C8B-B14F-4D97-AF65-F5344CB8AC3E}">
        <p14:creationId xmlns:p14="http://schemas.microsoft.com/office/powerpoint/2010/main" val="3818357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AI-generated content may be incorrect.
---
This presentation explores the decision-making process between choosing laptops or desktops, focusing on delivering the best value based on use cases and time-sensitive needs for purchase and deployment.
</a:t>
            </a:r>
          </a:p>
        </p:txBody>
      </p:sp>
      <p:sp>
        <p:nvSpPr>
          <p:cNvPr id="4" name="Slide Number Placeholder 3"/>
          <p:cNvSpPr>
            <a:spLocks noGrp="1"/>
          </p:cNvSpPr>
          <p:nvPr>
            <p:ph type="sldNum" sz="quarter" idx="5"/>
          </p:nvPr>
        </p:nvSpPr>
        <p:spPr/>
        <p:txBody>
          <a:bodyPr/>
          <a:lstStyle/>
          <a:p>
            <a:fld id="{D5FC8B6E-5F2E-4DAE-9624-1D9A5334CD9F}" type="slidenum">
              <a:rPr lang="en-US" smtClean="0"/>
              <a:t>1</a:t>
            </a:fld>
            <a:endParaRPr lang="en-US"/>
          </a:p>
        </p:txBody>
      </p:sp>
    </p:spTree>
    <p:extLst>
      <p:ext uri="{BB962C8B-B14F-4D97-AF65-F5344CB8AC3E}">
        <p14:creationId xmlns:p14="http://schemas.microsoft.com/office/powerpoint/2010/main" val="1961606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We will cover defining use cases and time constraints, detailed breakdowns of desktops and laptops, a comparative analysis between the two, and conclude with recommendations for making an optimal, timely choice.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2</a:t>
            </a:fld>
            <a:endParaRPr lang="en-US"/>
          </a:p>
        </p:txBody>
      </p:sp>
    </p:spTree>
    <p:extLst>
      <p:ext uri="{BB962C8B-B14F-4D97-AF65-F5344CB8AC3E}">
        <p14:creationId xmlns:p14="http://schemas.microsoft.com/office/powerpoint/2010/main" val="2661920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Understanding the specific user needs and computing scenarios is critical. We will analyze time constraints related to both purchase and deployment and establish evaluation criteria focusing on performance, portability, and cost.</a:t>
            </a:r>
          </a:p>
        </p:txBody>
      </p:sp>
      <p:sp>
        <p:nvSpPr>
          <p:cNvPr id="4" name="Slide Number Placeholder 3"/>
          <p:cNvSpPr>
            <a:spLocks noGrp="1"/>
          </p:cNvSpPr>
          <p:nvPr>
            <p:ph type="sldNum" sz="quarter" idx="5"/>
          </p:nvPr>
        </p:nvSpPr>
        <p:spPr/>
        <p:txBody>
          <a:bodyPr/>
          <a:lstStyle/>
          <a:p>
            <a:fld id="{D5FC8B6E-5F2E-4DAE-9624-1D9A5334CD9F}" type="slidenum">
              <a:rPr lang="en-US" smtClean="0"/>
              <a:t>3</a:t>
            </a:fld>
            <a:endParaRPr lang="en-US"/>
          </a:p>
        </p:txBody>
      </p:sp>
    </p:spTree>
    <p:extLst>
      <p:ext uri="{BB962C8B-B14F-4D97-AF65-F5344CB8AC3E}">
        <p14:creationId xmlns:p14="http://schemas.microsoft.com/office/powerpoint/2010/main" val="1174835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Different users have varying requirements depending on work, gaming, portability, or multimedia needs. Properly identifying these needs helps guide the right machine selection.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4</a:t>
            </a:fld>
            <a:endParaRPr lang="en-US"/>
          </a:p>
        </p:txBody>
      </p:sp>
    </p:spTree>
    <p:extLst>
      <p:ext uri="{BB962C8B-B14F-4D97-AF65-F5344CB8AC3E}">
        <p14:creationId xmlns:p14="http://schemas.microsoft.com/office/powerpoint/2010/main" val="4004190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Time constraints affect how quickly a machine must be sourced and ready for use. This section addresses factors influencing procurement speed and setup time.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5</a:t>
            </a:fld>
            <a:endParaRPr lang="en-US"/>
          </a:p>
        </p:txBody>
      </p:sp>
    </p:spTree>
    <p:extLst>
      <p:ext uri="{BB962C8B-B14F-4D97-AF65-F5344CB8AC3E}">
        <p14:creationId xmlns:p14="http://schemas.microsoft.com/office/powerpoint/2010/main" val="2037410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We establish key criteria such as computing power, ease of transport, and budget considerations to objectively evaluate laptops and desktops under time pressure.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6</a:t>
            </a:fld>
            <a:endParaRPr lang="en-US"/>
          </a:p>
        </p:txBody>
      </p:sp>
    </p:spTree>
    <p:extLst>
      <p:ext uri="{BB962C8B-B14F-4D97-AF65-F5344CB8AC3E}">
        <p14:creationId xmlns:p14="http://schemas.microsoft.com/office/powerpoint/2010/main" val="2595312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We examine desktop core components, their strengths and weaknesses, and identify the best desktop options across different budget ranges.</a:t>
            </a:r>
          </a:p>
        </p:txBody>
      </p:sp>
      <p:sp>
        <p:nvSpPr>
          <p:cNvPr id="4" name="Slide Number Placeholder 3"/>
          <p:cNvSpPr>
            <a:spLocks noGrp="1"/>
          </p:cNvSpPr>
          <p:nvPr>
            <p:ph type="sldNum" sz="quarter" idx="5"/>
          </p:nvPr>
        </p:nvSpPr>
        <p:spPr/>
        <p:txBody>
          <a:bodyPr/>
          <a:lstStyle/>
          <a:p>
            <a:fld id="{D5FC8B6E-5F2E-4DAE-9624-1D9A5334CD9F}" type="slidenum">
              <a:rPr lang="en-US" smtClean="0"/>
              <a:t>7</a:t>
            </a:fld>
            <a:endParaRPr lang="en-US"/>
          </a:p>
        </p:txBody>
      </p:sp>
    </p:spTree>
    <p:extLst>
      <p:ext uri="{BB962C8B-B14F-4D97-AF65-F5344CB8AC3E}">
        <p14:creationId xmlns:p14="http://schemas.microsoft.com/office/powerpoint/2010/main" val="3461374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Desktop systems typically include powerful CPUs, dedicated GPUs, ample RAM, customizable motherboards, large storage options, and robust power supplies enabling high performance.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8</a:t>
            </a:fld>
            <a:endParaRPr lang="en-US"/>
          </a:p>
        </p:txBody>
      </p:sp>
    </p:spTree>
    <p:extLst>
      <p:ext uri="{BB962C8B-B14F-4D97-AF65-F5344CB8AC3E}">
        <p14:creationId xmlns:p14="http://schemas.microsoft.com/office/powerpoint/2010/main" val="13486614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Desktops offer superior performance and upgradeability but lack portability. We'll examine these pros and cons in detail.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9</a:t>
            </a:fld>
            <a:endParaRPr lang="en-US"/>
          </a:p>
        </p:txBody>
      </p:sp>
    </p:spTree>
    <p:extLst>
      <p:ext uri="{BB962C8B-B14F-4D97-AF65-F5344CB8AC3E}">
        <p14:creationId xmlns:p14="http://schemas.microsoft.com/office/powerpoint/2010/main" val="9498556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We review desktop configurations suitable for entry-level, mid-range, and high-end budgets, catering to diverse user needs.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10</a:t>
            </a:fld>
            <a:endParaRPr lang="en-US"/>
          </a:p>
        </p:txBody>
      </p:sp>
    </p:spTree>
    <p:extLst>
      <p:ext uri="{BB962C8B-B14F-4D97-AF65-F5344CB8AC3E}">
        <p14:creationId xmlns:p14="http://schemas.microsoft.com/office/powerpoint/2010/main" val="6007890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Next, we explore laptop components, their benefits and limits, alongside top laptop recommendations tailored for different budgets and requirements.</a:t>
            </a:r>
          </a:p>
        </p:txBody>
      </p:sp>
      <p:sp>
        <p:nvSpPr>
          <p:cNvPr id="4" name="Slide Number Placeholder 3"/>
          <p:cNvSpPr>
            <a:spLocks noGrp="1"/>
          </p:cNvSpPr>
          <p:nvPr>
            <p:ph type="sldNum" sz="quarter" idx="5"/>
          </p:nvPr>
        </p:nvSpPr>
        <p:spPr/>
        <p:txBody>
          <a:bodyPr/>
          <a:lstStyle/>
          <a:p>
            <a:fld id="{D5FC8B6E-5F2E-4DAE-9624-1D9A5334CD9F}" type="slidenum">
              <a:rPr lang="en-US" smtClean="0"/>
              <a:t>11</a:t>
            </a:fld>
            <a:endParaRPr lang="en-US"/>
          </a:p>
        </p:txBody>
      </p:sp>
    </p:spTree>
    <p:extLst>
      <p:ext uri="{BB962C8B-B14F-4D97-AF65-F5344CB8AC3E}">
        <p14:creationId xmlns:p14="http://schemas.microsoft.com/office/powerpoint/2010/main" val="33539829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Laptops integrate mobile CPUs, either integrated or discrete GPUs, RAM, storage, batteries for mobility, and displays—balancing power and portability.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12</a:t>
            </a:fld>
            <a:endParaRPr lang="en-US"/>
          </a:p>
        </p:txBody>
      </p:sp>
    </p:spTree>
    <p:extLst>
      <p:ext uri="{BB962C8B-B14F-4D97-AF65-F5344CB8AC3E}">
        <p14:creationId xmlns:p14="http://schemas.microsoft.com/office/powerpoint/2010/main" val="27526439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Laptops excel in portability and energy efficiency but might face compromises in raw performance and upgrade options compared to desktops.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13</a:t>
            </a:fld>
            <a:endParaRPr lang="en-US"/>
          </a:p>
        </p:txBody>
      </p:sp>
    </p:spTree>
    <p:extLst>
      <p:ext uri="{BB962C8B-B14F-4D97-AF65-F5344CB8AC3E}">
        <p14:creationId xmlns:p14="http://schemas.microsoft.com/office/powerpoint/2010/main" val="20583016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We present laptop models optimized for budget constraints, professional use, gaming, and ultramobility, helping users find the right fit.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14</a:t>
            </a:fld>
            <a:endParaRPr lang="en-US"/>
          </a:p>
        </p:txBody>
      </p:sp>
    </p:spTree>
    <p:extLst>
      <p:ext uri="{BB962C8B-B14F-4D97-AF65-F5344CB8AC3E}">
        <p14:creationId xmlns:p14="http://schemas.microsoft.com/office/powerpoint/2010/main" val="4530677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This section compares desktops and laptops head-to-head on performance, portability, and cost-benefit to inform balanced decisions.</a:t>
            </a:r>
          </a:p>
        </p:txBody>
      </p:sp>
      <p:sp>
        <p:nvSpPr>
          <p:cNvPr id="4" name="Slide Number Placeholder 3"/>
          <p:cNvSpPr>
            <a:spLocks noGrp="1"/>
          </p:cNvSpPr>
          <p:nvPr>
            <p:ph type="sldNum" sz="quarter" idx="5"/>
          </p:nvPr>
        </p:nvSpPr>
        <p:spPr/>
        <p:txBody>
          <a:bodyPr/>
          <a:lstStyle/>
          <a:p>
            <a:fld id="{D5FC8B6E-5F2E-4DAE-9624-1D9A5334CD9F}" type="slidenum">
              <a:rPr lang="en-US" smtClean="0"/>
              <a:t>15</a:t>
            </a:fld>
            <a:endParaRPr lang="en-US"/>
          </a:p>
        </p:txBody>
      </p:sp>
    </p:spTree>
    <p:extLst>
      <p:ext uri="{BB962C8B-B14F-4D97-AF65-F5344CB8AC3E}">
        <p14:creationId xmlns:p14="http://schemas.microsoft.com/office/powerpoint/2010/main" val="19987954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We analyze how desktops and laptops perform in scenarios like gaming, content creation, general productivity, and portability-demanding tasks.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16</a:t>
            </a:fld>
            <a:endParaRPr lang="en-US"/>
          </a:p>
        </p:txBody>
      </p:sp>
    </p:spTree>
    <p:extLst>
      <p:ext uri="{BB962C8B-B14F-4D97-AF65-F5344CB8AC3E}">
        <p14:creationId xmlns:p14="http://schemas.microsoft.com/office/powerpoint/2010/main" val="32033497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Portability is a strength of laptops, while desktops provide convenience in upgrade and repair. This slide explores these factors.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17</a:t>
            </a:fld>
            <a:endParaRPr lang="en-US"/>
          </a:p>
        </p:txBody>
      </p:sp>
    </p:spTree>
    <p:extLst>
      <p:ext uri="{BB962C8B-B14F-4D97-AF65-F5344CB8AC3E}">
        <p14:creationId xmlns:p14="http://schemas.microsoft.com/office/powerpoint/2010/main" val="35533737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Consideration of initial cost, lifespan, maintenance, and potential upgrades impacts the overall value proposition of desktops versus laptops.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18</a:t>
            </a:fld>
            <a:endParaRPr lang="en-US"/>
          </a:p>
        </p:txBody>
      </p:sp>
    </p:spTree>
    <p:extLst>
      <p:ext uri="{BB962C8B-B14F-4D97-AF65-F5344CB8AC3E}">
        <p14:creationId xmlns:p14="http://schemas.microsoft.com/office/powerpoint/2010/main" val="24398199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Finally, we provide practical guidelines to choose the ideal machine based on priorities, quick-purchase tips under tight timelines, and highlight best value picks.</a:t>
            </a:r>
          </a:p>
        </p:txBody>
      </p:sp>
      <p:sp>
        <p:nvSpPr>
          <p:cNvPr id="4" name="Slide Number Placeholder 3"/>
          <p:cNvSpPr>
            <a:spLocks noGrp="1"/>
          </p:cNvSpPr>
          <p:nvPr>
            <p:ph type="sldNum" sz="quarter" idx="5"/>
          </p:nvPr>
        </p:nvSpPr>
        <p:spPr/>
        <p:txBody>
          <a:bodyPr/>
          <a:lstStyle/>
          <a:p>
            <a:fld id="{D5FC8B6E-5F2E-4DAE-9624-1D9A5334CD9F}" type="slidenum">
              <a:rPr lang="en-US" smtClean="0"/>
              <a:t>19</a:t>
            </a:fld>
            <a:endParaRPr lang="en-US"/>
          </a:p>
        </p:txBody>
      </p:sp>
    </p:spTree>
    <p:extLst>
      <p:ext uri="{BB962C8B-B14F-4D97-AF65-F5344CB8AC3E}">
        <p14:creationId xmlns:p14="http://schemas.microsoft.com/office/powerpoint/2010/main" val="21725568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Recommendations depend on whether performance, portability, cost, or rapid deployment is most critical to the user’s context.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20</a:t>
            </a:fld>
            <a:endParaRPr lang="en-US"/>
          </a:p>
        </p:txBody>
      </p:sp>
    </p:spTree>
    <p:extLst>
      <p:ext uri="{BB962C8B-B14F-4D97-AF65-F5344CB8AC3E}">
        <p14:creationId xmlns:p14="http://schemas.microsoft.com/office/powerpoint/2010/main" val="34953256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We suggest strategies to expedite purchase decisions and deployment, including relying on pre-configured models and trusted vendors.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21</a:t>
            </a:fld>
            <a:endParaRPr lang="en-US"/>
          </a:p>
        </p:txBody>
      </p:sp>
    </p:spTree>
    <p:extLst>
      <p:ext uri="{BB962C8B-B14F-4D97-AF65-F5344CB8AC3E}">
        <p14:creationId xmlns:p14="http://schemas.microsoft.com/office/powerpoint/2010/main" val="10806358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summarizes top laptop and desktop models that deliver the best value for typical use cases under time constraints.
Image source: Microsoft 365 content library
</a:t>
            </a:r>
          </a:p>
        </p:txBody>
      </p:sp>
      <p:sp>
        <p:nvSpPr>
          <p:cNvPr id="4" name="Slide Number Placeholder 3"/>
          <p:cNvSpPr>
            <a:spLocks noGrp="1"/>
          </p:cNvSpPr>
          <p:nvPr>
            <p:ph type="sldNum" sz="quarter" idx="5"/>
          </p:nvPr>
        </p:nvSpPr>
        <p:spPr/>
        <p:txBody>
          <a:bodyPr/>
          <a:lstStyle/>
          <a:p>
            <a:fld id="{D5FC8B6E-5F2E-4DAE-9624-1D9A5334CD9F}" type="slidenum">
              <a:rPr lang="en-US" smtClean="0"/>
              <a:t>22</a:t>
            </a:fld>
            <a:endParaRPr lang="en-US"/>
          </a:p>
        </p:txBody>
      </p:sp>
    </p:spTree>
    <p:extLst>
      <p:ext uri="{BB962C8B-B14F-4D97-AF65-F5344CB8AC3E}">
        <p14:creationId xmlns:p14="http://schemas.microsoft.com/office/powerpoint/2010/main" val="11432881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Choosing between laptops and desktops involves balancing performance, portability, cost, and timing. By understanding your needs and constraints, you can make an informed decision that offers the best value and fits your use case perfectly.</a:t>
            </a:r>
          </a:p>
        </p:txBody>
      </p:sp>
      <p:sp>
        <p:nvSpPr>
          <p:cNvPr id="4" name="Slide Number Placeholder 3"/>
          <p:cNvSpPr>
            <a:spLocks noGrp="1"/>
          </p:cNvSpPr>
          <p:nvPr>
            <p:ph type="sldNum" sz="quarter" idx="5"/>
          </p:nvPr>
        </p:nvSpPr>
        <p:spPr/>
        <p:txBody>
          <a:bodyPr/>
          <a:lstStyle/>
          <a:p>
            <a:fld id="{D5FC8B6E-5F2E-4DAE-9624-1D9A5334CD9F}" type="slidenum">
              <a:rPr lang="en-US" smtClean="0"/>
              <a:t>23</a:t>
            </a:fld>
            <a:endParaRPr lang="en-US"/>
          </a:p>
        </p:txBody>
      </p:sp>
    </p:spTree>
    <p:extLst>
      <p:ext uri="{BB962C8B-B14F-4D97-AF65-F5344CB8AC3E}">
        <p14:creationId xmlns:p14="http://schemas.microsoft.com/office/powerpoint/2010/main" val="19317132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A9D3C-E56A-84A7-6385-6708984DF0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03D158-CE04-B841-5DAD-92A30B7818B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3EDA4CB-E60C-63BF-3C7F-52E38AA78172}"/>
              </a:ext>
            </a:extLst>
          </p:cNvPr>
          <p:cNvSpPr>
            <a:spLocks noGrp="1"/>
          </p:cNvSpPr>
          <p:nvPr>
            <p:ph type="body" idx="1"/>
          </p:nvPr>
        </p:nvSpPr>
        <p:spPr/>
        <p:txBody>
          <a:bodyPr/>
          <a:lstStyle/>
          <a:p>
            <a:r>
              <a:rPr lang="en-US"/>
              <a:t>Choosing between laptops and desktops involves balancing performance, portability, cost, and timing. By understanding your needs and constraints, you can make an informed decision that offers the best value and fits your use case perfectly.</a:t>
            </a:r>
          </a:p>
        </p:txBody>
      </p:sp>
      <p:sp>
        <p:nvSpPr>
          <p:cNvPr id="4" name="Slide Number Placeholder 3">
            <a:extLst>
              <a:ext uri="{FF2B5EF4-FFF2-40B4-BE49-F238E27FC236}">
                <a16:creationId xmlns:a16="http://schemas.microsoft.com/office/drawing/2014/main" id="{E139B827-3404-0FD6-E9C7-0A6DF0040402}"/>
              </a:ext>
            </a:extLst>
          </p:cNvPr>
          <p:cNvSpPr>
            <a:spLocks noGrp="1"/>
          </p:cNvSpPr>
          <p:nvPr>
            <p:ph type="sldNum" sz="quarter" idx="5"/>
          </p:nvPr>
        </p:nvSpPr>
        <p:spPr/>
        <p:txBody>
          <a:bodyPr/>
          <a:lstStyle/>
          <a:p>
            <a:fld id="{D5FC8B6E-5F2E-4DAE-9624-1D9A5334CD9F}" type="slidenum">
              <a:rPr lang="en-US" smtClean="0"/>
              <a:t>24</a:t>
            </a:fld>
            <a:endParaRPr lang="en-US"/>
          </a:p>
        </p:txBody>
      </p:sp>
    </p:spTree>
    <p:extLst>
      <p:ext uri="{BB962C8B-B14F-4D97-AF65-F5344CB8AC3E}">
        <p14:creationId xmlns:p14="http://schemas.microsoft.com/office/powerpoint/2010/main" val="27742031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6444479B-705B-4489-957E-7E8A228BDFA0}" type="datetime1">
              <a:rPr lang="en-US" smtClean="0"/>
              <a:t>11/12/2025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31895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89F774-3FA6-43B8-9241-99959C8FD463}" type="datetime1">
              <a:rPr lang="en-US" smtClean="0"/>
              <a:t>11/12/2025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35926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504452-5DCC-4FE2-A5C9-8A5EF6714D65}" type="datetime1">
              <a:rPr lang="en-US" smtClean="0"/>
              <a:t>11/12/2025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14512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79ABC2-0180-4F3A-A895-A85BC724D472}" type="datetime1">
              <a:rPr lang="en-US" smtClean="0"/>
              <a:t>11/12/2025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57914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EEA9BA-4E8F-439E-BEA4-91FBA01E3F5F}" type="datetime1">
              <a:rPr lang="en-US" smtClean="0"/>
              <a:t>11/12/2025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25871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15BF18-0007-481C-AA29-413124BC3EE7}" type="datetime1">
              <a:rPr lang="en-US" smtClean="0"/>
              <a:t>11/12/2025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82018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E9870-3748-43AD-B547-02A075CB4A1D}" type="datetime1">
              <a:rPr lang="en-US" smtClean="0"/>
              <a:t>11/12/2025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63697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8E7897-33C5-4F1A-9307-D068E37F3DC7}" type="datetime1">
              <a:rPr lang="en-US" smtClean="0"/>
              <a:t>11/12/2025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78599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E171BA-CC09-47C8-A6DF-F5C5CB59CEEC}" type="datetime1">
              <a:rPr lang="en-US" smtClean="0"/>
              <a:t>11/12/2025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79482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11/12/2025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9298345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11/12/2025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6962521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11/12/2025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594852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38F49-B3E2-4BF0-BEC7-C30D34ABBB8D}" type="datetime1">
              <a:rPr lang="en-US" smtClean="0"/>
              <a:t>11/12/2025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9817103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DA38F49-B3E2-4BF0-BEC7-C30D34ABBB8D}" type="datetime1">
              <a:rPr lang="en-US" smtClean="0"/>
              <a:t>11/12/2025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1856542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DA38F49-B3E2-4BF0-BEC7-C30D34ABBB8D}" type="datetime1">
              <a:rPr lang="en-US" smtClean="0"/>
              <a:t>11/12/2025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3037279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7B66AD-7C08-490A-ADA4-B47E10FB2407}" type="datetime1">
              <a:rPr lang="en-US" smtClean="0"/>
              <a:t>11/12/2025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408364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95027-4255-49E7-9841-CD21BCC99996}" type="datetime1">
              <a:rPr lang="en-US" smtClean="0"/>
              <a:t>11/12/2025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10943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DA38F49-B3E2-4BF0-BEC7-C30D34ABBB8D}" type="datetime1">
              <a:rPr lang="en-US" smtClean="0"/>
              <a:t>11/12/2025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2411034115"/>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linktr.ee/yu.2413"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2B6BD-E2ED-A8BA-2DE2-75C492090411}"/>
              </a:ext>
            </a:extLst>
          </p:cNvPr>
          <p:cNvSpPr>
            <a:spLocks noGrp="1"/>
          </p:cNvSpPr>
          <p:nvPr>
            <p:ph type="ctrTitle"/>
          </p:nvPr>
        </p:nvSpPr>
        <p:spPr>
          <a:xfrm>
            <a:off x="1946564" y="1249217"/>
            <a:ext cx="8298873" cy="2258284"/>
          </a:xfrm>
        </p:spPr>
        <p:txBody>
          <a:bodyPr anchor="b">
            <a:normAutofit/>
          </a:bodyPr>
          <a:lstStyle/>
          <a:p>
            <a:pPr algn="ctr">
              <a:lnSpc>
                <a:spcPct val="90000"/>
              </a:lnSpc>
            </a:pPr>
            <a:r>
              <a:rPr lang="en-US" sz="3600" dirty="0"/>
              <a:t>Choosing Your Best Machine: Laptops Vs. Desktops for the Best Value and Use Case Under Various Constraints</a:t>
            </a:r>
          </a:p>
        </p:txBody>
      </p:sp>
      <p:sp>
        <p:nvSpPr>
          <p:cNvPr id="3" name="Subtitle 2">
            <a:extLst>
              <a:ext uri="{FF2B5EF4-FFF2-40B4-BE49-F238E27FC236}">
                <a16:creationId xmlns:a16="http://schemas.microsoft.com/office/drawing/2014/main" id="{49860AB3-753D-751B-3619-17F20444289B}"/>
              </a:ext>
            </a:extLst>
          </p:cNvPr>
          <p:cNvSpPr>
            <a:spLocks noGrp="1"/>
          </p:cNvSpPr>
          <p:nvPr>
            <p:ph type="subTitle" idx="1"/>
          </p:nvPr>
        </p:nvSpPr>
        <p:spPr>
          <a:xfrm>
            <a:off x="1946564" y="3637430"/>
            <a:ext cx="8298873" cy="2135514"/>
          </a:xfrm>
        </p:spPr>
        <p:txBody>
          <a:bodyPr anchor="t">
            <a:normAutofit fontScale="70000" lnSpcReduction="20000"/>
          </a:bodyPr>
          <a:lstStyle/>
          <a:p>
            <a:pPr algn="ctr"/>
            <a:r>
              <a:rPr lang="en-US" sz="2400" dirty="0"/>
              <a:t>By Gary Yu</a:t>
            </a:r>
          </a:p>
          <a:p>
            <a:pPr algn="ctr"/>
            <a:r>
              <a:rPr lang="en-US" sz="2400" dirty="0">
                <a:hlinkClick r:id="rId3"/>
              </a:rPr>
              <a:t>https://linktr.ee/yu.2413</a:t>
            </a:r>
            <a:r>
              <a:rPr lang="en-US" sz="2400" dirty="0"/>
              <a:t> - Link in QR Code</a:t>
            </a:r>
          </a:p>
          <a:p>
            <a:pPr algn="ctr"/>
            <a:r>
              <a:rPr lang="en-US" sz="2400" dirty="0"/>
              <a:t>BA – Economics, and Political Science (Foreign Affairs Focused)</a:t>
            </a:r>
          </a:p>
          <a:p>
            <a:pPr algn="ctr"/>
            <a:r>
              <a:rPr lang="en-US" sz="2400" dirty="0"/>
              <a:t>Future Grad Student (Data Science, ECON or GIS)</a:t>
            </a:r>
          </a:p>
          <a:p>
            <a:pPr algn="ctr"/>
            <a:r>
              <a:rPr lang="en-US" sz="2400" dirty="0">
                <a:solidFill>
                  <a:srgbClr val="FFFF00"/>
                </a:solidFill>
              </a:rPr>
              <a:t>Important: All of this will be on my GitHub Go to my Link tree to find it</a:t>
            </a:r>
          </a:p>
        </p:txBody>
      </p:sp>
      <p:pic>
        <p:nvPicPr>
          <p:cNvPr id="5" name="Picture 4" descr="A qr code with a dinosaur&#10;&#10;AI-generated content may be incorrect.">
            <a:extLst>
              <a:ext uri="{FF2B5EF4-FFF2-40B4-BE49-F238E27FC236}">
                <a16:creationId xmlns:a16="http://schemas.microsoft.com/office/drawing/2014/main" id="{18590290-3168-1999-8ECC-D7A8318D0F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45436" y="2587978"/>
            <a:ext cx="1682044" cy="1682044"/>
          </a:xfrm>
          <a:prstGeom prst="rect">
            <a:avLst/>
          </a:prstGeom>
        </p:spPr>
      </p:pic>
    </p:spTree>
    <p:extLst>
      <p:ext uri="{BB962C8B-B14F-4D97-AF65-F5344CB8AC3E}">
        <p14:creationId xmlns:p14="http://schemas.microsoft.com/office/powerpoint/2010/main" val="20752903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0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1000"/>
                                  </p:stCondLst>
                                  <p:iterate>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7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1000"/>
                                  </p:stCondLst>
                                  <p:iterate>
                                    <p:tmPct val="10000"/>
                                  </p:iterate>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700"/>
                                        <p:tgtEl>
                                          <p:spTgt spid="3">
                                            <p:txEl>
                                              <p:pRg st="4" end="4"/>
                                            </p:txEl>
                                          </p:spTgt>
                                        </p:tgtEl>
                                      </p:cBhvr>
                                    </p:animEffect>
                                  </p:childTnLst>
                                </p:cTn>
                              </p:par>
                              <p:par>
                                <p:cTn id="31" presetID="10" presetClass="entr" presetSubtype="0" fill="hold" grpId="1" nodeType="withEffect">
                                  <p:stCondLst>
                                    <p:cond delay="250"/>
                                  </p:stCondLst>
                                  <p:iterate>
                                    <p:tmPct val="10000"/>
                                  </p:iterate>
                                  <p:childTnLst>
                                    <p:set>
                                      <p:cBhvr>
                                        <p:cTn id="32" dur="1" fill="hold">
                                          <p:stCondLst>
                                            <p:cond delay="0"/>
                                          </p:stCondLst>
                                        </p:cTn>
                                        <p:tgtEl>
                                          <p:spTgt spid="3"/>
                                        </p:tgtEl>
                                        <p:attrNameLst>
                                          <p:attrName>style.visibility</p:attrName>
                                        </p:attrNameLst>
                                      </p:cBhvr>
                                      <p:to>
                                        <p:strVal val="visible"/>
                                      </p:to>
                                    </p:set>
                                    <p:animEffect transition="in" filter="fade">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E8D00-BCB3-99CA-F93E-BC731A9EB8A2}"/>
              </a:ext>
            </a:extLst>
          </p:cNvPr>
          <p:cNvSpPr>
            <a:spLocks noGrp="1"/>
          </p:cNvSpPr>
          <p:nvPr>
            <p:ph type="title"/>
          </p:nvPr>
        </p:nvSpPr>
        <p:spPr>
          <a:xfrm>
            <a:off x="7269904" y="914400"/>
            <a:ext cx="4261104" cy="1097280"/>
          </a:xfrm>
        </p:spPr>
        <p:txBody>
          <a:bodyPr vert="horz" lIns="91440" tIns="45720" rIns="91440" bIns="45720" rtlCol="0" anchor="t">
            <a:normAutofit/>
          </a:bodyPr>
          <a:lstStyle/>
          <a:p>
            <a:r>
              <a:rPr lang="en-US" sz="3600" dirty="0"/>
              <a:t>Table </a:t>
            </a:r>
            <a:r>
              <a:rPr lang="en-US" sz="3600"/>
              <a:t>Of Contents</a:t>
            </a:r>
            <a:endParaRPr lang="en-US" sz="3600" dirty="0"/>
          </a:p>
        </p:txBody>
      </p:sp>
      <p:pic>
        <p:nvPicPr>
          <p:cNvPr id="5" name="Content Placeholder 4" descr="Different types of computer equipment&#10;&#10;AI-generated content may be incorrect.">
            <a:extLst>
              <a:ext uri="{FF2B5EF4-FFF2-40B4-BE49-F238E27FC236}">
                <a16:creationId xmlns:a16="http://schemas.microsoft.com/office/drawing/2014/main" id="{B513B738-1EF3-8DC9-AA56-F5657B177E8D}"/>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2019566" y="2357064"/>
            <a:ext cx="4722282" cy="3541712"/>
          </a:xfrm>
        </p:spPr>
      </p:pic>
      <p:sp>
        <p:nvSpPr>
          <p:cNvPr id="4" name="Content Placeholder 3">
            <a:extLst>
              <a:ext uri="{FF2B5EF4-FFF2-40B4-BE49-F238E27FC236}">
                <a16:creationId xmlns:a16="http://schemas.microsoft.com/office/drawing/2014/main" id="{935CA71C-76F7-53E9-B46E-487F666019CE}"/>
              </a:ext>
            </a:extLst>
          </p:cNvPr>
          <p:cNvSpPr>
            <a:spLocks noGrp="1"/>
          </p:cNvSpPr>
          <p:nvPr>
            <p:ph sz="half" idx="2"/>
            <p:extLst>
              <p:ext uri="{E7BDC344-281C-4309-B0C6-D0EE65EED2A8}">
                <p202:designPr xmlns:p202="http://schemas.microsoft.com/office/powerpoint/2020/02/main">
                  <p202:designTagLst>
                    <p202:designTag name="ARCH:1:CLS" val="BulletedText"/>
                  </p202:designTagLst>
                </p202:designPr>
              </p:ext>
            </p:extLst>
          </p:nvPr>
        </p:nvSpPr>
        <p:spPr>
          <a:xfrm>
            <a:off x="7269905" y="2176036"/>
            <a:ext cx="4261104" cy="4121887"/>
          </a:xfrm>
        </p:spPr>
        <p:txBody>
          <a:bodyPr vert="horz" lIns="91440" tIns="45720" rIns="91440" bIns="45720" rtlCol="0">
            <a:normAutofit fontScale="92500" lnSpcReduction="10000"/>
          </a:bodyPr>
          <a:lstStyle/>
          <a:p>
            <a:r>
              <a:rPr lang="en-US"/>
              <a:t>Defining Use Cases and Time Constraints</a:t>
            </a:r>
          </a:p>
          <a:p>
            <a:r>
              <a:rPr lang="en-US"/>
              <a:t>In-Depth Breakdown: Desktop Computers</a:t>
            </a:r>
          </a:p>
          <a:p>
            <a:r>
              <a:rPr lang="en-US"/>
              <a:t>In-Depth Breakdown: Laptops</a:t>
            </a:r>
          </a:p>
          <a:p>
            <a:r>
              <a:rPr lang="en-US"/>
              <a:t>Comparative Analysis: Desktop Vs. Laptop</a:t>
            </a:r>
          </a:p>
          <a:p>
            <a:r>
              <a:rPr lang="en-US"/>
              <a:t>Recommendations for Optimal Selection</a:t>
            </a:r>
          </a:p>
        </p:txBody>
      </p:sp>
    </p:spTree>
    <p:extLst>
      <p:ext uri="{BB962C8B-B14F-4D97-AF65-F5344CB8AC3E}">
        <p14:creationId xmlns:p14="http://schemas.microsoft.com/office/powerpoint/2010/main" val="195689848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DD0E5-40E6-ED61-E1D6-79E5924B21A0}"/>
              </a:ext>
            </a:extLst>
          </p:cNvPr>
          <p:cNvSpPr>
            <a:spLocks noGrp="1"/>
          </p:cNvSpPr>
          <p:nvPr>
            <p:ph type="ctrTitle"/>
          </p:nvPr>
        </p:nvSpPr>
        <p:spPr>
          <a:xfrm>
            <a:off x="2152695" y="920861"/>
            <a:ext cx="7680960" cy="4631911"/>
          </a:xfrm>
        </p:spPr>
        <p:txBody>
          <a:bodyPr anchor="b">
            <a:normAutofit/>
          </a:bodyPr>
          <a:lstStyle/>
          <a:p>
            <a:r>
              <a:rPr lang="en-US" sz="6500" dirty="0"/>
              <a:t>Defining Use Cases and Time Constraints</a:t>
            </a:r>
          </a:p>
        </p:txBody>
      </p:sp>
    </p:spTree>
    <p:extLst>
      <p:ext uri="{BB962C8B-B14F-4D97-AF65-F5344CB8AC3E}">
        <p14:creationId xmlns:p14="http://schemas.microsoft.com/office/powerpoint/2010/main" val="225231206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C158D-BA39-D06E-7237-BCB14FF9A84E}"/>
              </a:ext>
            </a:extLst>
          </p:cNvPr>
          <p:cNvSpPr>
            <a:spLocks noGrp="1"/>
          </p:cNvSpPr>
          <p:nvPr>
            <p:ph type="title"/>
          </p:nvPr>
        </p:nvSpPr>
        <p:spPr>
          <a:xfrm>
            <a:off x="3965448" y="255639"/>
            <a:ext cx="4261104" cy="1097280"/>
          </a:xfrm>
        </p:spPr>
        <p:txBody>
          <a:bodyPr vert="horz" lIns="91440" tIns="45720" rIns="91440" bIns="45720" rtlCol="0" anchor="t">
            <a:normAutofit/>
          </a:bodyPr>
          <a:lstStyle/>
          <a:p>
            <a:pPr>
              <a:lnSpc>
                <a:spcPct val="90000"/>
              </a:lnSpc>
            </a:pPr>
            <a:r>
              <a:rPr lang="en-US" sz="2500" dirty="0"/>
              <a:t>Understanding User Needs and Computing Scenarios</a:t>
            </a:r>
          </a:p>
        </p:txBody>
      </p:sp>
      <p:pic>
        <p:nvPicPr>
          <p:cNvPr id="5" name="Content Placeholder 4">
            <a:extLst>
              <a:ext uri="{FF2B5EF4-FFF2-40B4-BE49-F238E27FC236}">
                <a16:creationId xmlns:a16="http://schemas.microsoft.com/office/drawing/2014/main" id="{0F99CCA7-3FF6-03C8-F492-0AC3045B11C2}"/>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p:blipFill>
        <p:spPr>
          <a:xfrm>
            <a:off x="822060" y="1600200"/>
            <a:ext cx="6034617" cy="4525963"/>
          </a:xfrm>
        </p:spPr>
      </p:pic>
      <p:sp>
        <p:nvSpPr>
          <p:cNvPr id="4" name="Content Placeholder 3">
            <a:extLst>
              <a:ext uri="{FF2B5EF4-FFF2-40B4-BE49-F238E27FC236}">
                <a16:creationId xmlns:a16="http://schemas.microsoft.com/office/drawing/2014/main" id="{48BC4C77-F7F7-B84A-7095-D4F36DD6E95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69905" y="2176036"/>
            <a:ext cx="4261104" cy="4121887"/>
          </a:xfrm>
        </p:spPr>
        <p:txBody>
          <a:bodyPr>
            <a:normAutofit/>
          </a:bodyPr>
          <a:lstStyle/>
          <a:p>
            <a:pPr marL="0" indent="0">
              <a:spcBef>
                <a:spcPts val="2500"/>
              </a:spcBef>
              <a:buNone/>
            </a:pPr>
            <a:r>
              <a:rPr lang="en-US" sz="1400" b="1" dirty="0"/>
              <a:t>Varied User Requirements</a:t>
            </a:r>
          </a:p>
          <a:p>
            <a:pPr marL="0" lvl="1" indent="0">
              <a:buNone/>
            </a:pPr>
            <a:r>
              <a:rPr lang="en-US" sz="1400" dirty="0"/>
              <a:t>Most personal users have different computing needs based on activities like work, gaming, hobbies, and other various uses.</a:t>
            </a:r>
            <a:br>
              <a:rPr lang="en-US" sz="1400" dirty="0"/>
            </a:br>
            <a:endParaRPr lang="en-US" sz="1400" dirty="0"/>
          </a:p>
          <a:p>
            <a:pPr marL="0" lvl="1" indent="0">
              <a:buNone/>
            </a:pPr>
            <a:r>
              <a:rPr lang="en-US" sz="1400" b="1" dirty="0"/>
              <a:t>Importance of Finding Your User Needs</a:t>
            </a:r>
          </a:p>
          <a:p>
            <a:pPr marL="0" lvl="1" indent="0">
              <a:buNone/>
            </a:pPr>
            <a:r>
              <a:rPr lang="en-US" sz="1400" dirty="0"/>
              <a:t>You wouldn’t want to buy a Honda civic to do long haul shipping, nor would you want a tractor-trailer for Uber. Computers are no different. You don’t want to buy a computer that is underpowered, or a computer with a operating system(OS) you don’t like or are used to.</a:t>
            </a:r>
          </a:p>
          <a:p>
            <a:pPr marL="0" lvl="1" indent="0">
              <a:buNone/>
            </a:pPr>
            <a:endParaRPr lang="en-US" sz="1400" dirty="0"/>
          </a:p>
          <a:p>
            <a:pPr marL="0" lvl="1" indent="0">
              <a:buNone/>
            </a:pPr>
            <a:endParaRPr lang="en-US" sz="1400" dirty="0"/>
          </a:p>
        </p:txBody>
      </p:sp>
    </p:spTree>
    <p:extLst>
      <p:ext uri="{BB962C8B-B14F-4D97-AF65-F5344CB8AC3E}">
        <p14:creationId xmlns:p14="http://schemas.microsoft.com/office/powerpoint/2010/main" val="91378932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83B56-555F-8EAE-F968-C3C62869F164}"/>
              </a:ext>
            </a:extLst>
          </p:cNvPr>
          <p:cNvSpPr>
            <a:spLocks noGrp="1"/>
          </p:cNvSpPr>
          <p:nvPr>
            <p:ph type="title"/>
          </p:nvPr>
        </p:nvSpPr>
        <p:spPr>
          <a:xfrm>
            <a:off x="2767780" y="255638"/>
            <a:ext cx="6501810" cy="1097280"/>
          </a:xfrm>
        </p:spPr>
        <p:txBody>
          <a:bodyPr vert="horz" lIns="91440" tIns="45720" rIns="91440" bIns="45720" rtlCol="0" anchor="t">
            <a:normAutofit/>
          </a:bodyPr>
          <a:lstStyle/>
          <a:p>
            <a:pPr>
              <a:lnSpc>
                <a:spcPct val="90000"/>
              </a:lnSpc>
            </a:pPr>
            <a:r>
              <a:rPr lang="en-US" sz="3400" dirty="0"/>
              <a:t>Analyzing Time Constraints for Purchase and Deployment</a:t>
            </a:r>
          </a:p>
        </p:txBody>
      </p:sp>
      <p:sp>
        <p:nvSpPr>
          <p:cNvPr id="4" name="Content Placeholder 3">
            <a:extLst>
              <a:ext uri="{FF2B5EF4-FFF2-40B4-BE49-F238E27FC236}">
                <a16:creationId xmlns:a16="http://schemas.microsoft.com/office/drawing/2014/main" id="{C5379086-4F87-06F3-ABA1-251DE978082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Autofit/>
          </a:bodyPr>
          <a:lstStyle/>
          <a:p>
            <a:pPr marL="0" indent="0">
              <a:spcBef>
                <a:spcPts val="2500"/>
              </a:spcBef>
              <a:buNone/>
            </a:pPr>
            <a:r>
              <a:rPr lang="en-US" sz="1000" b="1" dirty="0"/>
              <a:t>Impact of Time Constraints</a:t>
            </a:r>
          </a:p>
          <a:p>
            <a:pPr>
              <a:spcBef>
                <a:spcPts val="2500"/>
              </a:spcBef>
            </a:pPr>
            <a:r>
              <a:rPr lang="en-US" sz="1000" dirty="0"/>
              <a:t>Time restrictions determine how fast a machine must be purchased. </a:t>
            </a:r>
          </a:p>
          <a:p>
            <a:pPr>
              <a:spcBef>
                <a:spcPts val="2500"/>
              </a:spcBef>
            </a:pPr>
            <a:r>
              <a:rPr lang="en-US" sz="1000" dirty="0"/>
              <a:t>This can affect everything from price(I can hunt for a good deal longer) all the way to form factor(I wanted a laptop that has my favorite TV show’s design) all the way to give me a computer with these specs at this value to give me any computer with this graphics card. </a:t>
            </a:r>
          </a:p>
          <a:p>
            <a:pPr marL="0" indent="0">
              <a:spcBef>
                <a:spcPts val="2500"/>
              </a:spcBef>
              <a:buNone/>
            </a:pPr>
            <a:r>
              <a:rPr lang="en-US" sz="1000" b="1" dirty="0"/>
              <a:t>Purchasing</a:t>
            </a:r>
            <a:r>
              <a:rPr lang="en-US" sz="1000" dirty="0"/>
              <a:t> </a:t>
            </a:r>
            <a:r>
              <a:rPr lang="en-US" sz="1000" b="1" dirty="0"/>
              <a:t>Factors</a:t>
            </a:r>
          </a:p>
          <a:p>
            <a:pPr>
              <a:spcBef>
                <a:spcPts val="2500"/>
              </a:spcBef>
            </a:pPr>
            <a:r>
              <a:rPr lang="en-US" sz="1000" dirty="0"/>
              <a:t>Price (&lt;499, 500 – 999, 1000 – 1499, 1500 – 2499, 2500 +)</a:t>
            </a:r>
          </a:p>
          <a:p>
            <a:pPr>
              <a:spcBef>
                <a:spcPts val="2500"/>
              </a:spcBef>
            </a:pPr>
            <a:r>
              <a:rPr lang="en-US" sz="1000" dirty="0"/>
              <a:t>Specs</a:t>
            </a:r>
          </a:p>
          <a:p>
            <a:pPr lvl="1">
              <a:spcBef>
                <a:spcPts val="2500"/>
              </a:spcBef>
            </a:pPr>
            <a:r>
              <a:rPr lang="en-US" sz="1000" dirty="0"/>
              <a:t>(laptop vs desktop, build quality, PSU, GPU, CPU, RAM, Motherboard, Storage(NVME SSD Gen 4 vs 5), color, number of ports, upgradability, Wi-Fi 6E vs Wi-Fi 7, PCIe slots or driver bays, brand, eco-system(IOS vs windows/Linux), etc.)</a:t>
            </a:r>
            <a:endParaRPr lang="en-US" sz="1000" b="1" dirty="0"/>
          </a:p>
        </p:txBody>
      </p:sp>
      <p:pic>
        <p:nvPicPr>
          <p:cNvPr id="10" name="Content Placeholder 9" descr="A building with a sign on the front&#10;&#10;AI-generated content may be incorrect.">
            <a:extLst>
              <a:ext uri="{FF2B5EF4-FFF2-40B4-BE49-F238E27FC236}">
                <a16:creationId xmlns:a16="http://schemas.microsoft.com/office/drawing/2014/main" id="{A4105E21-B8B8-BF69-57E5-B9739A95ECD8}"/>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762158" y="2176036"/>
            <a:ext cx="4011243" cy="2864180"/>
          </a:xfrm>
        </p:spPr>
      </p:pic>
    </p:spTree>
    <p:extLst>
      <p:ext uri="{BB962C8B-B14F-4D97-AF65-F5344CB8AC3E}">
        <p14:creationId xmlns:p14="http://schemas.microsoft.com/office/powerpoint/2010/main" val="144651310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2359D-0799-2E10-7C5E-15A465781875}"/>
              </a:ext>
            </a:extLst>
          </p:cNvPr>
          <p:cNvSpPr>
            <a:spLocks noGrp="1"/>
          </p:cNvSpPr>
          <p:nvPr>
            <p:ph type="title"/>
          </p:nvPr>
        </p:nvSpPr>
        <p:spPr>
          <a:xfrm>
            <a:off x="3302000" y="365760"/>
            <a:ext cx="6291472" cy="1097280"/>
          </a:xfrm>
        </p:spPr>
        <p:txBody>
          <a:bodyPr vert="horz" lIns="91440" tIns="45720" rIns="91440" bIns="45720" rtlCol="0" anchor="t">
            <a:normAutofit fontScale="90000"/>
          </a:bodyPr>
          <a:lstStyle/>
          <a:p>
            <a:pPr>
              <a:lnSpc>
                <a:spcPct val="90000"/>
              </a:lnSpc>
            </a:pPr>
            <a:r>
              <a:rPr lang="en-US" sz="3100" dirty="0"/>
              <a:t>Establishing Evaluation Criteria: Performance, Portability, and Cost</a:t>
            </a:r>
          </a:p>
        </p:txBody>
      </p:sp>
      <p:sp>
        <p:nvSpPr>
          <p:cNvPr id="4" name="Content Placeholder 3">
            <a:extLst>
              <a:ext uri="{FF2B5EF4-FFF2-40B4-BE49-F238E27FC236}">
                <a16:creationId xmlns:a16="http://schemas.microsoft.com/office/drawing/2014/main" id="{4F3E988C-1013-C207-8C8E-826FA3BB588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1819656"/>
            <a:ext cx="6291472" cy="4123944"/>
          </a:xfrm>
        </p:spPr>
        <p:txBody>
          <a:bodyPr>
            <a:normAutofit/>
          </a:bodyPr>
          <a:lstStyle/>
          <a:p>
            <a:pPr marL="0" indent="0">
              <a:spcBef>
                <a:spcPts val="2500"/>
              </a:spcBef>
              <a:buNone/>
            </a:pPr>
            <a:r>
              <a:rPr lang="en-US" sz="1400" b="1" dirty="0"/>
              <a:t>Performance</a:t>
            </a:r>
          </a:p>
          <a:p>
            <a:pPr marL="0" lvl="1" indent="0">
              <a:buNone/>
            </a:pPr>
            <a:r>
              <a:rPr lang="en-US" sz="1400" dirty="0"/>
              <a:t>Computing power is essential to evaluate device efficiency and speed for various tasks.</a:t>
            </a:r>
          </a:p>
          <a:p>
            <a:pPr marL="0" indent="0">
              <a:spcBef>
                <a:spcPts val="2500"/>
              </a:spcBef>
              <a:buNone/>
            </a:pPr>
            <a:r>
              <a:rPr lang="en-US" sz="1400" b="1" dirty="0"/>
              <a:t>Portability</a:t>
            </a:r>
          </a:p>
          <a:p>
            <a:pPr marL="0" lvl="1" indent="0">
              <a:buNone/>
            </a:pPr>
            <a:r>
              <a:rPr lang="en-US" sz="1400" dirty="0"/>
              <a:t>Ease of transport helps determine the convenience of carrying laptops or desktops.</a:t>
            </a:r>
          </a:p>
          <a:p>
            <a:pPr marL="0" indent="0">
              <a:spcBef>
                <a:spcPts val="2500"/>
              </a:spcBef>
              <a:buNone/>
            </a:pPr>
            <a:r>
              <a:rPr lang="en-US" sz="1400" b="1" dirty="0"/>
              <a:t>Cost</a:t>
            </a:r>
          </a:p>
          <a:p>
            <a:pPr marL="0" lvl="1" indent="0">
              <a:buNone/>
            </a:pPr>
            <a:r>
              <a:rPr lang="en-US" sz="1400" dirty="0"/>
              <a:t>Budget considerations ensure the device meets financial constraints without sacrificing quality.</a:t>
            </a:r>
          </a:p>
        </p:txBody>
      </p:sp>
      <p:pic>
        <p:nvPicPr>
          <p:cNvPr id="10" name="Content Placeholder 9" descr="A computer with a padlock in the middle&#10;&#10;AI-generated content may be incorrect.">
            <a:extLst>
              <a:ext uri="{FF2B5EF4-FFF2-40B4-BE49-F238E27FC236}">
                <a16:creationId xmlns:a16="http://schemas.microsoft.com/office/drawing/2014/main" id="{60099AA9-4A22-AE5B-D047-EE52BFF94AD4}"/>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121243" y="1916845"/>
            <a:ext cx="4878387" cy="3252258"/>
          </a:xfrm>
        </p:spPr>
      </p:pic>
    </p:spTree>
    <p:extLst>
      <p:ext uri="{BB962C8B-B14F-4D97-AF65-F5344CB8AC3E}">
        <p14:creationId xmlns:p14="http://schemas.microsoft.com/office/powerpoint/2010/main" val="94086622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16365-8F29-7E71-34AC-32F7BE0BDF7A}"/>
              </a:ext>
            </a:extLst>
          </p:cNvPr>
          <p:cNvSpPr>
            <a:spLocks noGrp="1"/>
          </p:cNvSpPr>
          <p:nvPr>
            <p:ph type="ctrTitle"/>
          </p:nvPr>
        </p:nvSpPr>
        <p:spPr>
          <a:xfrm>
            <a:off x="2946072" y="840179"/>
            <a:ext cx="7680960" cy="4631911"/>
          </a:xfrm>
        </p:spPr>
        <p:txBody>
          <a:bodyPr anchor="b">
            <a:normAutofit/>
          </a:bodyPr>
          <a:lstStyle/>
          <a:p>
            <a:r>
              <a:rPr lang="en-US" sz="6500" dirty="0"/>
              <a:t>In-Depth Breakdown: Desktop Computers</a:t>
            </a:r>
          </a:p>
        </p:txBody>
      </p:sp>
    </p:spTree>
    <p:extLst>
      <p:ext uri="{BB962C8B-B14F-4D97-AF65-F5344CB8AC3E}">
        <p14:creationId xmlns:p14="http://schemas.microsoft.com/office/powerpoint/2010/main" val="353096843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A37A6-B4FA-64F2-FFFE-B1F5E753B36A}"/>
              </a:ext>
            </a:extLst>
          </p:cNvPr>
          <p:cNvSpPr>
            <a:spLocks noGrp="1"/>
          </p:cNvSpPr>
          <p:nvPr>
            <p:ph type="title"/>
          </p:nvPr>
        </p:nvSpPr>
        <p:spPr>
          <a:xfrm>
            <a:off x="3793236" y="412955"/>
            <a:ext cx="4306824" cy="1477817"/>
          </a:xfrm>
        </p:spPr>
        <p:txBody>
          <a:bodyPr vert="horz" lIns="91440" tIns="45720" rIns="91440" bIns="45720" rtlCol="0" anchor="t">
            <a:normAutofit/>
          </a:bodyPr>
          <a:lstStyle/>
          <a:p>
            <a:pPr>
              <a:lnSpc>
                <a:spcPct val="90000"/>
              </a:lnSpc>
            </a:pPr>
            <a:r>
              <a:rPr lang="en-US" sz="2500" dirty="0"/>
              <a:t>Core Components: CPU, GPU, RAM, Motherboard, Storage, and Power Supply</a:t>
            </a:r>
          </a:p>
        </p:txBody>
      </p:sp>
      <p:pic>
        <p:nvPicPr>
          <p:cNvPr id="5" name="Content Placeholder 4" descr="A diagram of components for a computer system&#10;&#10;AI-generated content may be incorrect.">
            <a:extLst>
              <a:ext uri="{FF2B5EF4-FFF2-40B4-BE49-F238E27FC236}">
                <a16:creationId xmlns:a16="http://schemas.microsoft.com/office/drawing/2014/main" id="{9C37A9DF-68CA-8FCF-E7D7-4ACFC56841AD}"/>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961464" y="1938757"/>
            <a:ext cx="4985183" cy="3632382"/>
          </a:xfrm>
        </p:spPr>
      </p:pic>
      <p:sp>
        <p:nvSpPr>
          <p:cNvPr id="4" name="Content Placeholder 3">
            <a:extLst>
              <a:ext uri="{FF2B5EF4-FFF2-40B4-BE49-F238E27FC236}">
                <a16:creationId xmlns:a16="http://schemas.microsoft.com/office/drawing/2014/main" id="{6E60DCA4-E917-1085-0CD4-F01ED904C8F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46647" y="1569733"/>
            <a:ext cx="5889161" cy="5288267"/>
          </a:xfrm>
        </p:spPr>
        <p:txBody>
          <a:bodyPr>
            <a:normAutofit/>
          </a:bodyPr>
          <a:lstStyle/>
          <a:p>
            <a:pPr marL="0" indent="0">
              <a:spcBef>
                <a:spcPts val="2500"/>
              </a:spcBef>
              <a:buNone/>
            </a:pPr>
            <a:r>
              <a:rPr lang="en-US" sz="1400" b="1" dirty="0"/>
              <a:t>Central Processing Unit (CPU)</a:t>
            </a:r>
          </a:p>
          <a:p>
            <a:pPr marL="0" lvl="1" indent="0">
              <a:buNone/>
            </a:pPr>
            <a:r>
              <a:rPr lang="en-US" sz="1400" dirty="0"/>
              <a:t>The CPU acts as the computer's brain, executing instructions and managing tasks for overall system performance. An example of a triopoly(Basically, Apple for macOS, and AMD vs Intel for PCs). </a:t>
            </a:r>
          </a:p>
          <a:p>
            <a:pPr marL="0" indent="0">
              <a:spcBef>
                <a:spcPts val="2500"/>
              </a:spcBef>
              <a:buNone/>
            </a:pPr>
            <a:r>
              <a:rPr lang="en-US" sz="1400" b="1" dirty="0"/>
              <a:t>Graphics Processing Unit (GPU)</a:t>
            </a:r>
          </a:p>
          <a:p>
            <a:pPr marL="0" lvl="1" indent="0">
              <a:buNone/>
            </a:pPr>
            <a:r>
              <a:rPr lang="en-US" sz="1400" dirty="0"/>
              <a:t>Dedicated GPUs process complex graphics and visuals, enhancing gaming and multimedia experiences. An example of an Oligopoly (Apple for NVidia, AMD, and Intel are the big three for non-IOS)</a:t>
            </a:r>
          </a:p>
          <a:p>
            <a:pPr marL="0" indent="0">
              <a:spcBef>
                <a:spcPts val="2500"/>
              </a:spcBef>
              <a:buNone/>
            </a:pPr>
            <a:r>
              <a:rPr lang="en-US" sz="1400" b="1" dirty="0"/>
              <a:t>Random Access Memory (RAM)</a:t>
            </a:r>
          </a:p>
          <a:p>
            <a:pPr marL="0" lvl="1" indent="0">
              <a:buNone/>
            </a:pPr>
            <a:r>
              <a:rPr lang="en-US" sz="1400" dirty="0"/>
              <a:t>RAM provides fast temporary data storage, enabling smooth multitasking and faster application access. (EX. 8 vs 16 vs 32 vs 64 vs 128 GB of ram.)</a:t>
            </a:r>
          </a:p>
          <a:p>
            <a:pPr marL="0" indent="0">
              <a:spcBef>
                <a:spcPts val="2500"/>
              </a:spcBef>
              <a:buNone/>
            </a:pPr>
            <a:r>
              <a:rPr lang="en-US" sz="1400" b="1" dirty="0"/>
              <a:t>Motherboard and Power Supply</a:t>
            </a:r>
          </a:p>
          <a:p>
            <a:pPr marL="0" lvl="1" indent="0">
              <a:buNone/>
            </a:pPr>
            <a:r>
              <a:rPr lang="en-US" sz="1400" dirty="0"/>
              <a:t>The motherboard connects all components, while the power supply delivers stable electricity to the system. Brands include MSI, ASUS, Gigabyte, and </a:t>
            </a:r>
            <a:r>
              <a:rPr lang="en-US" sz="1400" dirty="0" err="1"/>
              <a:t>Asrock</a:t>
            </a:r>
            <a:r>
              <a:rPr lang="en-US" sz="1400" dirty="0"/>
              <a:t>.</a:t>
            </a:r>
          </a:p>
        </p:txBody>
      </p:sp>
    </p:spTree>
    <p:extLst>
      <p:ext uri="{BB962C8B-B14F-4D97-AF65-F5344CB8AC3E}">
        <p14:creationId xmlns:p14="http://schemas.microsoft.com/office/powerpoint/2010/main" val="2214395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18E87-A308-4858-1908-B5C89C2E1E97}"/>
              </a:ext>
            </a:extLst>
          </p:cNvPr>
          <p:cNvSpPr>
            <a:spLocks noGrp="1"/>
          </p:cNvSpPr>
          <p:nvPr>
            <p:ph type="title"/>
          </p:nvPr>
        </p:nvSpPr>
        <p:spPr>
          <a:xfrm>
            <a:off x="3227070" y="329381"/>
            <a:ext cx="5737859" cy="1097280"/>
          </a:xfrm>
        </p:spPr>
        <p:txBody>
          <a:bodyPr vert="horz" lIns="91440" tIns="45720" rIns="91440" bIns="45720" rtlCol="0" anchor="t">
            <a:normAutofit fontScale="90000"/>
          </a:bodyPr>
          <a:lstStyle/>
          <a:p>
            <a:pPr>
              <a:lnSpc>
                <a:spcPct val="90000"/>
              </a:lnSpc>
            </a:pPr>
            <a:r>
              <a:rPr lang="en-US" sz="3400" dirty="0"/>
              <a:t>Advantages and Disadvantages of Desktops</a:t>
            </a:r>
          </a:p>
        </p:txBody>
      </p:sp>
      <p:pic>
        <p:nvPicPr>
          <p:cNvPr id="5" name="Content Placeholder 4" descr="A computer tower with a keyboard and mouse">
            <a:extLst>
              <a:ext uri="{FF2B5EF4-FFF2-40B4-BE49-F238E27FC236}">
                <a16:creationId xmlns:a16="http://schemas.microsoft.com/office/drawing/2014/main" id="{D1306B68-3A92-694F-94C5-E94485EC1BA6}"/>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7291388" y="1980406"/>
            <a:ext cx="4114800" cy="4114800"/>
          </a:xfrm>
        </p:spPr>
      </p:pic>
      <p:sp>
        <p:nvSpPr>
          <p:cNvPr id="4" name="Content Placeholder 3">
            <a:extLst>
              <a:ext uri="{FF2B5EF4-FFF2-40B4-BE49-F238E27FC236}">
                <a16:creationId xmlns:a16="http://schemas.microsoft.com/office/drawing/2014/main" id="{9E16F6F0-B647-0DD3-7DC3-47D68EAC787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050215" y="2626513"/>
            <a:ext cx="5737860" cy="3666980"/>
          </a:xfrm>
        </p:spPr>
        <p:txBody>
          <a:bodyPr>
            <a:normAutofit/>
          </a:bodyPr>
          <a:lstStyle/>
          <a:p>
            <a:pPr marL="0" indent="0">
              <a:spcBef>
                <a:spcPts val="2500"/>
              </a:spcBef>
              <a:buNone/>
            </a:pPr>
            <a:r>
              <a:rPr lang="en-US" sz="1400" b="1" dirty="0"/>
              <a:t>Superior Performance</a:t>
            </a:r>
          </a:p>
          <a:p>
            <a:pPr marL="0" lvl="1" indent="0">
              <a:buNone/>
            </a:pPr>
            <a:r>
              <a:rPr lang="en-US" sz="1400" dirty="0"/>
              <a:t>Desktops generally provide higher processing power and better performance for demanding tasks compared to portable devices.</a:t>
            </a:r>
          </a:p>
          <a:p>
            <a:pPr marL="0" indent="0">
              <a:spcBef>
                <a:spcPts val="2500"/>
              </a:spcBef>
              <a:buNone/>
            </a:pPr>
            <a:r>
              <a:rPr lang="en-US" sz="1400" b="1" dirty="0"/>
              <a:t>Upgradeability</a:t>
            </a:r>
          </a:p>
          <a:p>
            <a:pPr marL="0" lvl="1" indent="0">
              <a:buNone/>
            </a:pPr>
            <a:r>
              <a:rPr lang="en-US" sz="1400" dirty="0"/>
              <a:t>Desktops allow easy hardware upgrades, enabling users to enhance memory, storage, and graphics capabilities over time.</a:t>
            </a:r>
          </a:p>
          <a:p>
            <a:pPr marL="0" indent="0">
              <a:spcBef>
                <a:spcPts val="2500"/>
              </a:spcBef>
              <a:buNone/>
            </a:pPr>
            <a:r>
              <a:rPr lang="en-US" sz="1400" b="1" dirty="0"/>
              <a:t>Lack of Portability</a:t>
            </a:r>
          </a:p>
          <a:p>
            <a:pPr marL="0" lvl="1" indent="0">
              <a:buNone/>
            </a:pPr>
            <a:r>
              <a:rPr lang="en-US" sz="1400" dirty="0"/>
              <a:t>Due to their size and design, desktops are not portable, limiting their use to fixed locations.</a:t>
            </a:r>
          </a:p>
        </p:txBody>
      </p:sp>
    </p:spTree>
    <p:extLst>
      <p:ext uri="{BB962C8B-B14F-4D97-AF65-F5344CB8AC3E}">
        <p14:creationId xmlns:p14="http://schemas.microsoft.com/office/powerpoint/2010/main" val="375677647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54E92-6A9C-F709-1D55-9D7417C61723}"/>
              </a:ext>
            </a:extLst>
          </p:cNvPr>
          <p:cNvSpPr>
            <a:spLocks noGrp="1"/>
          </p:cNvSpPr>
          <p:nvPr>
            <p:ph type="title"/>
          </p:nvPr>
        </p:nvSpPr>
        <p:spPr>
          <a:xfrm>
            <a:off x="640080" y="914400"/>
            <a:ext cx="3412998" cy="1839433"/>
          </a:xfrm>
        </p:spPr>
        <p:txBody>
          <a:bodyPr>
            <a:normAutofit/>
          </a:bodyPr>
          <a:lstStyle/>
          <a:p>
            <a:pPr>
              <a:lnSpc>
                <a:spcPct val="90000"/>
              </a:lnSpc>
            </a:pPr>
            <a:r>
              <a:rPr lang="en-US" sz="3100"/>
              <a:t>Best Desktop Options at Various Price Points</a:t>
            </a:r>
          </a:p>
        </p:txBody>
      </p:sp>
      <p:graphicFrame>
        <p:nvGraphicFramePr>
          <p:cNvPr id="4" name="Content Placeholder 4">
            <a:extLst>
              <a:ext uri="{FF2B5EF4-FFF2-40B4-BE49-F238E27FC236}">
                <a16:creationId xmlns:a16="http://schemas.microsoft.com/office/drawing/2014/main" id="{82497554-87B1-4B5F-A02A-045728CB0602}"/>
              </a:ext>
            </a:extLst>
          </p:cNvPr>
          <p:cNvGraphicFramePr>
            <a:graphicFrameLocks noGrp="1"/>
          </p:cNvGraphicFramePr>
          <p:nvPr>
            <p:ph idx="1"/>
            <p:extLst>
              <p:ext uri="{D42A27DB-BD31-4B8C-83A1-F6EECF244321}">
                <p14:modId xmlns:p14="http://schemas.microsoft.com/office/powerpoint/2010/main" val="2562871576"/>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632670" y="1014984"/>
          <a:ext cx="7029274" cy="53146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430868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71F9F-0903-94CF-51C2-CBEED300B425}"/>
              </a:ext>
            </a:extLst>
          </p:cNvPr>
          <p:cNvSpPr>
            <a:spLocks noGrp="1"/>
          </p:cNvSpPr>
          <p:nvPr>
            <p:ph type="ctrTitle"/>
          </p:nvPr>
        </p:nvSpPr>
        <p:spPr>
          <a:xfrm>
            <a:off x="2683854" y="786391"/>
            <a:ext cx="7680960" cy="4631911"/>
          </a:xfrm>
        </p:spPr>
        <p:txBody>
          <a:bodyPr anchor="b">
            <a:normAutofit/>
          </a:bodyPr>
          <a:lstStyle/>
          <a:p>
            <a:r>
              <a:rPr lang="en-US" sz="6500" dirty="0"/>
              <a:t>In-Depth Breakdown: Laptops</a:t>
            </a:r>
          </a:p>
        </p:txBody>
      </p:sp>
    </p:spTree>
    <p:extLst>
      <p:ext uri="{BB962C8B-B14F-4D97-AF65-F5344CB8AC3E}">
        <p14:creationId xmlns:p14="http://schemas.microsoft.com/office/powerpoint/2010/main" val="327237013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42F21-E132-2E6B-CAA8-7219F0BB7289}"/>
              </a:ext>
            </a:extLst>
          </p:cNvPr>
          <p:cNvSpPr>
            <a:spLocks noGrp="1"/>
          </p:cNvSpPr>
          <p:nvPr>
            <p:ph type="title"/>
          </p:nvPr>
        </p:nvSpPr>
        <p:spPr>
          <a:xfrm>
            <a:off x="922468" y="914401"/>
            <a:ext cx="4306824" cy="1477817"/>
          </a:xfrm>
        </p:spPr>
        <p:txBody>
          <a:bodyPr vert="horz" lIns="91440" tIns="45720" rIns="91440" bIns="45720" rtlCol="0" anchor="t">
            <a:normAutofit/>
          </a:bodyPr>
          <a:lstStyle/>
          <a:p>
            <a:pPr>
              <a:lnSpc>
                <a:spcPct val="90000"/>
              </a:lnSpc>
            </a:pPr>
            <a:r>
              <a:rPr lang="en-US" sz="2500" dirty="0"/>
              <a:t>Core Components: Mobile CPU, Integrated/Discrete GPU, RAM, Storage, Battery, and Display</a:t>
            </a:r>
          </a:p>
        </p:txBody>
      </p:sp>
      <p:pic>
        <p:nvPicPr>
          <p:cNvPr id="5" name="Content Placeholder 4" descr="A magnifying glass next to a word&#10;&#10;AI-generated content may be incorrect.">
            <a:extLst>
              <a:ext uri="{FF2B5EF4-FFF2-40B4-BE49-F238E27FC236}">
                <a16:creationId xmlns:a16="http://schemas.microsoft.com/office/drawing/2014/main" id="{681ED08B-7552-7731-EC31-3FE293D0000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922468" y="2392218"/>
            <a:ext cx="4500435" cy="2250217"/>
          </a:xfrm>
        </p:spPr>
      </p:pic>
      <p:sp>
        <p:nvSpPr>
          <p:cNvPr id="4" name="Content Placeholder 3">
            <a:extLst>
              <a:ext uri="{FF2B5EF4-FFF2-40B4-BE49-F238E27FC236}">
                <a16:creationId xmlns:a16="http://schemas.microsoft.com/office/drawing/2014/main" id="{6EDF52DE-A8FA-2A3D-08C5-146B0252BFF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dirty="0"/>
              <a:t>Mobile CPU Functionality</a:t>
            </a:r>
          </a:p>
          <a:p>
            <a:pPr marL="0" lvl="1" indent="0">
              <a:buNone/>
            </a:pPr>
            <a:r>
              <a:rPr lang="en-US" sz="1400" dirty="0"/>
              <a:t>Mobile CPUs provide the processing power needed for laptop performance while optimizing battery life.</a:t>
            </a:r>
          </a:p>
          <a:p>
            <a:pPr marL="0" indent="0">
              <a:spcBef>
                <a:spcPts val="2500"/>
              </a:spcBef>
              <a:buNone/>
            </a:pPr>
            <a:r>
              <a:rPr lang="en-US" sz="1400" b="1" dirty="0"/>
              <a:t>Integrated and Discrete GPUs</a:t>
            </a:r>
          </a:p>
          <a:p>
            <a:pPr marL="0" lvl="1" indent="0">
              <a:buNone/>
            </a:pPr>
            <a:r>
              <a:rPr lang="en-US" sz="1400" dirty="0"/>
              <a:t>Laptops use integrated or discrete GPUs for graphics rendering, balancing performance and energy efficiency.</a:t>
            </a:r>
          </a:p>
          <a:p>
            <a:pPr marL="0" indent="0">
              <a:spcBef>
                <a:spcPts val="2500"/>
              </a:spcBef>
              <a:buNone/>
            </a:pPr>
            <a:r>
              <a:rPr lang="en-US" sz="1400" b="1" dirty="0"/>
              <a:t>RAM and Storage Components</a:t>
            </a:r>
          </a:p>
          <a:p>
            <a:pPr marL="0" lvl="1" indent="0">
              <a:buNone/>
            </a:pPr>
            <a:r>
              <a:rPr lang="en-US" sz="1400" dirty="0"/>
              <a:t>RAM enables multitasking, while storage holds data and applications for quick access in laptops.</a:t>
            </a:r>
          </a:p>
          <a:p>
            <a:pPr marL="0" indent="0">
              <a:spcBef>
                <a:spcPts val="2500"/>
              </a:spcBef>
              <a:buNone/>
            </a:pPr>
            <a:r>
              <a:rPr lang="en-US" sz="1400" b="1" dirty="0"/>
              <a:t>Battery and Display Importance</a:t>
            </a:r>
          </a:p>
          <a:p>
            <a:pPr marL="0" lvl="1" indent="0">
              <a:buNone/>
            </a:pPr>
            <a:r>
              <a:rPr lang="en-US" sz="1400" dirty="0"/>
              <a:t>Batteries provide mobility and displays offer user interaction with clear visuals and power efficiency.</a:t>
            </a:r>
          </a:p>
        </p:txBody>
      </p:sp>
    </p:spTree>
    <p:extLst>
      <p:ext uri="{BB962C8B-B14F-4D97-AF65-F5344CB8AC3E}">
        <p14:creationId xmlns:p14="http://schemas.microsoft.com/office/powerpoint/2010/main" val="246204244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589F-2D3D-4B7D-7433-9D46089CC03A}"/>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Advantages and Disadvantages of Laptops</a:t>
            </a:r>
          </a:p>
        </p:txBody>
      </p:sp>
      <p:pic>
        <p:nvPicPr>
          <p:cNvPr id="5" name="Content Placeholder 4" descr="A group of laptops on a purple surface">
            <a:extLst>
              <a:ext uri="{FF2B5EF4-FFF2-40B4-BE49-F238E27FC236}">
                <a16:creationId xmlns:a16="http://schemas.microsoft.com/office/drawing/2014/main" id="{E7546640-8031-4C01-A7B3-5EF85740E75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728829" y="2353907"/>
            <a:ext cx="4300371" cy="2150185"/>
          </a:xfrm>
        </p:spPr>
      </p:pic>
      <p:sp>
        <p:nvSpPr>
          <p:cNvPr id="4" name="Content Placeholder 3">
            <a:extLst>
              <a:ext uri="{FF2B5EF4-FFF2-40B4-BE49-F238E27FC236}">
                <a16:creationId xmlns:a16="http://schemas.microsoft.com/office/drawing/2014/main" id="{E4FDAA3A-0E57-ADDD-13B9-08F41263117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Portability and Energy Efficiency</a:t>
            </a:r>
          </a:p>
          <a:p>
            <a:pPr marL="0" lvl="1" indent="0">
              <a:buNone/>
            </a:pPr>
            <a:r>
              <a:rPr lang="en-US" sz="1400"/>
              <a:t>Laptops offer excellent portability and consume less energy, making them ideal for mobile use and extended battery life.</a:t>
            </a:r>
          </a:p>
          <a:p>
            <a:pPr marL="0" indent="0">
              <a:spcBef>
                <a:spcPts val="2500"/>
              </a:spcBef>
              <a:buNone/>
            </a:pPr>
            <a:r>
              <a:rPr lang="en-US" sz="1400" b="1"/>
              <a:t>Performance Limitations</a:t>
            </a:r>
          </a:p>
          <a:p>
            <a:pPr marL="0" lvl="1" indent="0">
              <a:buNone/>
            </a:pPr>
            <a:r>
              <a:rPr lang="en-US" sz="1400"/>
              <a:t>Compared to desktops, laptops may have lower raw performance due to compact hardware design and thermal constraints.</a:t>
            </a:r>
          </a:p>
          <a:p>
            <a:pPr marL="0" indent="0">
              <a:spcBef>
                <a:spcPts val="2500"/>
              </a:spcBef>
              <a:buNone/>
            </a:pPr>
            <a:r>
              <a:rPr lang="en-US" sz="1400" b="1"/>
              <a:t>Upgrade Constraints</a:t>
            </a:r>
          </a:p>
          <a:p>
            <a:pPr marL="0" lvl="1" indent="0">
              <a:buNone/>
            </a:pPr>
            <a:r>
              <a:rPr lang="en-US" sz="1400"/>
              <a:t>Laptops have limited upgrade options, restricting hardware enhancements compared to desktop computers.</a:t>
            </a:r>
          </a:p>
        </p:txBody>
      </p:sp>
    </p:spTree>
    <p:extLst>
      <p:ext uri="{BB962C8B-B14F-4D97-AF65-F5344CB8AC3E}">
        <p14:creationId xmlns:p14="http://schemas.microsoft.com/office/powerpoint/2010/main" val="261041294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9C2FD-99C7-60BC-AA35-BC71CB67BF13}"/>
              </a:ext>
            </a:extLst>
          </p:cNvPr>
          <p:cNvSpPr>
            <a:spLocks noGrp="1"/>
          </p:cNvSpPr>
          <p:nvPr>
            <p:ph type="title"/>
          </p:nvPr>
        </p:nvSpPr>
        <p:spPr>
          <a:xfrm>
            <a:off x="640080" y="914401"/>
            <a:ext cx="4306824" cy="1477817"/>
          </a:xfrm>
        </p:spPr>
        <p:txBody>
          <a:bodyPr vert="horz" lIns="91440" tIns="45720" rIns="91440" bIns="45720" rtlCol="0" anchor="t">
            <a:normAutofit/>
          </a:bodyPr>
          <a:lstStyle/>
          <a:p>
            <a:pPr>
              <a:lnSpc>
                <a:spcPct val="90000"/>
              </a:lnSpc>
            </a:pPr>
            <a:r>
              <a:rPr lang="en-US" sz="3100"/>
              <a:t>Best Laptop Choices for Different Budgets and Needs</a:t>
            </a:r>
          </a:p>
        </p:txBody>
      </p:sp>
      <p:pic>
        <p:nvPicPr>
          <p:cNvPr id="5" name="Content Placeholder 4" descr="A group of people sitting at computers&#10;&#10;AI-generated content may be incorrect.">
            <a:extLst>
              <a:ext uri="{FF2B5EF4-FFF2-40B4-BE49-F238E27FC236}">
                <a16:creationId xmlns:a16="http://schemas.microsoft.com/office/drawing/2014/main" id="{B5D00C6D-C069-A861-C677-6C50996483E3}"/>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114612" y="2390496"/>
            <a:ext cx="4527236" cy="2537242"/>
          </a:xfrm>
        </p:spPr>
      </p:pic>
      <p:sp>
        <p:nvSpPr>
          <p:cNvPr id="4" name="Content Placeholder 3">
            <a:extLst>
              <a:ext uri="{FF2B5EF4-FFF2-40B4-BE49-F238E27FC236}">
                <a16:creationId xmlns:a16="http://schemas.microsoft.com/office/drawing/2014/main" id="{A2147B58-6197-8C6A-C980-C377840BF3C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a:t>Budget-Friendly Laptops</a:t>
            </a:r>
          </a:p>
          <a:p>
            <a:pPr marL="0" lvl="1" indent="0">
              <a:buNone/>
            </a:pPr>
            <a:r>
              <a:rPr lang="en-US" sz="1400"/>
              <a:t>Affordable laptops that offer essential features and good performance for everyday tasks and basic computing needs.</a:t>
            </a:r>
          </a:p>
          <a:p>
            <a:pPr marL="0" indent="0">
              <a:spcBef>
                <a:spcPts val="2500"/>
              </a:spcBef>
              <a:buNone/>
            </a:pPr>
            <a:r>
              <a:rPr lang="en-US" sz="1400" b="1"/>
              <a:t>Professional Use Laptops</a:t>
            </a:r>
          </a:p>
          <a:p>
            <a:pPr marL="0" lvl="1" indent="0">
              <a:buNone/>
            </a:pPr>
            <a:r>
              <a:rPr lang="en-US" sz="1400"/>
              <a:t>High-performance laptops designed for business professionals focusing on productivity, reliability, and multitasking.</a:t>
            </a:r>
          </a:p>
          <a:p>
            <a:pPr marL="0" indent="0">
              <a:spcBef>
                <a:spcPts val="2500"/>
              </a:spcBef>
              <a:buNone/>
            </a:pPr>
            <a:r>
              <a:rPr lang="en-US" sz="1400" b="1"/>
              <a:t>Gaming Laptops</a:t>
            </a:r>
          </a:p>
          <a:p>
            <a:pPr marL="0" lvl="1" indent="0">
              <a:buNone/>
            </a:pPr>
            <a:r>
              <a:rPr lang="en-US" sz="1400"/>
              <a:t>Powerful laptops equipped with advanced graphics and cooling systems for immersive gaming experiences.</a:t>
            </a:r>
          </a:p>
          <a:p>
            <a:pPr marL="0" indent="0">
              <a:spcBef>
                <a:spcPts val="2500"/>
              </a:spcBef>
              <a:buNone/>
            </a:pPr>
            <a:r>
              <a:rPr lang="en-US" sz="1400" b="1"/>
              <a:t>Ultramobile Laptops</a:t>
            </a:r>
          </a:p>
          <a:p>
            <a:pPr marL="0" lvl="1" indent="0">
              <a:buNone/>
            </a:pPr>
            <a:r>
              <a:rPr lang="en-US" sz="1400"/>
              <a:t>Lightweight and portable laptops designed for users who prioritize mobility and long battery life.</a:t>
            </a:r>
          </a:p>
        </p:txBody>
      </p:sp>
    </p:spTree>
    <p:extLst>
      <p:ext uri="{BB962C8B-B14F-4D97-AF65-F5344CB8AC3E}">
        <p14:creationId xmlns:p14="http://schemas.microsoft.com/office/powerpoint/2010/main" val="49675728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0D122-94EF-3C8C-20F7-8BBF41631F87}"/>
              </a:ext>
            </a:extLst>
          </p:cNvPr>
          <p:cNvSpPr>
            <a:spLocks noGrp="1"/>
          </p:cNvSpPr>
          <p:nvPr>
            <p:ph type="ctrTitle"/>
          </p:nvPr>
        </p:nvSpPr>
        <p:spPr>
          <a:xfrm>
            <a:off x="2401466" y="860350"/>
            <a:ext cx="7680960" cy="4631911"/>
          </a:xfrm>
        </p:spPr>
        <p:txBody>
          <a:bodyPr anchor="b">
            <a:normAutofit/>
          </a:bodyPr>
          <a:lstStyle/>
          <a:p>
            <a:r>
              <a:rPr lang="en-US" sz="6500" dirty="0"/>
              <a:t>Comparative Analysis: Desktop Vs. Laptop</a:t>
            </a:r>
          </a:p>
        </p:txBody>
      </p:sp>
    </p:spTree>
    <p:extLst>
      <p:ext uri="{BB962C8B-B14F-4D97-AF65-F5344CB8AC3E}">
        <p14:creationId xmlns:p14="http://schemas.microsoft.com/office/powerpoint/2010/main" val="71869423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AA799-7308-3470-5244-BCCF3AFC5D11}"/>
              </a:ext>
            </a:extLst>
          </p:cNvPr>
          <p:cNvSpPr>
            <a:spLocks noGrp="1"/>
          </p:cNvSpPr>
          <p:nvPr>
            <p:ph type="title"/>
          </p:nvPr>
        </p:nvSpPr>
        <p:spPr>
          <a:xfrm>
            <a:off x="640080" y="914401"/>
            <a:ext cx="4306824" cy="1477817"/>
          </a:xfrm>
        </p:spPr>
        <p:txBody>
          <a:bodyPr vert="horz" lIns="91440" tIns="45720" rIns="91440" bIns="45720" rtlCol="0" anchor="t">
            <a:normAutofit/>
          </a:bodyPr>
          <a:lstStyle/>
          <a:p>
            <a:pPr>
              <a:lnSpc>
                <a:spcPct val="90000"/>
              </a:lnSpc>
            </a:pPr>
            <a:r>
              <a:rPr lang="en-US" sz="3100"/>
              <a:t>Performance Comparison Across Use Cases</a:t>
            </a:r>
          </a:p>
        </p:txBody>
      </p:sp>
      <p:pic>
        <p:nvPicPr>
          <p:cNvPr id="5" name="Content Placeholder 4" descr="A group of people looking at a computer&#10;&#10;AI-generated content may be incorrect.">
            <a:extLst>
              <a:ext uri="{FF2B5EF4-FFF2-40B4-BE49-F238E27FC236}">
                <a16:creationId xmlns:a16="http://schemas.microsoft.com/office/drawing/2014/main" id="{71C82CB1-012A-0AA9-D294-7CBC964D4143}"/>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337982" y="2284572"/>
            <a:ext cx="4176759" cy="2785898"/>
          </a:xfrm>
        </p:spPr>
      </p:pic>
      <p:sp>
        <p:nvSpPr>
          <p:cNvPr id="4" name="Content Placeholder 3">
            <a:extLst>
              <a:ext uri="{FF2B5EF4-FFF2-40B4-BE49-F238E27FC236}">
                <a16:creationId xmlns:a16="http://schemas.microsoft.com/office/drawing/2014/main" id="{77D15E58-2997-9A64-C3FD-3921381CC8F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a:t>Gaming Performance</a:t>
            </a:r>
          </a:p>
          <a:p>
            <a:pPr marL="0" lvl="1" indent="0">
              <a:buNone/>
            </a:pPr>
            <a:r>
              <a:rPr lang="en-US" sz="1400"/>
              <a:t>Desktops generally offer higher performance for gaming due to better cooling and powerful hardware.</a:t>
            </a:r>
          </a:p>
          <a:p>
            <a:pPr marL="0" indent="0">
              <a:spcBef>
                <a:spcPts val="2500"/>
              </a:spcBef>
              <a:buNone/>
            </a:pPr>
            <a:r>
              <a:rPr lang="en-US" sz="1400" b="1"/>
              <a:t>Content Creation</a:t>
            </a:r>
          </a:p>
          <a:p>
            <a:pPr marL="0" lvl="1" indent="0">
              <a:buNone/>
            </a:pPr>
            <a:r>
              <a:rPr lang="en-US" sz="1400"/>
              <a:t>Both desktops and laptops support content creation, but desktops often provide faster processing and larger displays.</a:t>
            </a:r>
          </a:p>
          <a:p>
            <a:pPr marL="0" indent="0">
              <a:spcBef>
                <a:spcPts val="2500"/>
              </a:spcBef>
              <a:buNone/>
            </a:pPr>
            <a:r>
              <a:rPr lang="en-US" sz="1400" b="1"/>
              <a:t>General Productivity</a:t>
            </a:r>
          </a:p>
          <a:p>
            <a:pPr marL="0" lvl="1" indent="0">
              <a:buNone/>
            </a:pPr>
            <a:r>
              <a:rPr lang="en-US" sz="1400"/>
              <a:t>Laptops offer convenience and portability for general productivity tasks without sacrificing essential performance.</a:t>
            </a:r>
          </a:p>
          <a:p>
            <a:pPr marL="0" indent="0">
              <a:spcBef>
                <a:spcPts val="2500"/>
              </a:spcBef>
              <a:buNone/>
            </a:pPr>
            <a:r>
              <a:rPr lang="en-US" sz="1400" b="1"/>
              <a:t>Portability Tasks</a:t>
            </a:r>
          </a:p>
          <a:p>
            <a:pPr marL="0" lvl="1" indent="0">
              <a:buNone/>
            </a:pPr>
            <a:r>
              <a:rPr lang="en-US" sz="1400"/>
              <a:t>Laptops excel in portability-demanding tasks, enabling work on the go with lightweight designs.</a:t>
            </a:r>
          </a:p>
        </p:txBody>
      </p:sp>
    </p:spTree>
    <p:extLst>
      <p:ext uri="{BB962C8B-B14F-4D97-AF65-F5344CB8AC3E}">
        <p14:creationId xmlns:p14="http://schemas.microsoft.com/office/powerpoint/2010/main" val="177891039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5169E-146D-2D0B-5A43-9C7A36E7AC27}"/>
              </a:ext>
            </a:extLst>
          </p:cNvPr>
          <p:cNvSpPr>
            <a:spLocks noGrp="1"/>
          </p:cNvSpPr>
          <p:nvPr>
            <p:ph type="title"/>
          </p:nvPr>
        </p:nvSpPr>
        <p:spPr>
          <a:xfrm>
            <a:off x="1070385" y="921123"/>
            <a:ext cx="4261104" cy="1097280"/>
          </a:xfrm>
        </p:spPr>
        <p:txBody>
          <a:bodyPr vert="horz" lIns="91440" tIns="45720" rIns="91440" bIns="45720" rtlCol="0" anchor="t">
            <a:normAutofit fontScale="90000"/>
          </a:bodyPr>
          <a:lstStyle/>
          <a:p>
            <a:r>
              <a:rPr lang="en-US" sz="3300" dirty="0"/>
              <a:t>Portability and Convenience Factors</a:t>
            </a:r>
          </a:p>
        </p:txBody>
      </p:sp>
      <p:pic>
        <p:nvPicPr>
          <p:cNvPr id="10" name="Content Placeholder 9" descr="Several devices in the dirt&#10;&#10;AI-generated content may be incorrect.">
            <a:extLst>
              <a:ext uri="{FF2B5EF4-FFF2-40B4-BE49-F238E27FC236}">
                <a16:creationId xmlns:a16="http://schemas.microsoft.com/office/drawing/2014/main" id="{CEFC3180-E16B-6BD6-1EA3-E20AFB6FD445}"/>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5572125" y="1809974"/>
            <a:ext cx="4878388" cy="2849114"/>
          </a:xfrm>
        </p:spPr>
      </p:pic>
      <p:sp>
        <p:nvSpPr>
          <p:cNvPr id="4" name="Content Placeholder 3">
            <a:extLst>
              <a:ext uri="{FF2B5EF4-FFF2-40B4-BE49-F238E27FC236}">
                <a16:creationId xmlns:a16="http://schemas.microsoft.com/office/drawing/2014/main" id="{DDBAB234-3033-95BC-1167-CCA9F37BD6D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070385" y="2018403"/>
            <a:ext cx="4261104" cy="4121887"/>
          </a:xfrm>
        </p:spPr>
        <p:txBody>
          <a:bodyPr>
            <a:normAutofit/>
          </a:bodyPr>
          <a:lstStyle/>
          <a:p>
            <a:pPr marL="0" indent="0">
              <a:spcBef>
                <a:spcPts val="2500"/>
              </a:spcBef>
              <a:buNone/>
            </a:pPr>
            <a:r>
              <a:rPr lang="en-US" sz="1400" b="1" dirty="0"/>
              <a:t>Laptop Portability</a:t>
            </a:r>
          </a:p>
          <a:p>
            <a:pPr marL="0" lvl="1" indent="0">
              <a:buNone/>
            </a:pPr>
            <a:r>
              <a:rPr lang="en-US" sz="1400" dirty="0"/>
              <a:t>Laptops are easy to carry and use on the go, providing mobility and convenience for users.</a:t>
            </a:r>
          </a:p>
          <a:p>
            <a:pPr marL="0" indent="0">
              <a:spcBef>
                <a:spcPts val="2500"/>
              </a:spcBef>
              <a:buNone/>
            </a:pPr>
            <a:r>
              <a:rPr lang="en-US" sz="1400" b="1" dirty="0"/>
              <a:t>Desktop Convenience</a:t>
            </a:r>
          </a:p>
          <a:p>
            <a:pPr marL="0" lvl="1" indent="0">
              <a:buNone/>
            </a:pPr>
            <a:r>
              <a:rPr lang="en-US" sz="1400" dirty="0"/>
              <a:t>Desktops offer easier upgrades and repairs due to accessible components and modular design.</a:t>
            </a:r>
          </a:p>
        </p:txBody>
      </p:sp>
    </p:spTree>
    <p:extLst>
      <p:ext uri="{BB962C8B-B14F-4D97-AF65-F5344CB8AC3E}">
        <p14:creationId xmlns:p14="http://schemas.microsoft.com/office/powerpoint/2010/main" val="352854198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0418A-A26A-1420-3B8E-3A0151802AAD}"/>
              </a:ext>
            </a:extLst>
          </p:cNvPr>
          <p:cNvSpPr>
            <a:spLocks noGrp="1"/>
          </p:cNvSpPr>
          <p:nvPr>
            <p:ph type="title"/>
          </p:nvPr>
        </p:nvSpPr>
        <p:spPr>
          <a:xfrm>
            <a:off x="976257" y="874059"/>
            <a:ext cx="3412998" cy="1839433"/>
          </a:xfrm>
        </p:spPr>
        <p:txBody>
          <a:bodyPr>
            <a:normAutofit fontScale="90000"/>
          </a:bodyPr>
          <a:lstStyle/>
          <a:p>
            <a:r>
              <a:rPr lang="en-US" sz="3300" dirty="0"/>
              <a:t>Cost-Benefit Analysis and Long-Term Value</a:t>
            </a:r>
          </a:p>
        </p:txBody>
      </p:sp>
      <p:graphicFrame>
        <p:nvGraphicFramePr>
          <p:cNvPr id="4" name="Content Placeholder 4">
            <a:extLst>
              <a:ext uri="{FF2B5EF4-FFF2-40B4-BE49-F238E27FC236}">
                <a16:creationId xmlns:a16="http://schemas.microsoft.com/office/drawing/2014/main" id="{A61FC51B-ECD3-474F-B171-25BC36D1461C}"/>
              </a:ext>
            </a:extLst>
          </p:cNvPr>
          <p:cNvGraphicFramePr>
            <a:graphicFrameLocks noGrp="1"/>
          </p:cNvGraphicFramePr>
          <p:nvPr>
            <p:ph idx="1"/>
            <p:extLst>
              <p:ext uri="{D42A27DB-BD31-4B8C-83A1-F6EECF244321}">
                <p14:modId xmlns:p14="http://schemas.microsoft.com/office/powerpoint/2010/main" val="261546984"/>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632670" y="1014984"/>
          <a:ext cx="7029274" cy="53146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descr="A screenshot of a computer list&#10;&#10;AI-generated content may be incorrect.">
            <a:extLst>
              <a:ext uri="{FF2B5EF4-FFF2-40B4-BE49-F238E27FC236}">
                <a16:creationId xmlns:a16="http://schemas.microsoft.com/office/drawing/2014/main" id="{85507A05-CE55-4E4F-AB88-DB3438B5CD3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6504" y="2615325"/>
            <a:ext cx="3825167" cy="2151657"/>
          </a:xfrm>
          <a:prstGeom prst="rect">
            <a:avLst/>
          </a:prstGeom>
        </p:spPr>
      </p:pic>
    </p:spTree>
    <p:extLst>
      <p:ext uri="{BB962C8B-B14F-4D97-AF65-F5344CB8AC3E}">
        <p14:creationId xmlns:p14="http://schemas.microsoft.com/office/powerpoint/2010/main" val="246272827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3E14B-E82A-9A1E-118D-8CF2F5A72DC6}"/>
              </a:ext>
            </a:extLst>
          </p:cNvPr>
          <p:cNvSpPr>
            <a:spLocks noGrp="1"/>
          </p:cNvSpPr>
          <p:nvPr>
            <p:ph type="ctrTitle"/>
          </p:nvPr>
        </p:nvSpPr>
        <p:spPr>
          <a:xfrm>
            <a:off x="2193036" y="887244"/>
            <a:ext cx="7680960" cy="4631911"/>
          </a:xfrm>
        </p:spPr>
        <p:txBody>
          <a:bodyPr anchor="b">
            <a:normAutofit/>
          </a:bodyPr>
          <a:lstStyle/>
          <a:p>
            <a:r>
              <a:rPr lang="en-US" sz="6500" dirty="0"/>
              <a:t>Recommendations for Optimal Selection</a:t>
            </a:r>
          </a:p>
        </p:txBody>
      </p:sp>
    </p:spTree>
    <p:extLst>
      <p:ext uri="{BB962C8B-B14F-4D97-AF65-F5344CB8AC3E}">
        <p14:creationId xmlns:p14="http://schemas.microsoft.com/office/powerpoint/2010/main" val="152501918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3AAC3-C17F-5E31-3956-433C8CB8E6D3}"/>
              </a:ext>
            </a:extLst>
          </p:cNvPr>
          <p:cNvSpPr>
            <a:spLocks noGrp="1"/>
          </p:cNvSpPr>
          <p:nvPr>
            <p:ph type="title"/>
          </p:nvPr>
        </p:nvSpPr>
        <p:spPr>
          <a:xfrm>
            <a:off x="640080" y="914401"/>
            <a:ext cx="4306824" cy="1477817"/>
          </a:xfrm>
        </p:spPr>
        <p:txBody>
          <a:bodyPr vert="horz" lIns="91440" tIns="45720" rIns="91440" bIns="45720" rtlCol="0" anchor="t">
            <a:normAutofit/>
          </a:bodyPr>
          <a:lstStyle/>
          <a:p>
            <a:pPr>
              <a:lnSpc>
                <a:spcPct val="90000"/>
              </a:lnSpc>
            </a:pPr>
            <a:r>
              <a:rPr lang="en-US" sz="3100"/>
              <a:t>Guidelines for Choosing Based on User Priorities</a:t>
            </a:r>
          </a:p>
        </p:txBody>
      </p:sp>
      <p:pic>
        <p:nvPicPr>
          <p:cNvPr id="8" name="Content Placeholder 7" descr="A hand writing on a white board&#10;&#10;AI-generated content may be incorrect.">
            <a:extLst>
              <a:ext uri="{FF2B5EF4-FFF2-40B4-BE49-F238E27FC236}">
                <a16:creationId xmlns:a16="http://schemas.microsoft.com/office/drawing/2014/main" id="{A1FDB617-D400-8276-FDFD-0B70CABF8416}"/>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763461" y="2241759"/>
            <a:ext cx="4878387" cy="2683112"/>
          </a:xfrm>
        </p:spPr>
      </p:pic>
      <p:sp>
        <p:nvSpPr>
          <p:cNvPr id="4" name="Content Placeholder 3">
            <a:extLst>
              <a:ext uri="{FF2B5EF4-FFF2-40B4-BE49-F238E27FC236}">
                <a16:creationId xmlns:a16="http://schemas.microsoft.com/office/drawing/2014/main" id="{98E1A34B-5521-0899-379C-E403516B552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a:t>Performance Priority</a:t>
            </a:r>
          </a:p>
          <a:p>
            <a:pPr marL="0" lvl="1" indent="0">
              <a:buNone/>
            </a:pPr>
            <a:r>
              <a:rPr lang="en-US" sz="1400"/>
              <a:t>Choose solutions optimized for high performance when speed and efficiency are critical.</a:t>
            </a:r>
          </a:p>
          <a:p>
            <a:pPr marL="0" indent="0">
              <a:spcBef>
                <a:spcPts val="2500"/>
              </a:spcBef>
              <a:buNone/>
            </a:pPr>
            <a:r>
              <a:rPr lang="en-US" sz="1400" b="1"/>
              <a:t>Portability Priority</a:t>
            </a:r>
          </a:p>
          <a:p>
            <a:pPr marL="0" lvl="1" indent="0">
              <a:buNone/>
            </a:pPr>
            <a:r>
              <a:rPr lang="en-US" sz="1400"/>
              <a:t>Opt for lightweight and compact options when ease of transport matters most.</a:t>
            </a:r>
          </a:p>
          <a:p>
            <a:pPr marL="0" indent="0">
              <a:spcBef>
                <a:spcPts val="2500"/>
              </a:spcBef>
              <a:buNone/>
            </a:pPr>
            <a:r>
              <a:rPr lang="en-US" sz="1400" b="1"/>
              <a:t>Cost Priority</a:t>
            </a:r>
          </a:p>
          <a:p>
            <a:pPr marL="0" lvl="1" indent="0">
              <a:buNone/>
            </a:pPr>
            <a:r>
              <a:rPr lang="en-US" sz="1400"/>
              <a:t>Select cost-effective options to balance budget constraints with required functionality.</a:t>
            </a:r>
          </a:p>
          <a:p>
            <a:pPr marL="0" indent="0">
              <a:spcBef>
                <a:spcPts val="2500"/>
              </a:spcBef>
              <a:buNone/>
            </a:pPr>
            <a:r>
              <a:rPr lang="en-US" sz="1400" b="1"/>
              <a:t>Rapid Deployment Priority</a:t>
            </a:r>
          </a:p>
          <a:p>
            <a:pPr marL="0" lvl="1" indent="0">
              <a:buNone/>
            </a:pPr>
            <a:r>
              <a:rPr lang="en-US" sz="1400"/>
              <a:t>Focus on solutions that enable quick setup and fast implementation.</a:t>
            </a:r>
          </a:p>
        </p:txBody>
      </p:sp>
    </p:spTree>
    <p:extLst>
      <p:ext uri="{BB962C8B-B14F-4D97-AF65-F5344CB8AC3E}">
        <p14:creationId xmlns:p14="http://schemas.microsoft.com/office/powerpoint/2010/main" val="304779954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2433F-7B75-E1DB-2254-4D1AFF4FE216}"/>
              </a:ext>
            </a:extLst>
          </p:cNvPr>
          <p:cNvSpPr>
            <a:spLocks noGrp="1"/>
          </p:cNvSpPr>
          <p:nvPr>
            <p:ph type="title"/>
          </p:nvPr>
        </p:nvSpPr>
        <p:spPr>
          <a:xfrm>
            <a:off x="640079" y="914400"/>
            <a:ext cx="4261104" cy="1097280"/>
          </a:xfrm>
        </p:spPr>
        <p:txBody>
          <a:bodyPr vert="horz" lIns="91440" tIns="45720" rIns="91440" bIns="45720" rtlCol="0" anchor="t">
            <a:normAutofit/>
          </a:bodyPr>
          <a:lstStyle/>
          <a:p>
            <a:pPr>
              <a:lnSpc>
                <a:spcPct val="90000"/>
              </a:lnSpc>
            </a:pPr>
            <a:r>
              <a:rPr lang="en-US" sz="2500"/>
              <a:t>Quick-Purchase Strategies Under Tight Timelines</a:t>
            </a:r>
          </a:p>
        </p:txBody>
      </p:sp>
      <p:pic>
        <p:nvPicPr>
          <p:cNvPr id="7" name="Content Placeholder 6" descr="A clock and note on a yellow background&#10;&#10;AI-generated content may be incorrect.">
            <a:extLst>
              <a:ext uri="{FF2B5EF4-FFF2-40B4-BE49-F238E27FC236}">
                <a16:creationId xmlns:a16="http://schemas.microsoft.com/office/drawing/2014/main" id="{CE0BFD5E-C817-13B6-D6D3-DA53FD13E41D}"/>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5672138" y="1078403"/>
            <a:ext cx="5211762" cy="3470881"/>
          </a:xfrm>
        </p:spPr>
      </p:pic>
      <p:sp>
        <p:nvSpPr>
          <p:cNvPr id="4" name="Content Placeholder 3">
            <a:extLst>
              <a:ext uri="{FF2B5EF4-FFF2-40B4-BE49-F238E27FC236}">
                <a16:creationId xmlns:a16="http://schemas.microsoft.com/office/drawing/2014/main" id="{42BBE2BC-FA1A-67F8-529D-6758CB596A3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79" y="2176036"/>
            <a:ext cx="4261104" cy="4121887"/>
          </a:xfrm>
        </p:spPr>
        <p:txBody>
          <a:bodyPr>
            <a:normAutofit/>
          </a:bodyPr>
          <a:lstStyle/>
          <a:p>
            <a:pPr marL="0" indent="0">
              <a:spcBef>
                <a:spcPts val="2500"/>
              </a:spcBef>
              <a:buNone/>
            </a:pPr>
            <a:r>
              <a:rPr lang="en-US" sz="1400" b="1" dirty="0"/>
              <a:t>Expedited Purchase Decisions</a:t>
            </a:r>
          </a:p>
          <a:p>
            <a:pPr marL="0" lvl="1" indent="0">
              <a:buNone/>
            </a:pPr>
            <a:r>
              <a:rPr lang="en-US" sz="1400" dirty="0"/>
              <a:t>Relying on pre-configured models(Prebuilt) accelerates decision-making and shortens procurement cycles.</a:t>
            </a:r>
          </a:p>
          <a:p>
            <a:pPr marL="0" indent="0">
              <a:spcBef>
                <a:spcPts val="2500"/>
              </a:spcBef>
              <a:buNone/>
            </a:pPr>
            <a:r>
              <a:rPr lang="en-US" sz="1400" b="1" dirty="0"/>
              <a:t>Trusted Vendor Partnerships</a:t>
            </a:r>
          </a:p>
          <a:p>
            <a:pPr marL="0" lvl="1" indent="0">
              <a:buNone/>
            </a:pPr>
            <a:r>
              <a:rPr lang="en-US" sz="1400" dirty="0"/>
              <a:t>Working with trusted vendors ensures quicker deployment and reliable product delivery.</a:t>
            </a:r>
          </a:p>
        </p:txBody>
      </p:sp>
    </p:spTree>
    <p:extLst>
      <p:ext uri="{BB962C8B-B14F-4D97-AF65-F5344CB8AC3E}">
        <p14:creationId xmlns:p14="http://schemas.microsoft.com/office/powerpoint/2010/main" val="283702900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AE47C-59A5-7F0B-F50C-E2EB1226513C}"/>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Highlighting Best Value Picks for Common Scenarios</a:t>
            </a:r>
          </a:p>
        </p:txBody>
      </p:sp>
      <p:pic>
        <p:nvPicPr>
          <p:cNvPr id="5" name="Content Placeholder 4" descr="A screenshot of a phone&#10;&#10;AI-generated content may be incorrect.">
            <a:extLst>
              <a:ext uri="{FF2B5EF4-FFF2-40B4-BE49-F238E27FC236}">
                <a16:creationId xmlns:a16="http://schemas.microsoft.com/office/drawing/2014/main" id="{91049C61-B586-1ECD-2832-FC207F9F6579}"/>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60990" y="2176036"/>
            <a:ext cx="4285563" cy="2580492"/>
          </a:xfrm>
        </p:spPr>
      </p:pic>
      <p:sp>
        <p:nvSpPr>
          <p:cNvPr id="4" name="Content Placeholder 3">
            <a:extLst>
              <a:ext uri="{FF2B5EF4-FFF2-40B4-BE49-F238E27FC236}">
                <a16:creationId xmlns:a16="http://schemas.microsoft.com/office/drawing/2014/main" id="{0A1A718D-7966-5A62-DE13-9F8913FA873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Top Laptop Models</a:t>
            </a:r>
          </a:p>
          <a:p>
            <a:pPr marL="0" lvl="1" indent="0">
              <a:buNone/>
            </a:pPr>
            <a:r>
              <a:rPr lang="en-US" sz="1400"/>
              <a:t>Summarizes laptops that provide excellent value for everyday use under limited time constraints.</a:t>
            </a:r>
          </a:p>
          <a:p>
            <a:pPr marL="0" indent="0">
              <a:spcBef>
                <a:spcPts val="2500"/>
              </a:spcBef>
              <a:buNone/>
            </a:pPr>
            <a:r>
              <a:rPr lang="en-US" sz="1400" b="1"/>
              <a:t>Best Desktop Picks</a:t>
            </a:r>
          </a:p>
          <a:p>
            <a:pPr marL="0" lvl="1" indent="0">
              <a:buNone/>
            </a:pPr>
            <a:r>
              <a:rPr lang="en-US" sz="1400"/>
              <a:t>Highlights desktop computers offering the best performance and value for general scenarios.</a:t>
            </a:r>
          </a:p>
          <a:p>
            <a:pPr marL="0" indent="0">
              <a:spcBef>
                <a:spcPts val="2500"/>
              </a:spcBef>
              <a:buNone/>
            </a:pPr>
            <a:r>
              <a:rPr lang="en-US" sz="1400" b="1"/>
              <a:t>Use Case Efficiency</a:t>
            </a:r>
          </a:p>
          <a:p>
            <a:pPr marL="0" lvl="1" indent="0">
              <a:buNone/>
            </a:pPr>
            <a:r>
              <a:rPr lang="en-US" sz="1400"/>
              <a:t>Focuses on models optimized to handle typical tasks efficiently within limited time frames.</a:t>
            </a:r>
          </a:p>
        </p:txBody>
      </p:sp>
    </p:spTree>
    <p:extLst>
      <p:ext uri="{BB962C8B-B14F-4D97-AF65-F5344CB8AC3E}">
        <p14:creationId xmlns:p14="http://schemas.microsoft.com/office/powerpoint/2010/main" val="3642630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76F7A-31C5-3EB6-B03D-7F69FD190CF8}"/>
              </a:ext>
            </a:extLst>
          </p:cNvPr>
          <p:cNvSpPr>
            <a:spLocks noGrp="1"/>
          </p:cNvSpPr>
          <p:nvPr>
            <p:ph type="title"/>
          </p:nvPr>
        </p:nvSpPr>
        <p:spPr>
          <a:xfrm>
            <a:off x="640079" y="1572768"/>
            <a:ext cx="8162176" cy="1406993"/>
          </a:xfrm>
        </p:spPr>
        <p:txBody>
          <a:bodyPr anchor="b">
            <a:normAutofit/>
          </a:bodyPr>
          <a:lstStyle/>
          <a:p>
            <a:r>
              <a:rPr lang="en-US" sz="6000"/>
              <a:t>Conclusion</a:t>
            </a:r>
          </a:p>
        </p:txBody>
      </p:sp>
      <p:graphicFrame>
        <p:nvGraphicFramePr>
          <p:cNvPr id="11" name="Content Placeholder 2">
            <a:extLst>
              <a:ext uri="{FF2B5EF4-FFF2-40B4-BE49-F238E27FC236}">
                <a16:creationId xmlns:a16="http://schemas.microsoft.com/office/drawing/2014/main" id="{539A71AE-A6D8-66E1-D867-FC1B7BEF4F97}"/>
              </a:ext>
            </a:extLst>
          </p:cNvPr>
          <p:cNvGraphicFramePr>
            <a:graphicFrameLocks noGrp="1"/>
          </p:cNvGraphicFramePr>
          <p:nvPr>
            <p:ph idx="1"/>
            <p:extLst>
              <p:ext uri="{D42A27DB-BD31-4B8C-83A1-F6EECF244321}">
                <p14:modId xmlns:p14="http://schemas.microsoft.com/office/powerpoint/2010/main" val="11250876"/>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40078" y="3593592"/>
          <a:ext cx="10808208"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A qr code with a dinosaur&#10;&#10;AI-generated content may be incorrect.">
            <a:extLst>
              <a:ext uri="{FF2B5EF4-FFF2-40B4-BE49-F238E27FC236}">
                <a16:creationId xmlns:a16="http://schemas.microsoft.com/office/drawing/2014/main" id="{52368901-3C81-44FC-A6FC-0D7C4D386FE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14822" y="1297717"/>
            <a:ext cx="1682044" cy="1682044"/>
          </a:xfrm>
          <a:prstGeom prst="rect">
            <a:avLst/>
          </a:prstGeom>
        </p:spPr>
      </p:pic>
    </p:spTree>
    <p:extLst>
      <p:ext uri="{BB962C8B-B14F-4D97-AF65-F5344CB8AC3E}">
        <p14:creationId xmlns:p14="http://schemas.microsoft.com/office/powerpoint/2010/main" val="382730614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94BBFB-4823-1368-4711-2782E3D21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DDF39-461B-CBDE-C00E-43F2E8DE4EB6}"/>
              </a:ext>
            </a:extLst>
          </p:cNvPr>
          <p:cNvSpPr>
            <a:spLocks noGrp="1"/>
          </p:cNvSpPr>
          <p:nvPr>
            <p:ph type="title"/>
          </p:nvPr>
        </p:nvSpPr>
        <p:spPr>
          <a:xfrm>
            <a:off x="640079" y="1572768"/>
            <a:ext cx="8162176" cy="1406993"/>
          </a:xfrm>
        </p:spPr>
        <p:txBody>
          <a:bodyPr anchor="b">
            <a:normAutofit/>
          </a:bodyPr>
          <a:lstStyle/>
          <a:p>
            <a:r>
              <a:rPr lang="en-US" sz="6000" dirty="0"/>
              <a:t>Computer Deal Links</a:t>
            </a:r>
          </a:p>
        </p:txBody>
      </p:sp>
      <p:graphicFrame>
        <p:nvGraphicFramePr>
          <p:cNvPr id="11" name="Content Placeholder 2">
            <a:extLst>
              <a:ext uri="{FF2B5EF4-FFF2-40B4-BE49-F238E27FC236}">
                <a16:creationId xmlns:a16="http://schemas.microsoft.com/office/drawing/2014/main" id="{8A30B9F3-7149-42A1-D064-1C3C1BE42EEC}"/>
              </a:ext>
            </a:extLst>
          </p:cNvPr>
          <p:cNvGraphicFramePr>
            <a:graphicFrameLocks noGrp="1"/>
          </p:cNvGraphicFramePr>
          <p:nvPr>
            <p:ph idx="1"/>
            <p:extLst>
              <p:ext uri="{D42A27DB-BD31-4B8C-83A1-F6EECF244321}">
                <p14:modId xmlns:p14="http://schemas.microsoft.com/office/powerpoint/2010/main" val="93992436"/>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40078" y="3593592"/>
          <a:ext cx="10808208"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descr="A qr code with a dinosaur&#10;&#10;AI-generated content may be incorrect.">
            <a:extLst>
              <a:ext uri="{FF2B5EF4-FFF2-40B4-BE49-F238E27FC236}">
                <a16:creationId xmlns:a16="http://schemas.microsoft.com/office/drawing/2014/main" id="{027B8779-A399-DF78-E802-573C5A917C7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949593" y="1297717"/>
            <a:ext cx="1682044" cy="1682044"/>
          </a:xfrm>
          <a:prstGeom prst="rect">
            <a:avLst/>
          </a:prstGeom>
        </p:spPr>
      </p:pic>
    </p:spTree>
    <p:extLst>
      <p:ext uri="{BB962C8B-B14F-4D97-AF65-F5344CB8AC3E}">
        <p14:creationId xmlns:p14="http://schemas.microsoft.com/office/powerpoint/2010/main" val="91297788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278</TotalTime>
  <Words>2370</Words>
  <Application>Microsoft Office PowerPoint</Application>
  <PresentationFormat>Widescreen</PresentationFormat>
  <Paragraphs>189</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Tw Cen MT</vt:lpstr>
      <vt:lpstr>Circuit</vt:lpstr>
      <vt:lpstr>Choosing Your Best Machine: Laptops Vs. Desktops for the Best Value and Use Case Under Various Constraints</vt:lpstr>
      <vt:lpstr>Table Of Contents</vt:lpstr>
      <vt:lpstr>Defining Use Cases and Time Constraints</vt:lpstr>
      <vt:lpstr>Understanding User Needs and Computing Scenarios</vt:lpstr>
      <vt:lpstr>Analyzing Time Constraints for Purchase and Deployment</vt:lpstr>
      <vt:lpstr>Establishing Evaluation Criteria: Performance, Portability, and Cost</vt:lpstr>
      <vt:lpstr>In-Depth Breakdown: Desktop Computers</vt:lpstr>
      <vt:lpstr>Core Components: CPU, GPU, RAM, Motherboard, Storage, and Power Supply</vt:lpstr>
      <vt:lpstr>Advantages and Disadvantages of Desktops</vt:lpstr>
      <vt:lpstr>Best Desktop Options at Various Price Points</vt:lpstr>
      <vt:lpstr>In-Depth Breakdown: Laptops</vt:lpstr>
      <vt:lpstr>Core Components: Mobile CPU, Integrated/Discrete GPU, RAM, Storage, Battery, and Display</vt:lpstr>
      <vt:lpstr>Advantages and Disadvantages of Laptops</vt:lpstr>
      <vt:lpstr>Best Laptop Choices for Different Budgets and Needs</vt:lpstr>
      <vt:lpstr>Comparative Analysis: Desktop Vs. Laptop</vt:lpstr>
      <vt:lpstr>Performance Comparison Across Use Cases</vt:lpstr>
      <vt:lpstr>Portability and Convenience Factors</vt:lpstr>
      <vt:lpstr>Cost-Benefit Analysis and Long-Term Value</vt:lpstr>
      <vt:lpstr>Recommendations for Optimal Selection</vt:lpstr>
      <vt:lpstr>Guidelines for Choosing Based on User Priorities</vt:lpstr>
      <vt:lpstr>Quick-Purchase Strategies Under Tight Timelines</vt:lpstr>
      <vt:lpstr>Highlighting Best Value Picks for Common Scenarios</vt:lpstr>
      <vt:lpstr>Conclusion</vt:lpstr>
      <vt:lpstr>Computer Deal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Gary Yu</dc:creator>
  <cp:lastModifiedBy>Gary Yu</cp:lastModifiedBy>
  <cp:revision>23</cp:revision>
  <dcterms:created xsi:type="dcterms:W3CDTF">2025-07-17T17:05:30Z</dcterms:created>
  <dcterms:modified xsi:type="dcterms:W3CDTF">2025-11-13T02:13:51Z</dcterms:modified>
</cp:coreProperties>
</file>