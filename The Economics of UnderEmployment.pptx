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5" r:id="rId7"/>
    <p:sldId id="267" r:id="rId8"/>
    <p:sldId id="262" r:id="rId9"/>
    <p:sldId id="264" r:id="rId10"/>
    <p:sldId id="263" r:id="rId11"/>
    <p:sldId id="266" r:id="rId12"/>
    <p:sldId id="259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6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0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7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7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83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23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8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1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06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30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5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10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96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92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63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3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119011F-92FB-4787-B839-16508B4A9196}" type="datetimeFigureOut">
              <a:rPr lang="en-US" smtClean="0"/>
              <a:t>7/12/2021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D921CDD-83DA-4BE1-A149-5FDC8C0BF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861E-9155-41F7-A0F4-37EE797B5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Lost Generation</a:t>
            </a:r>
            <a:br>
              <a:rPr lang="en-US" dirty="0"/>
            </a:br>
            <a:r>
              <a:rPr lang="en-US" dirty="0"/>
              <a:t>Underemployment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853D4-7050-4201-8684-F255337CD9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Gary Yu</a:t>
            </a:r>
          </a:p>
        </p:txBody>
      </p:sp>
    </p:spTree>
    <p:extLst>
      <p:ext uri="{BB962C8B-B14F-4D97-AF65-F5344CB8AC3E}">
        <p14:creationId xmlns:p14="http://schemas.microsoft.com/office/powerpoint/2010/main" val="2136547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036DF-1F1F-4182-92EA-6424A207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9A58D-E905-42F5-9BD6-5CDF0930C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 wrote a paper on an issue that affects allot people like us</a:t>
            </a:r>
          </a:p>
          <a:p>
            <a:r>
              <a:rPr lang="en-US" dirty="0"/>
              <a:t>Recent College students/graduates with bachelor's degree (Gould and </a:t>
            </a:r>
            <a:r>
              <a:rPr lang="en-US" dirty="0" err="1"/>
              <a:t>Kassa</a:t>
            </a:r>
            <a:r>
              <a:rPr lang="en-US" dirty="0"/>
              <a:t>) </a:t>
            </a:r>
          </a:p>
          <a:p>
            <a:r>
              <a:rPr lang="en-US" dirty="0"/>
              <a:t>The Young (Gould and </a:t>
            </a:r>
            <a:r>
              <a:rPr lang="en-US" dirty="0" err="1"/>
              <a:t>Kassa</a:t>
            </a:r>
            <a:r>
              <a:rPr lang="en-US" dirty="0"/>
              <a:t>) </a:t>
            </a:r>
          </a:p>
          <a:p>
            <a:r>
              <a:rPr lang="en-US" dirty="0"/>
              <a:t>People in liberal arts disciplines (“</a:t>
            </a:r>
            <a:r>
              <a:rPr lang="en-US" sz="2400" dirty="0">
                <a:effectLst/>
              </a:rPr>
              <a:t>The Labor Market for Recent College Graduates</a:t>
            </a:r>
            <a:r>
              <a:rPr lang="en-US" sz="2400" i="1" dirty="0">
                <a:effectLst/>
              </a:rPr>
              <a:t>“)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CB03-8179-4C38-A31E-FEFD5ABC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4EB6D-39E7-4338-87D5-4213AF3C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Underemployment is </a:t>
            </a:r>
          </a:p>
          <a:p>
            <a:pPr lvl="1"/>
            <a:r>
              <a:rPr lang="en-US" dirty="0"/>
              <a:t>Part timers looking for full-time work</a:t>
            </a:r>
          </a:p>
          <a:p>
            <a:pPr lvl="1"/>
            <a:r>
              <a:rPr lang="en-US" dirty="0"/>
              <a:t>Highly skilled people doing a low skill job</a:t>
            </a:r>
          </a:p>
          <a:p>
            <a:pPr lvl="1"/>
            <a:r>
              <a:rPr lang="en-US" dirty="0"/>
              <a:t>Intext-citations(Chen 1)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27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1A58-B246-4C9B-8E3B-DCD01937F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3F39-6FBA-43E7-8AFA-1B8B5A9CE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 Feb 2021</a:t>
            </a:r>
          </a:p>
          <a:p>
            <a:r>
              <a:rPr lang="en-US" dirty="0"/>
              <a:t>59.5% of Liberal arts majors were underemployed</a:t>
            </a:r>
          </a:p>
          <a:p>
            <a:r>
              <a:rPr lang="en-US" dirty="0"/>
              <a:t>49.7% of Political Science majors were underemployed </a:t>
            </a:r>
          </a:p>
          <a:p>
            <a:r>
              <a:rPr lang="en-US" dirty="0"/>
              <a:t>39.5% of Economics majors were underemployed</a:t>
            </a:r>
          </a:p>
          <a:p>
            <a:r>
              <a:rPr lang="en-US" dirty="0"/>
              <a:t>37.6% of Finance majors were underemployed</a:t>
            </a:r>
          </a:p>
          <a:p>
            <a:r>
              <a:rPr lang="en-US" dirty="0"/>
              <a:t>24.1% of Accounting majors were underemployed</a:t>
            </a:r>
          </a:p>
          <a:p>
            <a:r>
              <a:rPr lang="en-US" dirty="0"/>
              <a:t>Intext-citations: (“</a:t>
            </a:r>
            <a:r>
              <a:rPr lang="en-US" sz="2400" dirty="0">
                <a:effectLst/>
              </a:rPr>
              <a:t>The Labor Market for Recent College Graduates</a:t>
            </a:r>
            <a:r>
              <a:rPr lang="en-US" sz="2400" i="1" dirty="0">
                <a:effectLst/>
              </a:rPr>
              <a:t>“)(</a:t>
            </a:r>
            <a:r>
              <a:rPr lang="en-US" sz="2400" dirty="0">
                <a:effectLst/>
              </a:rPr>
              <a:t>Also for the next page</a:t>
            </a:r>
            <a:r>
              <a:rPr lang="en-US" sz="2400" i="1" dirty="0">
                <a:effectLst/>
              </a:rPr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48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1A7D9E-E303-49F9-858F-D9A540605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6602" y="9565"/>
            <a:ext cx="5335398" cy="683887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D8AB17-F3DC-4771-8AC4-39AD1498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565"/>
            <a:ext cx="5148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91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2F556-49C5-470D-AC7A-32E512F8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8679C-EB54-43B6-B349-8932E93C4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Globalization &amp; Outsourcing( As an American you are competing with everyone including college students in other countries with H1B visas for example) (For unemployment, but also should be the case for unemployment) (</a:t>
            </a:r>
            <a:r>
              <a:rPr lang="en-US" sz="2400" dirty="0">
                <a:effectLst/>
              </a:rPr>
              <a:t>Inaba 1)</a:t>
            </a:r>
            <a:endParaRPr lang="en-US" dirty="0"/>
          </a:p>
          <a:p>
            <a:r>
              <a:rPr lang="en-US" dirty="0"/>
              <a:t>Automation </a:t>
            </a:r>
            <a:r>
              <a:rPr lang="en-US" sz="2400" dirty="0">
                <a:effectLst/>
              </a:rPr>
              <a:t>(“Our Labor Market in Crisis: Paving A New Path to the Future of Work”)</a:t>
            </a:r>
            <a:endParaRPr lang="en-US" dirty="0"/>
          </a:p>
          <a:p>
            <a:r>
              <a:rPr lang="en-US" dirty="0"/>
              <a:t>Skills Mismatch (Abel and </a:t>
            </a:r>
            <a:r>
              <a:rPr lang="en-US" dirty="0" err="1"/>
              <a:t>Deitz</a:t>
            </a:r>
            <a:r>
              <a:rPr lang="en-US" dirty="0"/>
              <a:t> 1)</a:t>
            </a:r>
          </a:p>
          <a:p>
            <a:r>
              <a:rPr lang="en-US" dirty="0"/>
              <a:t>Oversupply of college majors thus forcing requirements at jobs to increased(credentialism)</a:t>
            </a:r>
            <a:r>
              <a:rPr lang="en-US" sz="2400" dirty="0">
                <a:effectLst/>
              </a:rPr>
              <a:t> (Fallows 1)</a:t>
            </a:r>
            <a:endParaRPr lang="en-US" dirty="0"/>
          </a:p>
          <a:p>
            <a:r>
              <a:rPr lang="en-US" dirty="0"/>
              <a:t>Companies trying to reduce Labor costs</a:t>
            </a:r>
            <a:r>
              <a:rPr lang="en-US" sz="2400" dirty="0">
                <a:effectLst/>
              </a:rPr>
              <a:t> (Rosenbaum)</a:t>
            </a:r>
            <a:endParaRPr lang="en-US" dirty="0"/>
          </a:p>
          <a:p>
            <a:r>
              <a:rPr lang="en-US" dirty="0"/>
              <a:t>High executive pay, and shareholder prioritized over stakeholders(everyone affected by a company)</a:t>
            </a:r>
            <a:r>
              <a:rPr lang="en-US" sz="2400" dirty="0">
                <a:effectLst/>
              </a:rPr>
              <a:t> (Rosenbaum)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3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ABFFB-FD72-451B-83F9-11E84CF6F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Should solve 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FB8E6-F069-482E-9F3E-780BE652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Inefficient for the economy as a whole</a:t>
            </a:r>
            <a:r>
              <a:rPr lang="en-US" sz="2400" dirty="0">
                <a:effectLst/>
              </a:rPr>
              <a:t> (Blanchflower and Bell 1) </a:t>
            </a:r>
            <a:endParaRPr lang="en-US" dirty="0"/>
          </a:p>
          <a:p>
            <a:r>
              <a:rPr lang="en-US" dirty="0"/>
              <a:t>Leads to health(both physical, and mental) problems down the road for individual actors(</a:t>
            </a:r>
            <a:r>
              <a:rPr lang="en-US" sz="2400" dirty="0">
                <a:effectLst/>
              </a:rPr>
              <a:t>Burris 1) </a:t>
            </a:r>
            <a:endParaRPr lang="en-US" dirty="0"/>
          </a:p>
          <a:p>
            <a:r>
              <a:rPr lang="en-US" dirty="0"/>
              <a:t>My not in the essay theory as a political science BA graduate is that it could destabilized the US political system/democracy ending with either a reactionary or socialist government at best or an Alt-right or Left Authoritarian armed uprising or maybe just a civil war, and or increased political polarization (</a:t>
            </a:r>
            <a:r>
              <a:rPr lang="en-US" sz="2400" dirty="0">
                <a:effectLst/>
              </a:rPr>
              <a:t>“Private Sector. Don't Just Stand There, Do Something BIG!”)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14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BC098-A97B-4C4F-8059-DD90FA2B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getting the good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54FC7-6C68-4263-BFA2-D3522B346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suspect </a:t>
            </a:r>
          </a:p>
          <a:p>
            <a:pPr lvl="1"/>
            <a:r>
              <a:rPr lang="en-US" dirty="0"/>
              <a:t>Extroverted people with good networking skills, and lots of friends(Just a guess) (</a:t>
            </a:r>
            <a:r>
              <a:rPr lang="en-US" sz="2000" dirty="0">
                <a:effectLst/>
              </a:rPr>
              <a:t>Featherstone) </a:t>
            </a:r>
            <a:endParaRPr lang="en-US" dirty="0"/>
          </a:p>
          <a:p>
            <a:pPr lvl="1"/>
            <a:r>
              <a:rPr lang="en-US" dirty="0"/>
              <a:t>People who are more wealthily, and thus have good connections(</a:t>
            </a:r>
            <a:r>
              <a:rPr lang="en-US" sz="2000" dirty="0">
                <a:effectLst/>
              </a:rPr>
              <a:t>Fisher)</a:t>
            </a:r>
            <a:endParaRPr lang="en-US" dirty="0"/>
          </a:p>
          <a:p>
            <a:pPr lvl="1"/>
            <a:r>
              <a:rPr lang="en-US" dirty="0"/>
              <a:t>Nepotism(Getting hired by at a relative’s firm) (</a:t>
            </a:r>
            <a:r>
              <a:rPr lang="en-US" sz="2000" dirty="0">
                <a:effectLst/>
              </a:rPr>
              <a:t>Fisher)</a:t>
            </a:r>
            <a:endParaRPr lang="en-US" dirty="0"/>
          </a:p>
          <a:p>
            <a:pPr lvl="1"/>
            <a:r>
              <a:rPr lang="en-US" dirty="0"/>
              <a:t>People with high demand skills, and experience (</a:t>
            </a:r>
            <a:r>
              <a:rPr lang="en-US" sz="2000" dirty="0">
                <a:effectLst/>
              </a:rPr>
              <a:t>Liu) </a:t>
            </a:r>
            <a:endParaRPr lang="en-US" dirty="0"/>
          </a:p>
          <a:p>
            <a:pPr lvl="1"/>
            <a:r>
              <a:rPr lang="en-US" dirty="0"/>
              <a:t>People with good majors with low underemployment(Ex. Computer Science, Nursing, and Engineering) (“</a:t>
            </a:r>
            <a:r>
              <a:rPr lang="en-US" sz="2000" i="1" dirty="0">
                <a:effectLst/>
              </a:rPr>
              <a:t>The Labor Market for Recent College Graduates”) </a:t>
            </a:r>
          </a:p>
          <a:p>
            <a:pPr lvl="1"/>
            <a:r>
              <a:rPr lang="en-US" dirty="0"/>
              <a:t>Some Luck </a:t>
            </a:r>
            <a:endParaRPr lang="en-US" sz="2000" dirty="0">
              <a:effectLst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616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A369-6C21-45A0-927E-6CBEE8703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can do before graduating, and entering the workforce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A0798-1A76-473E-8C2B-BA6BC5AFF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Internships, internships, internships(paid&lt;unpaid&lt;none) </a:t>
            </a:r>
          </a:p>
          <a:p>
            <a:r>
              <a:rPr lang="en-US" dirty="0"/>
              <a:t>Networking with professors, TAs, and friends </a:t>
            </a:r>
          </a:p>
          <a:p>
            <a:r>
              <a:rPr lang="en-US" dirty="0"/>
              <a:t>Resume, Cover-Letter examinations/practice</a:t>
            </a:r>
          </a:p>
          <a:p>
            <a:r>
              <a:rPr lang="en-US" dirty="0"/>
              <a:t>Maybe get a masters or PHD if you can(Be careful masters costs lots of money)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58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DA3D-870F-4926-B5E2-4BFB4154A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can personally do to get a job after getting a degree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A3063-ADED-4908-B7C7-A5A2F82B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order of effectiveness(Better at the top worst at the bottom)(From my own experience)</a:t>
            </a:r>
          </a:p>
          <a:p>
            <a:pPr lvl="1"/>
            <a:r>
              <a:rPr lang="en-US" dirty="0"/>
              <a:t>Paid Internship to Job </a:t>
            </a:r>
          </a:p>
          <a:p>
            <a:pPr lvl="1"/>
            <a:r>
              <a:rPr lang="en-US" dirty="0"/>
              <a:t>Networking</a:t>
            </a:r>
          </a:p>
          <a:p>
            <a:pPr lvl="1"/>
            <a:r>
              <a:rPr lang="en-US" dirty="0"/>
              <a:t>Job fairs</a:t>
            </a:r>
          </a:p>
          <a:p>
            <a:pPr lvl="1"/>
            <a:r>
              <a:rPr lang="en-US" dirty="0"/>
              <a:t>Applying at the company’s website</a:t>
            </a:r>
          </a:p>
          <a:p>
            <a:pPr lvl="1"/>
            <a:r>
              <a:rPr lang="en-US" dirty="0"/>
              <a:t>Applying on LinkedIn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739F-CDBF-427F-979B-E0196DD0D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Policy Solutions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53B56-653E-47E1-9943-BBC816F8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Government Incentive to hire people(Tax credits &amp; Cuts, stimulus programs, etc.)</a:t>
            </a:r>
          </a:p>
          <a:p>
            <a:pPr lvl="1"/>
            <a:r>
              <a:rPr lang="en-US" dirty="0"/>
              <a:t>Gives incentive to companies to hire more vs fire &amp; keep labor costs low to appease lower capital gains vs income tax situation in our tax cut (</a:t>
            </a:r>
            <a:r>
              <a:rPr lang="en-US" sz="2000" dirty="0">
                <a:effectLst/>
              </a:rPr>
              <a:t>“Topic No. 409 Capital Gains and Losses”)</a:t>
            </a:r>
            <a:r>
              <a:rPr lang="en-US" dirty="0"/>
              <a:t> </a:t>
            </a:r>
          </a:p>
          <a:p>
            <a:r>
              <a:rPr lang="en-US" dirty="0"/>
              <a:t>Force Colleges to have better career prep, or force them to find a job above a certain income for all students(like many coding bootcamp schools)</a:t>
            </a:r>
          </a:p>
          <a:p>
            <a:pPr lvl="1"/>
            <a:r>
              <a:rPr lang="en-US" sz="2000" dirty="0">
                <a:effectLst/>
              </a:rPr>
              <a:t>(“Columbus Coding Bootcamp”</a:t>
            </a:r>
            <a:r>
              <a:rPr lang="en-US" dirty="0"/>
              <a:t> )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215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FB46E-AE3F-41BB-B270-1CEB9CC4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MLA Citations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BF83-47FE-49AE-B032-8C047811D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000" i="1" dirty="0">
              <a:effectLst/>
            </a:endParaRPr>
          </a:p>
          <a:p>
            <a:r>
              <a:rPr lang="en-US" sz="800" dirty="0">
                <a:effectLst/>
              </a:rPr>
              <a:t>Gould , Elise, and </a:t>
            </a:r>
            <a:r>
              <a:rPr lang="en-US" sz="800" dirty="0" err="1">
                <a:effectLst/>
              </a:rPr>
              <a:t>Melat</a:t>
            </a:r>
            <a:r>
              <a:rPr lang="en-US" sz="800" dirty="0">
                <a:effectLst/>
              </a:rPr>
              <a:t> </a:t>
            </a:r>
            <a:r>
              <a:rPr lang="en-US" sz="800" dirty="0" err="1">
                <a:effectLst/>
              </a:rPr>
              <a:t>Kassa</a:t>
            </a:r>
            <a:r>
              <a:rPr lang="en-US" sz="800" dirty="0">
                <a:effectLst/>
              </a:rPr>
              <a:t>. “Young Workers Hit Hard by the COVID-19 Economy: Workers Ages 16–24 Face High Unemployment and an Uncertain Future.” </a:t>
            </a:r>
            <a:r>
              <a:rPr lang="en-US" sz="800" i="1" dirty="0">
                <a:effectLst/>
              </a:rPr>
              <a:t>Economic Policy Institute</a:t>
            </a:r>
            <a:r>
              <a:rPr lang="en-US" sz="800" dirty="0">
                <a:effectLst/>
              </a:rPr>
              <a:t>, Economic Policy Institute, 14 Oct. 2020, www.epi.org/publication/young-workers-covid-recession/. </a:t>
            </a:r>
          </a:p>
          <a:p>
            <a:r>
              <a:rPr lang="en-US" sz="800" dirty="0">
                <a:effectLst/>
              </a:rPr>
              <a:t>Chen, James. “Underemployment.” </a:t>
            </a:r>
            <a:r>
              <a:rPr lang="en-US" sz="800" i="1" dirty="0">
                <a:effectLst/>
              </a:rPr>
              <a:t>Investopedia</a:t>
            </a:r>
            <a:r>
              <a:rPr lang="en-US" sz="800" dirty="0">
                <a:effectLst/>
              </a:rPr>
              <a:t>, Investopedia, 30 June 2021, www.investopedia.com/terms/u/underemployment.asp#:~:text=What%20Is%20Underemployment%3F&amp;text=People%20who%20are%20classified%20as,not%20at%20their%20full%20capability. </a:t>
            </a:r>
            <a:endParaRPr lang="en-US" sz="1000" i="1" dirty="0">
              <a:effectLst/>
            </a:endParaRPr>
          </a:p>
          <a:p>
            <a:r>
              <a:rPr lang="en-US" sz="1000" i="1" dirty="0">
                <a:effectLst/>
              </a:rPr>
              <a:t>The Labor Market for Recent College Graduates - FEDERAL RESERVE BANK of NEW YORK</a:t>
            </a:r>
            <a:r>
              <a:rPr lang="en-US" sz="1000" dirty="0">
                <a:effectLst/>
              </a:rPr>
              <a:t>, New York Federal Reserve , 12 Feb. 2021, www.newyorkfed.org/research/college-labor-market/college-labor-market_compare-majors.html. </a:t>
            </a:r>
          </a:p>
          <a:p>
            <a:r>
              <a:rPr lang="en-US" sz="800" dirty="0">
                <a:effectLst/>
              </a:rPr>
              <a:t>Inaba, Chihiro. “The Effects of Globalization on Job Choice and Unemployment under Labor Search Friction*.” </a:t>
            </a:r>
          </a:p>
          <a:p>
            <a:r>
              <a:rPr lang="en-US" sz="800" dirty="0">
                <a:effectLst/>
              </a:rPr>
              <a:t>“Our Labor Market in Crisis: Paving A New Path to the Future of Work.” </a:t>
            </a:r>
            <a:r>
              <a:rPr lang="en-US" sz="800" i="1" dirty="0">
                <a:effectLst/>
              </a:rPr>
              <a:t>Epicenter</a:t>
            </a:r>
            <a:r>
              <a:rPr lang="en-US" sz="800" dirty="0">
                <a:effectLst/>
              </a:rPr>
              <a:t>, Harvard University , 23 Mar. 2021, epicenter.wcfia.harvard.edu/blog/our-labor-market-crisis-paving-new-path-future-work. </a:t>
            </a:r>
          </a:p>
          <a:p>
            <a:r>
              <a:rPr lang="en-US" sz="800" dirty="0">
                <a:effectLst/>
              </a:rPr>
              <a:t>Fallows, James. “The Case Against Credentialism.” </a:t>
            </a:r>
            <a:r>
              <a:rPr lang="en-US" sz="800" i="1" dirty="0">
                <a:effectLst/>
              </a:rPr>
              <a:t>The Atlantic</a:t>
            </a:r>
            <a:r>
              <a:rPr lang="en-US" sz="800" dirty="0">
                <a:effectLst/>
              </a:rPr>
              <a:t>, Atlantic Media Company, 1 Dec. 1985, www.theatlantic.com/magazine/archive/1985/12/the-case-against-credentialism/308286/. </a:t>
            </a:r>
          </a:p>
          <a:p>
            <a:r>
              <a:rPr lang="en-US" sz="800" dirty="0">
                <a:effectLst/>
              </a:rPr>
              <a:t>Rosenbaum, Eric. “60% Of Big US Corporations Say a Head Count Reduction Is Coming in 2020.” </a:t>
            </a:r>
            <a:r>
              <a:rPr lang="en-US" sz="800" i="1" dirty="0">
                <a:effectLst/>
              </a:rPr>
              <a:t>CNBC</a:t>
            </a:r>
            <a:r>
              <a:rPr lang="en-US" sz="800" dirty="0">
                <a:effectLst/>
              </a:rPr>
              <a:t>, CNBC, 12 Dec. 2019, www.cnbc.com/2019/12/12/60percent-of-big-us-corporations-say-head-count-reduction-is-coming-in-2020.html. </a:t>
            </a:r>
          </a:p>
          <a:p>
            <a:r>
              <a:rPr lang="en-US" sz="800" dirty="0">
                <a:effectLst/>
              </a:rPr>
              <a:t>Abel, Jaison, and Richard </a:t>
            </a:r>
            <a:r>
              <a:rPr lang="en-US" sz="800" dirty="0" err="1">
                <a:effectLst/>
              </a:rPr>
              <a:t>Deitz</a:t>
            </a:r>
            <a:r>
              <a:rPr lang="en-US" sz="800" dirty="0">
                <a:effectLst/>
              </a:rPr>
              <a:t>. “Underemployment in the Early Careers of College Graduates Following the Great Recession.” UNDEREMPLOYMENT IN THE EARLY CAREERS OF COLLEGE GRADUATES FOLLOWING THE GREAT RECESSION, Sept. 2016, pp. 1–51., doi:10.3386/w22654. </a:t>
            </a:r>
          </a:p>
          <a:p>
            <a:r>
              <a:rPr lang="en-US" sz="800" dirty="0">
                <a:effectLst/>
              </a:rPr>
              <a:t>Featherstone, Emma. “How Extroverts Are Taking the Top Jobs - and What Introverts Can Do about It.” </a:t>
            </a:r>
            <a:r>
              <a:rPr lang="en-US" sz="800" i="1" dirty="0">
                <a:effectLst/>
              </a:rPr>
              <a:t>The Guardian</a:t>
            </a:r>
            <a:r>
              <a:rPr lang="en-US" sz="800" dirty="0">
                <a:effectLst/>
              </a:rPr>
              <a:t>, Guardian News and Media, 23 Feb. 2018, www.theguardian.com/business-to-business/2018/feb/23/how-extroverts-are-taking-the-top-jobs-and-what-introverts-can-do-about-it. </a:t>
            </a:r>
          </a:p>
          <a:p>
            <a:endParaRPr lang="en-US" sz="800" dirty="0">
              <a:effectLst/>
            </a:endParaRPr>
          </a:p>
          <a:p>
            <a:endParaRPr lang="en-US" sz="800" dirty="0">
              <a:effectLst/>
            </a:endParaRPr>
          </a:p>
          <a:p>
            <a:endParaRPr lang="en-US" sz="800" dirty="0">
              <a:effectLst/>
            </a:endParaRPr>
          </a:p>
          <a:p>
            <a:endParaRPr lang="en-US" sz="800" dirty="0">
              <a:effectLst/>
            </a:endParaRPr>
          </a:p>
          <a:p>
            <a:endParaRPr lang="en-US" sz="800" dirty="0">
              <a:effectLst/>
            </a:endParaRPr>
          </a:p>
          <a:p>
            <a:endParaRPr lang="en-US" sz="800" dirty="0">
              <a:effectLst/>
            </a:endParaRPr>
          </a:p>
          <a:p>
            <a:endParaRPr lang="en-US" sz="1000" dirty="0">
              <a:effectLst/>
            </a:endParaRPr>
          </a:p>
          <a:p>
            <a:endParaRPr lang="en-US" sz="10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729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4B4C-7AE1-4375-A4CD-266183FCB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MLA Citations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B7654-C1E7-4A1D-8A72-CBD8CAD89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>
                <a:effectLst/>
              </a:rPr>
              <a:t>Fisher, Julia Freeland. “How to Get a Job Often Comes down to One Elite Personal Asset, and Many People Still Don't Realize It.” </a:t>
            </a:r>
            <a:r>
              <a:rPr lang="en-US" sz="2400" i="1" dirty="0">
                <a:effectLst/>
              </a:rPr>
              <a:t>CNBC</a:t>
            </a:r>
            <a:r>
              <a:rPr lang="en-US" sz="2400" dirty="0">
                <a:effectLst/>
              </a:rPr>
              <a:t>, CNBC, 14 Feb. 2020, www.cnbc.com/2019/12/27/how-to-get-a-job-often-comes-down-to-one-elite-personal-asset.html. </a:t>
            </a:r>
          </a:p>
          <a:p>
            <a:r>
              <a:rPr lang="en-US" sz="2400" dirty="0">
                <a:effectLst/>
              </a:rPr>
              <a:t>Liu, Jennifer. “Hiring for These Jobs Is on the Rise in 2021, According to LinkedIn.” </a:t>
            </a:r>
            <a:r>
              <a:rPr lang="en-US" sz="2400" i="1" dirty="0">
                <a:effectLst/>
              </a:rPr>
              <a:t>CNBC</a:t>
            </a:r>
            <a:r>
              <a:rPr lang="en-US" sz="2400" dirty="0">
                <a:effectLst/>
              </a:rPr>
              <a:t>, CNBC, 12 Jan. 2021, www.cnbc.com/2021/01/12/hiring-for-these-jobs-is-on-the-rise-in-2021-according-to-linkedin.html. </a:t>
            </a:r>
          </a:p>
          <a:p>
            <a:r>
              <a:rPr lang="en-US" sz="2400" dirty="0">
                <a:effectLst/>
              </a:rPr>
              <a:t>“Topic No. 409 Capital Gains and Losses.” </a:t>
            </a:r>
            <a:r>
              <a:rPr lang="en-US" sz="2400" i="1" dirty="0">
                <a:effectLst/>
              </a:rPr>
              <a:t>Internal Revenue Service</a:t>
            </a:r>
            <a:r>
              <a:rPr lang="en-US" sz="2400" dirty="0">
                <a:effectLst/>
              </a:rPr>
              <a:t>, www.irs.gov/taxtopics/tc409. </a:t>
            </a:r>
          </a:p>
          <a:p>
            <a:r>
              <a:rPr lang="en-US" sz="2400" dirty="0">
                <a:effectLst/>
              </a:rPr>
              <a:t>“Columbus Coding Bootcamp.” </a:t>
            </a:r>
            <a:r>
              <a:rPr lang="en-US" sz="2400" i="1" dirty="0">
                <a:effectLst/>
              </a:rPr>
              <a:t>Tech Elevator Coding Bootcamp</a:t>
            </a:r>
            <a:r>
              <a:rPr lang="en-US" sz="2400" dirty="0">
                <a:effectLst/>
              </a:rPr>
              <a:t>, www.techelevator.com/columbus. </a:t>
            </a:r>
          </a:p>
          <a:p>
            <a:r>
              <a:rPr lang="en-US" sz="2400" dirty="0">
                <a:effectLst/>
              </a:rPr>
              <a:t>“Private Sector. Don't Just Stand There, Do Something BIG!” </a:t>
            </a:r>
            <a:r>
              <a:rPr lang="en-US" sz="2400" i="1" dirty="0">
                <a:effectLst/>
              </a:rPr>
              <a:t>California Management Review</a:t>
            </a:r>
            <a:r>
              <a:rPr lang="en-US" sz="2400" dirty="0">
                <a:effectLst/>
              </a:rPr>
              <a:t>, cmr.berkeley.edu/2020/07/private-sector/. </a:t>
            </a:r>
          </a:p>
          <a:p>
            <a:r>
              <a:rPr lang="en-US" sz="2400" dirty="0">
                <a:effectLst/>
              </a:rPr>
              <a:t>Bell, David N.F., and David Blanchflower. “Underemployment in the US and Europe.” UNDEREMPLOYMENT IN THE US AND EUROPE, 2018, pp. 1–1., doi:10.3386/w24927. </a:t>
            </a:r>
          </a:p>
          <a:p>
            <a:r>
              <a:rPr lang="en-US" sz="2400" dirty="0">
                <a:effectLst/>
              </a:rPr>
              <a:t>Burris, Beverly H. “The Human Effects of Underemployment.” Social Problems, vol. 31, no. 1, 1983, pp. 96–110., doi:10.2307/800412.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42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8186-A429-4E3F-8438-838664895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A85CA-73E9-478D-BCE1-6511DE615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715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208</TotalTime>
  <Words>1270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Corbel</vt:lpstr>
      <vt:lpstr>Parallax</vt:lpstr>
      <vt:lpstr>The Lost Generation Underemployment</vt:lpstr>
      <vt:lpstr>Introduction </vt:lpstr>
      <vt:lpstr>Definition </vt:lpstr>
      <vt:lpstr>The Numbers</vt:lpstr>
      <vt:lpstr>PowerPoint Presentation</vt:lpstr>
      <vt:lpstr>Cause?</vt:lpstr>
      <vt:lpstr>Why We Should solve it </vt:lpstr>
      <vt:lpstr>Who is getting the good jobs</vt:lpstr>
      <vt:lpstr>What you can do before graduating, and entering the workforce </vt:lpstr>
      <vt:lpstr>What you can personally do to get a job after getting a degree</vt:lpstr>
      <vt:lpstr>Public Policy Solutions </vt:lpstr>
      <vt:lpstr>MLA Citations </vt:lpstr>
      <vt:lpstr>MLA Citations Part 2</vt:lpstr>
      <vt:lpstr>Discussion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Lost Generation Underemployment</dc:title>
  <dc:creator>Gary Yu</dc:creator>
  <cp:lastModifiedBy>Gary Yu</cp:lastModifiedBy>
  <cp:revision>60</cp:revision>
  <dcterms:created xsi:type="dcterms:W3CDTF">2021-07-01T19:06:14Z</dcterms:created>
  <dcterms:modified xsi:type="dcterms:W3CDTF">2021-07-13T02:49:25Z</dcterms:modified>
</cp:coreProperties>
</file>